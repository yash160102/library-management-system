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4" d="100"/>
          <a:sy n="74" d="100"/>
        </p:scale>
        <p:origin x="1013"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supplied C++ code and Netlink / netSEED logo. Cover illustration generated for this presentation.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supplied Pasted text(3).txt.  Background illustrations generated for this presentation.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supplied Pasted text(3).txt.  Background illustrations generated for this presentation.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supplied Pasted text(3).txt.  Background illustrations generated for this presentation.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supplied Pasted text(3).txt.  Background illustrations generated for this presentation.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supplied Pasted text(3).txt.  Background illustrations generated for this presentation.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supplied Pasted text(3).txt.  Background illustrations generated for this presentation.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supplied Pasted text(3).txt. Conceptual one-to-many relationships over time. IDs represent intended identifiers, not enforced primary or foreign keys. Issue rows repeat names and mobile numbers. The code does not validate that entered IDs exist. Background illustrations generated for this presentation.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supplied Pasted text(3).txt.  Background illustrations generated for this presentation.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supplied Pasted text(3).txt. Actual return behavior: registration, a failed login and each user operation unwind to the main menu. Return is menu navigation, not a book-return operation. Background illustrations generated for this presentation.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supplied Pasted text(3).txt. Invalid credentials repeat within loginAdmin(). Add Book calls adminMenu() recursively. View users, remove user and Exit return through the current call stack toward main(). Background illustrations generated for this presentation.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supplied Pasted text(3).txt.  Background illustrations generated for this presentation.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supplied Pasted text(3).txt.  Background illustrations generated for this presentation.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supplied Pasted text(3).txt. These are suggested test cases, not claimed execution results. Background illustrations generated for this presentation.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Screenshot placeholder requested by the user. Replace this editable rectangle with the corresponding terminal capture.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Screenshot placeholder requested by the user. Replace this editable rectangle with the corresponding terminal capture.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Screenshot placeholder requested by the user. Replace this editable rectangle with the corresponding terminal capture.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Screenshot placeholder requested by the user. Replace this editable rectangle with the corresponding terminal capture.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supplied Pasted text(3).txt.  Background illustrations generated for this presentation.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supplied Pasted text(3).txt.  Background illustrations generated for this presentation.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supplied Pasted text(3).txt.  Background illustrations generated for this presentation.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supplied Pasted text(3).txt.  Background illustrations generated for this presentation.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2.jpe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2.jpe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2.jpe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2.jpe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0F22"/>
        </a:solid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p:blipFill>
        <p:spPr>
          <a:xfrm>
            <a:off x="3239" y="0"/>
            <a:ext cx="12185522" cy="6858000"/>
          </a:xfrm>
          <a:prstGeom prst="rect">
            <a:avLst/>
          </a:prstGeom>
        </p:spPr>
      </p:pic>
      <p:pic>
        <p:nvPicPr>
          <p:cNvPr id="7" name="Picture 6"/>
          <p:cNvPicPr>
            <a:picLocks noChangeAspect="1"/>
          </p:cNvPicPr>
          <p:nvPr/>
        </p:nvPicPr>
        <p:blipFill>
          <a:blip r:embed="rId4"/>
          <a:stretch/>
        </p:blipFill>
        <p:spPr>
          <a:xfrm>
            <a:off x="571500" y="459250"/>
            <a:ext cx="3238500" cy="1615151"/>
          </a:xfrm>
          <a:prstGeom prst="rect">
            <a:avLst/>
          </a:prstGeom>
        </p:spPr>
      </p:pic>
      <p:sp>
        <p:nvSpPr>
          <p:cNvPr id="3" name="Rectangle 2">
            <a:extLst>
              <a:ext uri="{FF2B5EF4-FFF2-40B4-BE49-F238E27FC236}">
                <a16:creationId xmlns:a16="http://schemas.microsoft.com/office/drawing/2014/main" id="{60E94DC5-34E1-4D42-AA56-A4E37FAD93E8}"/>
              </a:ext>
            </a:extLst>
          </p:cNvPr>
          <p:cNvSpPr>
            <a:spLocks noGrp="1"/>
          </p:cNvSpPr>
          <p:nvPr/>
        </p:nvSpPr>
        <p:spPr>
          <a:xfrm>
            <a:off x="571500" y="2533650"/>
            <a:ext cx="7191375" cy="2286000"/>
          </a:xfrm>
          <a:prstGeom prst="rect">
            <a:avLst/>
          </a:prstGeom>
          <a:noFill/>
          <a:ln w="0">
            <a:noFill/>
          </a:ln>
        </p:spPr>
        <p:txBody>
          <a:bodyPr>
            <a:noAutofit/>
          </a:bodyPr>
          <a:lstStyle/>
          <a:p>
            <a:pPr>
              <a:defRPr sz="4800" b="1">
                <a:solidFill>
                  <a:srgbClr val="FFFFFF"/>
                </a:solidFill>
                <a:latin typeface="DejaVu Sans"/>
                <a:ea typeface="DejaVu Sans"/>
                <a:cs typeface="DejaVu Sans"/>
              </a:defRPr>
            </a:pPr>
            <a:r>
              <a:rPr sz="4800" b="1">
                <a:solidFill>
                  <a:srgbClr val="FFFFFF"/>
                </a:solidFill>
                <a:latin typeface="DejaVu Sans"/>
                <a:ea typeface="DejaVu Sans"/>
                <a:cs typeface="DejaVu Sans"/>
              </a:rPr>
              <a:t>Library</a:t>
            </a:r>
          </a:p>
          <a:p>
            <a:pPr>
              <a:defRPr sz="4800" b="1">
                <a:solidFill>
                  <a:srgbClr val="FFFFFF"/>
                </a:solidFill>
                <a:latin typeface="DejaVu Sans"/>
                <a:ea typeface="DejaVu Sans"/>
                <a:cs typeface="DejaVu Sans"/>
              </a:defRPr>
            </a:pPr>
            <a:r>
              <a:rPr sz="4800" b="1">
                <a:solidFill>
                  <a:srgbClr val="FFFFFF"/>
                </a:solidFill>
                <a:latin typeface="DejaVu Sans"/>
                <a:ea typeface="DejaVu Sans"/>
                <a:cs typeface="DejaVu Sans"/>
              </a:rPr>
              <a:t>Management</a:t>
            </a:r>
          </a:p>
          <a:p>
            <a:pPr>
              <a:defRPr sz="4800" b="1">
                <a:solidFill>
                  <a:srgbClr val="FFFFFF"/>
                </a:solidFill>
                <a:latin typeface="DejaVu Sans"/>
                <a:ea typeface="DejaVu Sans"/>
                <a:cs typeface="DejaVu Sans"/>
              </a:defRPr>
            </a:pPr>
            <a:r>
              <a:rPr sz="4800" b="1">
                <a:solidFill>
                  <a:srgbClr val="FFFFFF"/>
                </a:solidFill>
                <a:latin typeface="DejaVu Sans"/>
                <a:ea typeface="DejaVu Sans"/>
                <a:cs typeface="DejaVu Sans"/>
              </a:rPr>
              <a:t>System</a:t>
            </a:r>
          </a:p>
        </p:txBody>
      </p:sp>
      <p:sp>
        <p:nvSpPr>
          <p:cNvPr id="4" name="Rectangle 3">
            <a:extLst>
              <a:ext uri="{FF2B5EF4-FFF2-40B4-BE49-F238E27FC236}">
                <a16:creationId xmlns:a16="http://schemas.microsoft.com/office/drawing/2014/main" id="{038306FE-2ABD-49B5-A471-35CCAE49E9E0}"/>
              </a:ext>
            </a:extLst>
          </p:cNvPr>
          <p:cNvSpPr>
            <a:spLocks noGrp="1"/>
          </p:cNvSpPr>
          <p:nvPr/>
        </p:nvSpPr>
        <p:spPr>
          <a:xfrm>
            <a:off x="619125" y="5267325"/>
            <a:ext cx="6572250" cy="457200"/>
          </a:xfrm>
          <a:prstGeom prst="rect">
            <a:avLst/>
          </a:prstGeom>
          <a:noFill/>
          <a:ln w="0">
            <a:noFill/>
          </a:ln>
        </p:spPr>
        <p:txBody>
          <a:bodyPr>
            <a:noAutofit/>
          </a:bodyPr>
          <a:lstStyle/>
          <a:p>
            <a:pPr>
              <a:defRPr sz="2175" b="0">
                <a:solidFill>
                  <a:srgbClr val="D2F66C"/>
                </a:solidFill>
                <a:latin typeface="DejaVu Sans"/>
                <a:ea typeface="DejaVu Sans"/>
                <a:cs typeface="DejaVu Sans"/>
              </a:defRPr>
            </a:pPr>
            <a:r>
              <a:rPr sz="2175" b="0">
                <a:solidFill>
                  <a:srgbClr val="D2F66C"/>
                </a:solidFill>
                <a:latin typeface="DejaVu Sans"/>
                <a:ea typeface="DejaVu Sans"/>
                <a:cs typeface="DejaVu Sans"/>
              </a:rPr>
              <a:t>C++ terminal application</a:t>
            </a:r>
          </a:p>
        </p:txBody>
      </p:sp>
      <p:sp>
        <p:nvSpPr>
          <p:cNvPr id="5" name="Rectangle 4">
            <a:extLst>
              <a:ext uri="{FF2B5EF4-FFF2-40B4-BE49-F238E27FC236}">
                <a16:creationId xmlns:a16="http://schemas.microsoft.com/office/drawing/2014/main" id="{DB7F69A1-9077-4C21-8313-052DDE4B2358}"/>
              </a:ext>
            </a:extLst>
          </p:cNvPr>
          <p:cNvSpPr>
            <a:spLocks noGrp="1"/>
          </p:cNvSpPr>
          <p:nvPr/>
        </p:nvSpPr>
        <p:spPr>
          <a:xfrm>
            <a:off x="619125" y="5810249"/>
            <a:ext cx="5715000" cy="673677"/>
          </a:xfrm>
          <a:prstGeom prst="rect">
            <a:avLst/>
          </a:prstGeom>
          <a:noFill/>
          <a:ln w="0">
            <a:noFill/>
          </a:ln>
        </p:spPr>
        <p:txBody>
          <a:bodyPr>
            <a:noAutofit/>
          </a:bodyPr>
          <a:lstStyle/>
          <a:p>
            <a:pPr>
              <a:defRPr sz="1650" b="0">
                <a:solidFill>
                  <a:srgbClr val="B4C7D5"/>
                </a:solidFill>
                <a:latin typeface="DejaVu Sans"/>
                <a:ea typeface="DejaVu Sans"/>
                <a:cs typeface="DejaVu Sans"/>
              </a:defRPr>
            </a:pPr>
            <a:r>
              <a:rPr sz="1650" b="0" dirty="0" err="1">
                <a:solidFill>
                  <a:srgbClr val="B4C7D5"/>
                </a:solidFill>
                <a:latin typeface="DejaVu Sans"/>
                <a:ea typeface="DejaVu Sans"/>
                <a:cs typeface="DejaVu Sans"/>
              </a:rPr>
              <a:t>Pr</a:t>
            </a:r>
            <a:r>
              <a:rPr lang="en-IN" sz="1650" b="0" dirty="0" err="1">
                <a:solidFill>
                  <a:srgbClr val="B4C7D5"/>
                </a:solidFill>
                <a:latin typeface="DejaVu Sans"/>
                <a:ea typeface="DejaVu Sans"/>
                <a:cs typeface="DejaVu Sans"/>
              </a:rPr>
              <a:t>esented</a:t>
            </a:r>
            <a:r>
              <a:rPr lang="en-IN" sz="1650" b="0" dirty="0">
                <a:solidFill>
                  <a:srgbClr val="B4C7D5"/>
                </a:solidFill>
                <a:latin typeface="DejaVu Sans"/>
                <a:ea typeface="DejaVu Sans"/>
                <a:cs typeface="DejaVu Sans"/>
              </a:rPr>
              <a:t> By: Yash Vardhan Tiwari</a:t>
            </a:r>
            <a:br>
              <a:rPr lang="en-IN" sz="1650" b="0" dirty="0">
                <a:solidFill>
                  <a:srgbClr val="B4C7D5"/>
                </a:solidFill>
                <a:latin typeface="DejaVu Sans"/>
                <a:ea typeface="DejaVu Sans"/>
                <a:cs typeface="DejaVu Sans"/>
              </a:rPr>
            </a:br>
            <a:r>
              <a:rPr lang="en-IN" sz="1650" b="0" dirty="0">
                <a:solidFill>
                  <a:srgbClr val="B4C7D5"/>
                </a:solidFill>
                <a:latin typeface="DejaVu Sans"/>
                <a:ea typeface="DejaVu Sans"/>
                <a:cs typeface="DejaVu Sans"/>
              </a:rPr>
              <a:t>Mentored By: Varsha </a:t>
            </a:r>
            <a:r>
              <a:rPr lang="en-IN" sz="1650" b="0" dirty="0" err="1">
                <a:solidFill>
                  <a:srgbClr val="B4C7D5"/>
                </a:solidFill>
                <a:latin typeface="DejaVu Sans"/>
                <a:ea typeface="DejaVu Sans"/>
                <a:cs typeface="DejaVu Sans"/>
              </a:rPr>
              <a:t>Yaduvanshi</a:t>
            </a:r>
            <a:br>
              <a:rPr lang="en-IN" sz="1650" b="0" dirty="0">
                <a:solidFill>
                  <a:srgbClr val="B4C7D5"/>
                </a:solidFill>
                <a:latin typeface="DejaVu Sans"/>
                <a:ea typeface="DejaVu Sans"/>
                <a:cs typeface="DejaVu Sans"/>
              </a:rPr>
            </a:br>
            <a:endParaRPr sz="1650" b="0" dirty="0">
              <a:solidFill>
                <a:srgbClr val="B4C7D5"/>
              </a:solidFill>
              <a:latin typeface="DejaVu Sans"/>
              <a:ea typeface="DejaVu Sans"/>
              <a:cs typeface="DejaVu Sans"/>
            </a:endParaRPr>
          </a:p>
        </p:txBody>
      </p:sp>
    </p:spTree>
    <p:extLst>
      <p:ext uri="{BB962C8B-B14F-4D97-AF65-F5344CB8AC3E}">
        <p14:creationId xmlns:p14="http://schemas.microsoft.com/office/powerpoint/2010/main" val="19444590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00F22"/>
        </a:solidFill>
        <a:effectLst/>
      </p:bgPr>
    </p:bg>
    <p:spTree>
      <p:nvGrpSpPr>
        <p:cNvPr id="1" name=""/>
        <p:cNvGrpSpPr/>
        <p:nvPr/>
      </p:nvGrpSpPr>
      <p:grpSpPr>
        <a:xfrm>
          <a:off x="0" y="0"/>
          <a:ext cx="0" cy="0"/>
          <a:chOff x="0" y="0"/>
          <a:chExt cx="0" cy="0"/>
        </a:xfrm>
      </p:grpSpPr>
      <p:pic>
        <p:nvPicPr>
          <p:cNvPr id="13" name="Picture 12"/>
          <p:cNvPicPr>
            <a:picLocks noChangeAspect="1"/>
          </p:cNvPicPr>
          <p:nvPr/>
        </p:nvPicPr>
        <p:blipFill>
          <a:blip r:embed="rId3"/>
          <a:stretch/>
        </p:blipFill>
        <p:spPr>
          <a:xfrm>
            <a:off x="3239" y="0"/>
            <a:ext cx="12185522" cy="6858000"/>
          </a:xfrm>
          <a:prstGeom prst="rect">
            <a:avLst/>
          </a:prstGeom>
        </p:spPr>
      </p:pic>
      <p:pic>
        <p:nvPicPr>
          <p:cNvPr id="14" name="Picture 13"/>
          <p:cNvPicPr>
            <a:picLocks noChangeAspect="1"/>
          </p:cNvPicPr>
          <p:nvPr/>
        </p:nvPicPr>
        <p:blipFill>
          <a:blip r:embed="rId4"/>
          <a:stretch/>
        </p:blipFill>
        <p:spPr>
          <a:xfrm>
            <a:off x="4000561" y="1504950"/>
            <a:ext cx="8191379" cy="4610100"/>
          </a:xfrm>
          <a:prstGeom prst="rect">
            <a:avLst/>
          </a:prstGeom>
        </p:spPr>
      </p:pic>
      <p:sp>
        <p:nvSpPr>
          <p:cNvPr id="3" name="Rectangle 2">
            <a:extLst>
              <a:ext uri="{FF2B5EF4-FFF2-40B4-BE49-F238E27FC236}">
                <a16:creationId xmlns:a16="http://schemas.microsoft.com/office/drawing/2014/main" id="{4B4E2B50-B7C9-4365-8B1D-BC22DE7E6C88}"/>
              </a:ext>
            </a:extLst>
          </p:cNvPr>
          <p:cNvSpPr>
            <a:spLocks noGrp="1"/>
          </p:cNvSpPr>
          <p:nvPr/>
        </p:nvSpPr>
        <p:spPr>
          <a:xfrm>
            <a:off x="571500" y="400050"/>
            <a:ext cx="10953750" cy="762000"/>
          </a:xfrm>
          <a:prstGeom prst="rect">
            <a:avLst/>
          </a:prstGeom>
          <a:noFill/>
          <a:ln w="0">
            <a:noFill/>
          </a:ln>
        </p:spPr>
        <p:txBody>
          <a:bodyPr>
            <a:noAutofit/>
          </a:bodyPr>
          <a:lstStyle/>
          <a:p>
            <a:pPr>
              <a:defRPr sz="3150" b="1">
                <a:solidFill>
                  <a:srgbClr val="D5C2FF"/>
                </a:solidFill>
                <a:latin typeface="DejaVu Sans"/>
                <a:ea typeface="DejaVu Sans"/>
                <a:cs typeface="DejaVu Sans"/>
              </a:defRPr>
            </a:pPr>
            <a:r>
              <a:rPr sz="3150" b="1">
                <a:solidFill>
                  <a:srgbClr val="D5C2FF"/>
                </a:solidFill>
                <a:latin typeface="DejaVu Sans"/>
                <a:ea typeface="DejaVu Sans"/>
                <a:cs typeface="DejaVu Sans"/>
              </a:rPr>
              <a:t>Project overview</a:t>
            </a:r>
          </a:p>
        </p:txBody>
      </p:sp>
      <p:pic>
        <p:nvPicPr>
          <p:cNvPr id="16" name="Picture 15"/>
          <p:cNvPicPr>
            <a:picLocks noChangeAspect="1"/>
          </p:cNvPicPr>
          <p:nvPr/>
        </p:nvPicPr>
        <p:blipFill>
          <a:blip r:embed="rId5"/>
          <a:stretch/>
        </p:blipFill>
        <p:spPr>
          <a:xfrm>
            <a:off x="10477500" y="6153873"/>
            <a:ext cx="1143000" cy="570053"/>
          </a:xfrm>
          <a:prstGeom prst="rect">
            <a:avLst/>
          </a:prstGeom>
        </p:spPr>
      </p:pic>
      <p:sp>
        <p:nvSpPr>
          <p:cNvPr id="5" name="Rectangle 4">
            <a:extLst>
              <a:ext uri="{FF2B5EF4-FFF2-40B4-BE49-F238E27FC236}">
                <a16:creationId xmlns:a16="http://schemas.microsoft.com/office/drawing/2014/main" id="{5F566A87-630A-46DC-9546-DA65B7904E03}"/>
              </a:ext>
            </a:extLst>
          </p:cNvPr>
          <p:cNvSpPr>
            <a:spLocks noGrp="1"/>
          </p:cNvSpPr>
          <p:nvPr/>
        </p:nvSpPr>
        <p:spPr>
          <a:xfrm>
            <a:off x="571500" y="6162675"/>
            <a:ext cx="857250" cy="457200"/>
          </a:xfrm>
          <a:prstGeom prst="rect">
            <a:avLst/>
          </a:prstGeom>
          <a:noFill/>
          <a:ln w="0">
            <a:noFill/>
          </a:ln>
        </p:spPr>
        <p:txBody>
          <a:bodyPr>
            <a:noAutofit/>
          </a:bodyPr>
          <a:lstStyle/>
          <a:p>
            <a:pPr>
              <a:defRPr sz="2175" b="1">
                <a:solidFill>
                  <a:srgbClr val="D2F66C"/>
                </a:solidFill>
                <a:latin typeface="DejaVu Sans"/>
                <a:ea typeface="DejaVu Sans"/>
                <a:cs typeface="DejaVu Sans"/>
              </a:defRPr>
            </a:pPr>
            <a:r>
              <a:rPr sz="2175" b="1">
                <a:solidFill>
                  <a:srgbClr val="D2F66C"/>
                </a:solidFill>
                <a:latin typeface="DejaVu Sans"/>
                <a:ea typeface="DejaVu Sans"/>
                <a:cs typeface="DejaVu Sans"/>
              </a:rPr>
              <a:t>2</a:t>
            </a:r>
          </a:p>
        </p:txBody>
      </p:sp>
      <p:sp>
        <p:nvSpPr>
          <p:cNvPr id="6" name="Rectangle 5">
            <a:extLst>
              <a:ext uri="{FF2B5EF4-FFF2-40B4-BE49-F238E27FC236}">
                <a16:creationId xmlns:a16="http://schemas.microsoft.com/office/drawing/2014/main" id="{D82B9958-525A-4F08-8FF4-29AC05DCF057}"/>
              </a:ext>
            </a:extLst>
          </p:cNvPr>
          <p:cNvSpPr>
            <a:spLocks noGrp="1"/>
          </p:cNvSpPr>
          <p:nvPr/>
        </p:nvSpPr>
        <p:spPr>
          <a:xfrm>
            <a:off x="571500" y="1504950"/>
            <a:ext cx="7239000" cy="1447800"/>
          </a:xfrm>
          <a:prstGeom prst="rect">
            <a:avLst/>
          </a:prstGeom>
          <a:noFill/>
          <a:ln w="0">
            <a:noFill/>
          </a:ln>
        </p:spPr>
        <p:txBody>
          <a:bodyPr>
            <a:noAutofit/>
          </a:bodyPr>
          <a:lstStyle/>
          <a:p>
            <a:pPr>
              <a:defRPr sz="2850" b="1">
                <a:solidFill>
                  <a:srgbClr val="F7F5FF"/>
                </a:solidFill>
                <a:latin typeface="DejaVu Sans"/>
                <a:ea typeface="DejaVu Sans"/>
                <a:cs typeface="DejaVu Sans"/>
              </a:defRPr>
            </a:pPr>
            <a:r>
              <a:rPr sz="2850" b="1">
                <a:solidFill>
                  <a:srgbClr val="F7F5FF"/>
                </a:solidFill>
                <a:latin typeface="DejaVu Sans"/>
                <a:ea typeface="DejaVu Sans"/>
                <a:cs typeface="DejaVu Sans"/>
              </a:rPr>
              <a:t>A terminal application for maintaining library records using local files.</a:t>
            </a:r>
          </a:p>
        </p:txBody>
      </p:sp>
      <p:sp>
        <p:nvSpPr>
          <p:cNvPr id="7" name="Rectangle 6">
            <a:extLst>
              <a:ext uri="{FF2B5EF4-FFF2-40B4-BE49-F238E27FC236}">
                <a16:creationId xmlns:a16="http://schemas.microsoft.com/office/drawing/2014/main" id="{18B11E05-5D3F-4857-B628-9087E74C717B}"/>
              </a:ext>
            </a:extLst>
          </p:cNvPr>
          <p:cNvSpPr>
            <a:spLocks noGrp="1"/>
          </p:cNvSpPr>
          <p:nvPr/>
        </p:nvSpPr>
        <p:spPr>
          <a:xfrm>
            <a:off x="609600" y="3190875"/>
            <a:ext cx="7191375" cy="342900"/>
          </a:xfrm>
          <a:prstGeom prst="rect">
            <a:avLst/>
          </a:prstGeom>
          <a:noFill/>
          <a:ln w="0">
            <a:noFill/>
          </a:ln>
        </p:spPr>
        <p:txBody>
          <a:bodyPr>
            <a:noAutofit/>
          </a:bodyPr>
          <a:lstStyle/>
          <a:p>
            <a:pPr>
              <a:defRPr sz="1950" b="1">
                <a:solidFill>
                  <a:srgbClr val="D2F66C"/>
                </a:solidFill>
                <a:latin typeface="DejaVu Sans"/>
                <a:ea typeface="DejaVu Sans"/>
                <a:cs typeface="DejaVu Sans"/>
              </a:defRPr>
            </a:pPr>
            <a:r>
              <a:rPr sz="1950" b="1">
                <a:solidFill>
                  <a:srgbClr val="D2F66C"/>
                </a:solidFill>
                <a:latin typeface="DejaVu Sans"/>
                <a:ea typeface="DejaVu Sans"/>
                <a:cs typeface="DejaVu Sans"/>
              </a:rPr>
              <a:t>Library users</a:t>
            </a:r>
          </a:p>
        </p:txBody>
      </p:sp>
      <p:sp>
        <p:nvSpPr>
          <p:cNvPr id="8" name="Rectangle 7">
            <a:extLst>
              <a:ext uri="{FF2B5EF4-FFF2-40B4-BE49-F238E27FC236}">
                <a16:creationId xmlns:a16="http://schemas.microsoft.com/office/drawing/2014/main" id="{B2EADA15-E640-4C7D-9814-36B380AF4062}"/>
              </a:ext>
            </a:extLst>
          </p:cNvPr>
          <p:cNvSpPr>
            <a:spLocks noGrp="1"/>
          </p:cNvSpPr>
          <p:nvPr/>
        </p:nvSpPr>
        <p:spPr>
          <a:xfrm>
            <a:off x="609600" y="3571875"/>
            <a:ext cx="7191375" cy="762000"/>
          </a:xfrm>
          <a:prstGeom prst="rect">
            <a:avLst/>
          </a:prstGeom>
          <a:noFill/>
          <a:ln w="0">
            <a:noFill/>
          </a:ln>
        </p:spPr>
        <p:txBody>
          <a:bodyPr>
            <a:noAutofit/>
          </a:bodyPr>
          <a:lstStyle/>
          <a:p>
            <a:pPr>
              <a:defRPr sz="1725" b="0">
                <a:solidFill>
                  <a:srgbClr val="C8C3D8"/>
                </a:solidFill>
                <a:latin typeface="DejaVu Sans"/>
                <a:ea typeface="DejaVu Sans"/>
                <a:cs typeface="DejaVu Sans"/>
              </a:defRPr>
            </a:pPr>
            <a:r>
              <a:rPr sz="1725" b="0">
                <a:solidFill>
                  <a:srgbClr val="C8C3D8"/>
                </a:solidFill>
                <a:latin typeface="DejaVu Sans"/>
                <a:ea typeface="DejaVu Sans"/>
                <a:cs typeface="DejaVu Sans"/>
              </a:rPr>
              <a:t>Register, sign in, view books and record a book issue.</a:t>
            </a:r>
          </a:p>
        </p:txBody>
      </p:sp>
      <p:sp>
        <p:nvSpPr>
          <p:cNvPr id="9" name="Rectangle 8">
            <a:extLst>
              <a:ext uri="{FF2B5EF4-FFF2-40B4-BE49-F238E27FC236}">
                <a16:creationId xmlns:a16="http://schemas.microsoft.com/office/drawing/2014/main" id="{C01594F5-18F2-45D6-9B16-7CA75A8126A4}"/>
              </a:ext>
            </a:extLst>
          </p:cNvPr>
          <p:cNvSpPr>
            <a:spLocks noGrp="1"/>
          </p:cNvSpPr>
          <p:nvPr/>
        </p:nvSpPr>
        <p:spPr>
          <a:xfrm>
            <a:off x="609600" y="4133850"/>
            <a:ext cx="7191375" cy="342900"/>
          </a:xfrm>
          <a:prstGeom prst="rect">
            <a:avLst/>
          </a:prstGeom>
          <a:noFill/>
          <a:ln w="0">
            <a:noFill/>
          </a:ln>
        </p:spPr>
        <p:txBody>
          <a:bodyPr>
            <a:noAutofit/>
          </a:bodyPr>
          <a:lstStyle/>
          <a:p>
            <a:pPr>
              <a:defRPr sz="1950" b="1">
                <a:solidFill>
                  <a:srgbClr val="D2F66C"/>
                </a:solidFill>
                <a:latin typeface="DejaVu Sans"/>
                <a:ea typeface="DejaVu Sans"/>
                <a:cs typeface="DejaVu Sans"/>
              </a:defRPr>
            </a:pPr>
            <a:r>
              <a:rPr sz="1950" b="1">
                <a:solidFill>
                  <a:srgbClr val="D2F66C"/>
                </a:solidFill>
                <a:latin typeface="DejaVu Sans"/>
                <a:ea typeface="DejaVu Sans"/>
                <a:cs typeface="DejaVu Sans"/>
              </a:rPr>
              <a:t>Administrators</a:t>
            </a:r>
          </a:p>
        </p:txBody>
      </p:sp>
      <p:sp>
        <p:nvSpPr>
          <p:cNvPr id="10" name="Rectangle 9">
            <a:extLst>
              <a:ext uri="{FF2B5EF4-FFF2-40B4-BE49-F238E27FC236}">
                <a16:creationId xmlns:a16="http://schemas.microsoft.com/office/drawing/2014/main" id="{19F03A9C-27C2-4022-AA4D-18A7E08722B8}"/>
              </a:ext>
            </a:extLst>
          </p:cNvPr>
          <p:cNvSpPr>
            <a:spLocks noGrp="1"/>
          </p:cNvSpPr>
          <p:nvPr/>
        </p:nvSpPr>
        <p:spPr>
          <a:xfrm>
            <a:off x="609600" y="4514850"/>
            <a:ext cx="7191375" cy="762000"/>
          </a:xfrm>
          <a:prstGeom prst="rect">
            <a:avLst/>
          </a:prstGeom>
          <a:noFill/>
          <a:ln w="0">
            <a:noFill/>
          </a:ln>
        </p:spPr>
        <p:txBody>
          <a:bodyPr>
            <a:noAutofit/>
          </a:bodyPr>
          <a:lstStyle/>
          <a:p>
            <a:pPr>
              <a:defRPr sz="1725" b="0">
                <a:solidFill>
                  <a:srgbClr val="C8C3D8"/>
                </a:solidFill>
                <a:latin typeface="DejaVu Sans"/>
                <a:ea typeface="DejaVu Sans"/>
                <a:cs typeface="DejaVu Sans"/>
              </a:defRPr>
            </a:pPr>
            <a:r>
              <a:rPr sz="1725" b="0">
                <a:solidFill>
                  <a:srgbClr val="C8C3D8"/>
                </a:solidFill>
                <a:latin typeface="DejaVu Sans"/>
                <a:ea typeface="DejaVu Sans"/>
                <a:cs typeface="DejaVu Sans"/>
              </a:rPr>
              <a:t>Sign in, add books, view user details and remove a user record.</a:t>
            </a:r>
          </a:p>
        </p:txBody>
      </p:sp>
      <p:sp>
        <p:nvSpPr>
          <p:cNvPr id="11" name="Rectangle 10">
            <a:extLst>
              <a:ext uri="{FF2B5EF4-FFF2-40B4-BE49-F238E27FC236}">
                <a16:creationId xmlns:a16="http://schemas.microsoft.com/office/drawing/2014/main" id="{C72C15F4-D75D-4454-B5A4-4B3790DB9454}"/>
              </a:ext>
            </a:extLst>
          </p:cNvPr>
          <p:cNvSpPr>
            <a:spLocks noGrp="1"/>
          </p:cNvSpPr>
          <p:nvPr/>
        </p:nvSpPr>
        <p:spPr>
          <a:xfrm>
            <a:off x="609600" y="5076825"/>
            <a:ext cx="7191375" cy="342900"/>
          </a:xfrm>
          <a:prstGeom prst="rect">
            <a:avLst/>
          </a:prstGeom>
          <a:noFill/>
          <a:ln w="0">
            <a:noFill/>
          </a:ln>
        </p:spPr>
        <p:txBody>
          <a:bodyPr>
            <a:noAutofit/>
          </a:bodyPr>
          <a:lstStyle/>
          <a:p>
            <a:pPr>
              <a:defRPr sz="1950" b="1">
                <a:solidFill>
                  <a:srgbClr val="D2F66C"/>
                </a:solidFill>
                <a:latin typeface="DejaVu Sans"/>
                <a:ea typeface="DejaVu Sans"/>
                <a:cs typeface="DejaVu Sans"/>
              </a:defRPr>
            </a:pPr>
            <a:r>
              <a:rPr sz="1950" b="1">
                <a:solidFill>
                  <a:srgbClr val="D2F66C"/>
                </a:solidFill>
                <a:latin typeface="DejaVu Sans"/>
                <a:ea typeface="DejaVu Sans"/>
                <a:cs typeface="DejaVu Sans"/>
              </a:rPr>
              <a:t>Storage approach</a:t>
            </a:r>
          </a:p>
        </p:txBody>
      </p:sp>
      <p:sp>
        <p:nvSpPr>
          <p:cNvPr id="12" name="Rectangle 11">
            <a:extLst>
              <a:ext uri="{FF2B5EF4-FFF2-40B4-BE49-F238E27FC236}">
                <a16:creationId xmlns:a16="http://schemas.microsoft.com/office/drawing/2014/main" id="{0B38DC81-4171-45FE-B560-3593D64C3D2A}"/>
              </a:ext>
            </a:extLst>
          </p:cNvPr>
          <p:cNvSpPr>
            <a:spLocks noGrp="1"/>
          </p:cNvSpPr>
          <p:nvPr/>
        </p:nvSpPr>
        <p:spPr>
          <a:xfrm>
            <a:off x="609600" y="5457825"/>
            <a:ext cx="7191375" cy="762000"/>
          </a:xfrm>
          <a:prstGeom prst="rect">
            <a:avLst/>
          </a:prstGeom>
          <a:noFill/>
          <a:ln w="0">
            <a:noFill/>
          </a:ln>
        </p:spPr>
        <p:txBody>
          <a:bodyPr>
            <a:noAutofit/>
          </a:bodyPr>
          <a:lstStyle/>
          <a:p>
            <a:pPr>
              <a:defRPr sz="1725" b="0">
                <a:solidFill>
                  <a:srgbClr val="C8C3D8"/>
                </a:solidFill>
                <a:latin typeface="DejaVu Sans"/>
                <a:ea typeface="DejaVu Sans"/>
                <a:cs typeface="DejaVu Sans"/>
              </a:defRPr>
            </a:pPr>
            <a:r>
              <a:rPr sz="1725" b="0">
                <a:solidFill>
                  <a:srgbClr val="C8C3D8"/>
                </a:solidFill>
                <a:latin typeface="DejaVu Sans"/>
                <a:ea typeface="DejaVu Sans"/>
                <a:cs typeface="DejaVu Sans"/>
              </a:rPr>
              <a:t>Binary credential files and text records, with no database.</a:t>
            </a:r>
          </a:p>
        </p:txBody>
      </p:sp>
    </p:spTree>
    <p:extLst>
      <p:ext uri="{BB962C8B-B14F-4D97-AF65-F5344CB8AC3E}">
        <p14:creationId xmlns:p14="http://schemas.microsoft.com/office/powerpoint/2010/main" val="10964219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00F22"/>
        </a:solidFill>
        <a:effectLst/>
      </p:bgPr>
    </p:bg>
    <p:spTree>
      <p:nvGrpSpPr>
        <p:cNvPr id="1" name=""/>
        <p:cNvGrpSpPr/>
        <p:nvPr/>
      </p:nvGrpSpPr>
      <p:grpSpPr>
        <a:xfrm>
          <a:off x="0" y="0"/>
          <a:ext cx="0" cy="0"/>
          <a:chOff x="0" y="0"/>
          <a:chExt cx="0" cy="0"/>
        </a:xfrm>
      </p:grpSpPr>
      <p:pic>
        <p:nvPicPr>
          <p:cNvPr id="14" name="Picture 13"/>
          <p:cNvPicPr>
            <a:picLocks noChangeAspect="1"/>
          </p:cNvPicPr>
          <p:nvPr/>
        </p:nvPicPr>
        <p:blipFill>
          <a:blip r:embed="rId3"/>
          <a:stretch/>
        </p:blipFill>
        <p:spPr>
          <a:xfrm>
            <a:off x="3239" y="0"/>
            <a:ext cx="12185522" cy="6858000"/>
          </a:xfrm>
          <a:prstGeom prst="rect">
            <a:avLst/>
          </a:prstGeom>
        </p:spPr>
      </p:pic>
      <p:pic>
        <p:nvPicPr>
          <p:cNvPr id="15" name="Picture 14"/>
          <p:cNvPicPr>
            <a:picLocks noChangeAspect="1"/>
          </p:cNvPicPr>
          <p:nvPr/>
        </p:nvPicPr>
        <p:blipFill>
          <a:blip r:embed="rId4"/>
          <a:stretch/>
        </p:blipFill>
        <p:spPr>
          <a:xfrm>
            <a:off x="4000561" y="1504950"/>
            <a:ext cx="8191379" cy="4610100"/>
          </a:xfrm>
          <a:prstGeom prst="rect">
            <a:avLst/>
          </a:prstGeom>
        </p:spPr>
      </p:pic>
      <p:sp>
        <p:nvSpPr>
          <p:cNvPr id="3" name="Rectangle 2">
            <a:extLst>
              <a:ext uri="{FF2B5EF4-FFF2-40B4-BE49-F238E27FC236}">
                <a16:creationId xmlns:a16="http://schemas.microsoft.com/office/drawing/2014/main" id="{3190CFEB-E084-4F97-BA36-7548CC26ADCC}"/>
              </a:ext>
            </a:extLst>
          </p:cNvPr>
          <p:cNvSpPr>
            <a:spLocks noGrp="1"/>
          </p:cNvSpPr>
          <p:nvPr/>
        </p:nvSpPr>
        <p:spPr>
          <a:xfrm>
            <a:off x="571500" y="400050"/>
            <a:ext cx="10953750" cy="762000"/>
          </a:xfrm>
          <a:prstGeom prst="rect">
            <a:avLst/>
          </a:prstGeom>
          <a:noFill/>
          <a:ln w="0">
            <a:noFill/>
          </a:ln>
        </p:spPr>
        <p:txBody>
          <a:bodyPr>
            <a:noAutofit/>
          </a:bodyPr>
          <a:lstStyle/>
          <a:p>
            <a:pPr>
              <a:defRPr sz="3150" b="1">
                <a:solidFill>
                  <a:srgbClr val="D5C2FF"/>
                </a:solidFill>
                <a:latin typeface="DejaVu Sans"/>
                <a:ea typeface="DejaVu Sans"/>
                <a:cs typeface="DejaVu Sans"/>
              </a:defRPr>
            </a:pPr>
            <a:r>
              <a:rPr sz="3150" b="1">
                <a:solidFill>
                  <a:srgbClr val="D5C2FF"/>
                </a:solidFill>
                <a:latin typeface="DejaVu Sans"/>
                <a:ea typeface="DejaVu Sans"/>
                <a:cs typeface="DejaVu Sans"/>
              </a:rPr>
              <a:t>Problem statement and objectives</a:t>
            </a:r>
          </a:p>
        </p:txBody>
      </p:sp>
      <p:pic>
        <p:nvPicPr>
          <p:cNvPr id="17" name="Picture 16"/>
          <p:cNvPicPr>
            <a:picLocks noChangeAspect="1"/>
          </p:cNvPicPr>
          <p:nvPr/>
        </p:nvPicPr>
        <p:blipFill>
          <a:blip r:embed="rId5"/>
          <a:stretch/>
        </p:blipFill>
        <p:spPr>
          <a:xfrm>
            <a:off x="10477500" y="6153873"/>
            <a:ext cx="1143000" cy="570053"/>
          </a:xfrm>
          <a:prstGeom prst="rect">
            <a:avLst/>
          </a:prstGeom>
        </p:spPr>
      </p:pic>
      <p:sp>
        <p:nvSpPr>
          <p:cNvPr id="5" name="Rectangle 4">
            <a:extLst>
              <a:ext uri="{FF2B5EF4-FFF2-40B4-BE49-F238E27FC236}">
                <a16:creationId xmlns:a16="http://schemas.microsoft.com/office/drawing/2014/main" id="{DBED7964-123A-49D0-A047-A2BA3CAD4A76}"/>
              </a:ext>
            </a:extLst>
          </p:cNvPr>
          <p:cNvSpPr>
            <a:spLocks noGrp="1"/>
          </p:cNvSpPr>
          <p:nvPr/>
        </p:nvSpPr>
        <p:spPr>
          <a:xfrm>
            <a:off x="571500" y="6162675"/>
            <a:ext cx="857250" cy="457200"/>
          </a:xfrm>
          <a:prstGeom prst="rect">
            <a:avLst/>
          </a:prstGeom>
          <a:noFill/>
          <a:ln w="0">
            <a:noFill/>
          </a:ln>
        </p:spPr>
        <p:txBody>
          <a:bodyPr>
            <a:noAutofit/>
          </a:bodyPr>
          <a:lstStyle/>
          <a:p>
            <a:pPr>
              <a:defRPr sz="2175" b="1">
                <a:solidFill>
                  <a:srgbClr val="D2F66C"/>
                </a:solidFill>
                <a:latin typeface="DejaVu Sans"/>
                <a:ea typeface="DejaVu Sans"/>
                <a:cs typeface="DejaVu Sans"/>
              </a:defRPr>
            </a:pPr>
            <a:r>
              <a:rPr sz="2175" b="1">
                <a:solidFill>
                  <a:srgbClr val="D2F66C"/>
                </a:solidFill>
                <a:latin typeface="DejaVu Sans"/>
                <a:ea typeface="DejaVu Sans"/>
                <a:cs typeface="DejaVu Sans"/>
              </a:rPr>
              <a:t>3</a:t>
            </a:r>
          </a:p>
        </p:txBody>
      </p:sp>
      <p:sp>
        <p:nvSpPr>
          <p:cNvPr id="6" name="Rectangle 5">
            <a:extLst>
              <a:ext uri="{FF2B5EF4-FFF2-40B4-BE49-F238E27FC236}">
                <a16:creationId xmlns:a16="http://schemas.microsoft.com/office/drawing/2014/main" id="{74C1B792-2611-4C9B-A6B0-0CF36F468D6B}"/>
              </a:ext>
            </a:extLst>
          </p:cNvPr>
          <p:cNvSpPr>
            <a:spLocks noGrp="1"/>
          </p:cNvSpPr>
          <p:nvPr/>
        </p:nvSpPr>
        <p:spPr>
          <a:xfrm>
            <a:off x="609600" y="1485900"/>
            <a:ext cx="7191375" cy="342900"/>
          </a:xfrm>
          <a:prstGeom prst="rect">
            <a:avLst/>
          </a:prstGeom>
          <a:noFill/>
          <a:ln w="0">
            <a:noFill/>
          </a:ln>
        </p:spPr>
        <p:txBody>
          <a:bodyPr>
            <a:noAutofit/>
          </a:bodyPr>
          <a:lstStyle/>
          <a:p>
            <a:pPr>
              <a:defRPr sz="1950" b="1">
                <a:solidFill>
                  <a:srgbClr val="D2F66C"/>
                </a:solidFill>
                <a:latin typeface="DejaVu Sans"/>
                <a:ea typeface="DejaVu Sans"/>
                <a:cs typeface="DejaVu Sans"/>
              </a:defRPr>
            </a:pPr>
            <a:r>
              <a:rPr sz="1950" b="1">
                <a:solidFill>
                  <a:srgbClr val="D2F66C"/>
                </a:solidFill>
                <a:latin typeface="DejaVu Sans"/>
                <a:ea typeface="DejaVu Sans"/>
                <a:cs typeface="DejaVu Sans"/>
              </a:rPr>
              <a:t>Problem</a:t>
            </a:r>
          </a:p>
        </p:txBody>
      </p:sp>
      <p:sp>
        <p:nvSpPr>
          <p:cNvPr id="7" name="Rectangle 6">
            <a:extLst>
              <a:ext uri="{FF2B5EF4-FFF2-40B4-BE49-F238E27FC236}">
                <a16:creationId xmlns:a16="http://schemas.microsoft.com/office/drawing/2014/main" id="{DFFF485E-B204-4DBC-96A9-4430C90DDAE2}"/>
              </a:ext>
            </a:extLst>
          </p:cNvPr>
          <p:cNvSpPr>
            <a:spLocks noGrp="1"/>
          </p:cNvSpPr>
          <p:nvPr/>
        </p:nvSpPr>
        <p:spPr>
          <a:xfrm>
            <a:off x="609600" y="1866900"/>
            <a:ext cx="7191375" cy="762000"/>
          </a:xfrm>
          <a:prstGeom prst="rect">
            <a:avLst/>
          </a:prstGeom>
          <a:noFill/>
          <a:ln w="0">
            <a:noFill/>
          </a:ln>
        </p:spPr>
        <p:txBody>
          <a:bodyPr>
            <a:noAutofit/>
          </a:bodyPr>
          <a:lstStyle/>
          <a:p>
            <a:pPr>
              <a:defRPr sz="1725" b="0">
                <a:solidFill>
                  <a:srgbClr val="C8C3D8"/>
                </a:solidFill>
                <a:latin typeface="DejaVu Sans"/>
                <a:ea typeface="DejaVu Sans"/>
                <a:cs typeface="DejaVu Sans"/>
              </a:defRPr>
            </a:pPr>
            <a:r>
              <a:rPr sz="1725" b="0">
                <a:solidFill>
                  <a:srgbClr val="C8C3D8"/>
                </a:solidFill>
                <a:latin typeface="DejaVu Sans"/>
                <a:ea typeface="DejaVu Sans"/>
                <a:cs typeface="DejaVu Sans"/>
              </a:rPr>
              <a:t>Manual records require repeated entry and make book and member information harder to review.</a:t>
            </a:r>
          </a:p>
        </p:txBody>
      </p:sp>
      <p:sp>
        <p:nvSpPr>
          <p:cNvPr id="8" name="Rectangle 7">
            <a:extLst>
              <a:ext uri="{FF2B5EF4-FFF2-40B4-BE49-F238E27FC236}">
                <a16:creationId xmlns:a16="http://schemas.microsoft.com/office/drawing/2014/main" id="{4CCE294A-19B6-408F-B858-D59CE6D34699}"/>
              </a:ext>
            </a:extLst>
          </p:cNvPr>
          <p:cNvSpPr>
            <a:spLocks noGrp="1"/>
          </p:cNvSpPr>
          <p:nvPr/>
        </p:nvSpPr>
        <p:spPr>
          <a:xfrm>
            <a:off x="609600" y="2609850"/>
            <a:ext cx="7191375" cy="342900"/>
          </a:xfrm>
          <a:prstGeom prst="rect">
            <a:avLst/>
          </a:prstGeom>
          <a:noFill/>
          <a:ln w="0">
            <a:noFill/>
          </a:ln>
        </p:spPr>
        <p:txBody>
          <a:bodyPr>
            <a:noAutofit/>
          </a:bodyPr>
          <a:lstStyle/>
          <a:p>
            <a:pPr>
              <a:defRPr sz="1950" b="1">
                <a:solidFill>
                  <a:srgbClr val="D2F66C"/>
                </a:solidFill>
                <a:latin typeface="DejaVu Sans"/>
                <a:ea typeface="DejaVu Sans"/>
                <a:cs typeface="DejaVu Sans"/>
              </a:defRPr>
            </a:pPr>
            <a:r>
              <a:rPr sz="1950" b="1">
                <a:solidFill>
                  <a:srgbClr val="D2F66C"/>
                </a:solidFill>
                <a:latin typeface="DejaVu Sans"/>
                <a:ea typeface="DejaVu Sans"/>
                <a:cs typeface="DejaVu Sans"/>
              </a:rPr>
              <a:t>Objective 1</a:t>
            </a:r>
          </a:p>
        </p:txBody>
      </p:sp>
      <p:sp>
        <p:nvSpPr>
          <p:cNvPr id="9" name="Rectangle 8">
            <a:extLst>
              <a:ext uri="{FF2B5EF4-FFF2-40B4-BE49-F238E27FC236}">
                <a16:creationId xmlns:a16="http://schemas.microsoft.com/office/drawing/2014/main" id="{CDF9F033-BB69-43F7-BE91-BE5E07C4BC52}"/>
              </a:ext>
            </a:extLst>
          </p:cNvPr>
          <p:cNvSpPr>
            <a:spLocks noGrp="1"/>
          </p:cNvSpPr>
          <p:nvPr/>
        </p:nvSpPr>
        <p:spPr>
          <a:xfrm>
            <a:off x="609600" y="2990850"/>
            <a:ext cx="7191375" cy="762000"/>
          </a:xfrm>
          <a:prstGeom prst="rect">
            <a:avLst/>
          </a:prstGeom>
          <a:noFill/>
          <a:ln w="0">
            <a:noFill/>
          </a:ln>
        </p:spPr>
        <p:txBody>
          <a:bodyPr>
            <a:noAutofit/>
          </a:bodyPr>
          <a:lstStyle/>
          <a:p>
            <a:pPr>
              <a:defRPr sz="1725" b="0">
                <a:solidFill>
                  <a:srgbClr val="C8C3D8"/>
                </a:solidFill>
                <a:latin typeface="DejaVu Sans"/>
                <a:ea typeface="DejaVu Sans"/>
                <a:cs typeface="DejaVu Sans"/>
              </a:defRPr>
            </a:pPr>
            <a:r>
              <a:rPr sz="1725" b="0">
                <a:solidFill>
                  <a:srgbClr val="C8C3D8"/>
                </a:solidFill>
                <a:latin typeface="DejaVu Sans"/>
                <a:ea typeface="DejaVu Sans"/>
                <a:cs typeface="DejaVu Sans"/>
              </a:rPr>
              <a:t>Provide separate menus for library users and administrators.</a:t>
            </a:r>
          </a:p>
        </p:txBody>
      </p:sp>
      <p:sp>
        <p:nvSpPr>
          <p:cNvPr id="10" name="Rectangle 9">
            <a:extLst>
              <a:ext uri="{FF2B5EF4-FFF2-40B4-BE49-F238E27FC236}">
                <a16:creationId xmlns:a16="http://schemas.microsoft.com/office/drawing/2014/main" id="{C441CEF8-99BF-431E-82C7-72AD25DBC91E}"/>
              </a:ext>
            </a:extLst>
          </p:cNvPr>
          <p:cNvSpPr>
            <a:spLocks noGrp="1"/>
          </p:cNvSpPr>
          <p:nvPr/>
        </p:nvSpPr>
        <p:spPr>
          <a:xfrm>
            <a:off x="609600" y="3733800"/>
            <a:ext cx="7191375" cy="342900"/>
          </a:xfrm>
          <a:prstGeom prst="rect">
            <a:avLst/>
          </a:prstGeom>
          <a:noFill/>
          <a:ln w="0">
            <a:noFill/>
          </a:ln>
        </p:spPr>
        <p:txBody>
          <a:bodyPr>
            <a:noAutofit/>
          </a:bodyPr>
          <a:lstStyle/>
          <a:p>
            <a:pPr>
              <a:defRPr sz="1950" b="1">
                <a:solidFill>
                  <a:srgbClr val="D2F66C"/>
                </a:solidFill>
                <a:latin typeface="DejaVu Sans"/>
                <a:ea typeface="DejaVu Sans"/>
                <a:cs typeface="DejaVu Sans"/>
              </a:defRPr>
            </a:pPr>
            <a:r>
              <a:rPr sz="1950" b="1">
                <a:solidFill>
                  <a:srgbClr val="D2F66C"/>
                </a:solidFill>
                <a:latin typeface="DejaVu Sans"/>
                <a:ea typeface="DejaVu Sans"/>
                <a:cs typeface="DejaVu Sans"/>
              </a:rPr>
              <a:t>Objective 2</a:t>
            </a:r>
          </a:p>
        </p:txBody>
      </p:sp>
      <p:sp>
        <p:nvSpPr>
          <p:cNvPr id="11" name="Rectangle 10">
            <a:extLst>
              <a:ext uri="{FF2B5EF4-FFF2-40B4-BE49-F238E27FC236}">
                <a16:creationId xmlns:a16="http://schemas.microsoft.com/office/drawing/2014/main" id="{6BC4FEB8-8C5F-4AFB-A7B4-18C41D28D668}"/>
              </a:ext>
            </a:extLst>
          </p:cNvPr>
          <p:cNvSpPr>
            <a:spLocks noGrp="1"/>
          </p:cNvSpPr>
          <p:nvPr/>
        </p:nvSpPr>
        <p:spPr>
          <a:xfrm>
            <a:off x="609600" y="4114800"/>
            <a:ext cx="7191375" cy="762000"/>
          </a:xfrm>
          <a:prstGeom prst="rect">
            <a:avLst/>
          </a:prstGeom>
          <a:noFill/>
          <a:ln w="0">
            <a:noFill/>
          </a:ln>
        </p:spPr>
        <p:txBody>
          <a:bodyPr>
            <a:noAutofit/>
          </a:bodyPr>
          <a:lstStyle/>
          <a:p>
            <a:pPr>
              <a:defRPr sz="1725" b="0">
                <a:solidFill>
                  <a:srgbClr val="C8C3D8"/>
                </a:solidFill>
                <a:latin typeface="DejaVu Sans"/>
                <a:ea typeface="DejaVu Sans"/>
                <a:cs typeface="DejaVu Sans"/>
              </a:defRPr>
            </a:pPr>
            <a:r>
              <a:rPr sz="1725" b="0">
                <a:solidFill>
                  <a:srgbClr val="C8C3D8"/>
                </a:solidFill>
                <a:latin typeface="DejaVu Sans"/>
                <a:ea typeface="DejaVu Sans"/>
                <a:cs typeface="DejaVu Sans"/>
              </a:rPr>
              <a:t>Store member, book and issue records across program runs using file handling.</a:t>
            </a:r>
          </a:p>
        </p:txBody>
      </p:sp>
      <p:sp>
        <p:nvSpPr>
          <p:cNvPr id="12" name="Rectangle 11">
            <a:extLst>
              <a:ext uri="{FF2B5EF4-FFF2-40B4-BE49-F238E27FC236}">
                <a16:creationId xmlns:a16="http://schemas.microsoft.com/office/drawing/2014/main" id="{8A2CC622-2152-47FF-AFA5-EB88740FF9CB}"/>
              </a:ext>
            </a:extLst>
          </p:cNvPr>
          <p:cNvSpPr>
            <a:spLocks noGrp="1"/>
          </p:cNvSpPr>
          <p:nvPr/>
        </p:nvSpPr>
        <p:spPr>
          <a:xfrm>
            <a:off x="609600" y="4857750"/>
            <a:ext cx="7191375" cy="342900"/>
          </a:xfrm>
          <a:prstGeom prst="rect">
            <a:avLst/>
          </a:prstGeom>
          <a:noFill/>
          <a:ln w="0">
            <a:noFill/>
          </a:ln>
        </p:spPr>
        <p:txBody>
          <a:bodyPr>
            <a:noAutofit/>
          </a:bodyPr>
          <a:lstStyle/>
          <a:p>
            <a:pPr>
              <a:defRPr sz="1950" b="1">
                <a:solidFill>
                  <a:srgbClr val="D2F66C"/>
                </a:solidFill>
                <a:latin typeface="DejaVu Sans"/>
                <a:ea typeface="DejaVu Sans"/>
                <a:cs typeface="DejaVu Sans"/>
              </a:defRPr>
            </a:pPr>
            <a:r>
              <a:rPr sz="1950" b="1">
                <a:solidFill>
                  <a:srgbClr val="D2F66C"/>
                </a:solidFill>
                <a:latin typeface="DejaVu Sans"/>
                <a:ea typeface="DejaVu Sans"/>
                <a:cs typeface="DejaVu Sans"/>
              </a:rPr>
              <a:t>Project boundary</a:t>
            </a:r>
          </a:p>
        </p:txBody>
      </p:sp>
      <p:sp>
        <p:nvSpPr>
          <p:cNvPr id="13" name="Rectangle 12">
            <a:extLst>
              <a:ext uri="{FF2B5EF4-FFF2-40B4-BE49-F238E27FC236}">
                <a16:creationId xmlns:a16="http://schemas.microsoft.com/office/drawing/2014/main" id="{404B5C54-F29F-48FC-8661-1A0ED9203E31}"/>
              </a:ext>
            </a:extLst>
          </p:cNvPr>
          <p:cNvSpPr>
            <a:spLocks noGrp="1"/>
          </p:cNvSpPr>
          <p:nvPr/>
        </p:nvSpPr>
        <p:spPr>
          <a:xfrm>
            <a:off x="609600" y="5238750"/>
            <a:ext cx="7191375" cy="762000"/>
          </a:xfrm>
          <a:prstGeom prst="rect">
            <a:avLst/>
          </a:prstGeom>
          <a:noFill/>
          <a:ln w="0">
            <a:noFill/>
          </a:ln>
        </p:spPr>
        <p:txBody>
          <a:bodyPr>
            <a:noAutofit/>
          </a:bodyPr>
          <a:lstStyle/>
          <a:p>
            <a:pPr>
              <a:defRPr sz="1725" b="0">
                <a:solidFill>
                  <a:srgbClr val="C8C3D8"/>
                </a:solidFill>
                <a:latin typeface="DejaVu Sans"/>
                <a:ea typeface="DejaVu Sans"/>
                <a:cs typeface="DejaVu Sans"/>
              </a:defRPr>
            </a:pPr>
            <a:r>
              <a:rPr sz="1725" b="0">
                <a:solidFill>
                  <a:srgbClr val="C8C3D8"/>
                </a:solidFill>
                <a:latin typeface="DejaVu Sans"/>
                <a:ea typeface="DejaVu Sans"/>
                <a:cs typeface="DejaVu Sans"/>
              </a:rPr>
              <a:t>A learning prototype for one local terminal session at a time.</a:t>
            </a:r>
          </a:p>
        </p:txBody>
      </p:sp>
    </p:spTree>
    <p:extLst>
      <p:ext uri="{BB962C8B-B14F-4D97-AF65-F5344CB8AC3E}">
        <p14:creationId xmlns:p14="http://schemas.microsoft.com/office/powerpoint/2010/main" val="20039724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9CDF9"/>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EA0D703-E20F-499E-B084-9CAAF2303213}"/>
              </a:ext>
            </a:extLst>
          </p:cNvPr>
          <p:cNvSpPr>
            <a:spLocks noGrp="1"/>
          </p:cNvSpPr>
          <p:nvPr/>
        </p:nvSpPr>
        <p:spPr>
          <a:xfrm>
            <a:off x="571500" y="400050"/>
            <a:ext cx="10953750" cy="762000"/>
          </a:xfrm>
          <a:prstGeom prst="rect">
            <a:avLst/>
          </a:prstGeom>
          <a:noFill/>
          <a:ln w="0">
            <a:noFill/>
          </a:ln>
        </p:spPr>
        <p:txBody>
          <a:bodyPr>
            <a:noAutofit/>
          </a:bodyPr>
          <a:lstStyle/>
          <a:p>
            <a:pPr>
              <a:defRPr sz="3150" b="1">
                <a:solidFill>
                  <a:srgbClr val="181427"/>
                </a:solidFill>
                <a:latin typeface="DejaVu Sans"/>
                <a:ea typeface="DejaVu Sans"/>
                <a:cs typeface="DejaVu Sans"/>
              </a:defRPr>
            </a:pPr>
            <a:r>
              <a:rPr sz="3150" b="1">
                <a:solidFill>
                  <a:srgbClr val="181427"/>
                </a:solidFill>
                <a:latin typeface="DejaVu Sans"/>
                <a:ea typeface="DejaVu Sans"/>
                <a:cs typeface="DejaVu Sans"/>
              </a:rPr>
              <a:t>Functional scope</a:t>
            </a:r>
          </a:p>
        </p:txBody>
      </p:sp>
      <p:pic>
        <p:nvPicPr>
          <p:cNvPr id="7" name="Picture 6"/>
          <p:cNvPicPr>
            <a:picLocks noChangeAspect="1"/>
          </p:cNvPicPr>
          <p:nvPr/>
        </p:nvPicPr>
        <p:blipFill>
          <a:blip r:embed="rId3"/>
          <a:stretch/>
        </p:blipFill>
        <p:spPr>
          <a:xfrm>
            <a:off x="10477500" y="6153873"/>
            <a:ext cx="1143000" cy="570053"/>
          </a:xfrm>
          <a:prstGeom prst="rect">
            <a:avLst/>
          </a:prstGeom>
        </p:spPr>
      </p:pic>
      <p:sp>
        <p:nvSpPr>
          <p:cNvPr id="3" name="Rectangle 2">
            <a:extLst>
              <a:ext uri="{FF2B5EF4-FFF2-40B4-BE49-F238E27FC236}">
                <a16:creationId xmlns:a16="http://schemas.microsoft.com/office/drawing/2014/main" id="{797BFBA8-2356-45AF-AF15-710E80BFF087}"/>
              </a:ext>
            </a:extLst>
          </p:cNvPr>
          <p:cNvSpPr>
            <a:spLocks noGrp="1"/>
          </p:cNvSpPr>
          <p:nvPr/>
        </p:nvSpPr>
        <p:spPr>
          <a:xfrm>
            <a:off x="571500" y="6162675"/>
            <a:ext cx="857250" cy="457200"/>
          </a:xfrm>
          <a:prstGeom prst="rect">
            <a:avLst/>
          </a:prstGeom>
          <a:noFill/>
          <a:ln w="0">
            <a:noFill/>
          </a:ln>
        </p:spPr>
        <p:txBody>
          <a:bodyPr>
            <a:noAutofit/>
          </a:bodyPr>
          <a:lstStyle/>
          <a:p>
            <a:pPr>
              <a:defRPr sz="2175" b="1">
                <a:solidFill>
                  <a:srgbClr val="181427"/>
                </a:solidFill>
                <a:latin typeface="DejaVu Sans"/>
                <a:ea typeface="DejaVu Sans"/>
                <a:cs typeface="DejaVu Sans"/>
              </a:defRPr>
            </a:pPr>
            <a:r>
              <a:rPr sz="2175" b="1">
                <a:solidFill>
                  <a:srgbClr val="181427"/>
                </a:solidFill>
                <a:latin typeface="DejaVu Sans"/>
                <a:ea typeface="DejaVu Sans"/>
                <a:cs typeface="DejaVu Sans"/>
              </a:rPr>
              <a:t>4</a:t>
            </a:r>
          </a:p>
        </p:txBody>
      </p:sp>
      <p:graphicFrame>
        <p:nvGraphicFramePr>
          <p:cNvPr id="9" name="Table 8"/>
          <p:cNvGraphicFramePr/>
          <p:nvPr/>
        </p:nvGraphicFramePr>
        <p:xfrm>
          <a:off x="571500" y="1524000"/>
          <a:ext cx="11049000" cy="4048128"/>
        </p:xfrm>
        <a:graphic>
          <a:graphicData uri="http://schemas.openxmlformats.org/drawingml/2006/table">
            <a:tbl>
              <a:tblPr/>
              <a:tblGrid>
                <a:gridCol w="5524500">
                  <a:extLst>
                    <a:ext uri="{9D8B030D-6E8A-4147-A177-3AD203B41FA5}">
                      <a16:colId xmlns:a16="http://schemas.microsoft.com/office/drawing/2014/main" val="20000"/>
                    </a:ext>
                  </a:extLst>
                </a:gridCol>
                <a:gridCol w="5524500">
                  <a:extLst>
                    <a:ext uri="{9D8B030D-6E8A-4147-A177-3AD203B41FA5}">
                      <a16:colId xmlns:a16="http://schemas.microsoft.com/office/drawing/2014/main" val="20001"/>
                    </a:ext>
                  </a:extLst>
                </a:gridCol>
              </a:tblGrid>
              <a:tr h="674688">
                <a:tc>
                  <a:txBody>
                    <a:bodyPr/>
                    <a:lstStyle/>
                    <a:p>
                      <a:r>
                        <a:rPr sz="1650" b="1">
                          <a:solidFill>
                            <a:srgbClr val="FFFFFF"/>
                          </a:solidFill>
                          <a:latin typeface="DejaVu Sans"/>
                          <a:ea typeface="DejaVu Sans"/>
                          <a:cs typeface="DejaVu Sans"/>
                        </a:rPr>
                        <a:t>Library user</a:t>
                      </a:r>
                    </a:p>
                  </a:txBody>
                  <a:tcPr>
                    <a:solidFill>
                      <a:srgbClr val="241C3B"/>
                    </a:solidFill>
                  </a:tcPr>
                </a:tc>
                <a:tc>
                  <a:txBody>
                    <a:bodyPr/>
                    <a:lstStyle/>
                    <a:p>
                      <a:r>
                        <a:rPr sz="1650" b="1">
                          <a:solidFill>
                            <a:srgbClr val="FFFFFF"/>
                          </a:solidFill>
                          <a:latin typeface="DejaVu Sans"/>
                          <a:ea typeface="DejaVu Sans"/>
                          <a:cs typeface="DejaVu Sans"/>
                        </a:rPr>
                        <a:t>Administrator</a:t>
                      </a:r>
                    </a:p>
                  </a:txBody>
                  <a:tcPr>
                    <a:solidFill>
                      <a:srgbClr val="241C3B"/>
                    </a:solidFill>
                  </a:tcPr>
                </a:tc>
                <a:extLst>
                  <a:ext uri="{0D108BD9-81ED-4DB2-BD59-A6C34878D82A}">
                    <a16:rowId xmlns:a16="http://schemas.microsoft.com/office/drawing/2014/main" val="10000"/>
                  </a:ext>
                </a:extLst>
              </a:tr>
              <a:tr h="674688">
                <a:tc>
                  <a:txBody>
                    <a:bodyPr/>
                    <a:lstStyle/>
                    <a:p>
                      <a:r>
                        <a:rPr sz="1650" b="0">
                          <a:solidFill>
                            <a:srgbClr val="241C3B"/>
                          </a:solidFill>
                          <a:latin typeface="DejaVu Sans"/>
                          <a:ea typeface="DejaVu Sans"/>
                          <a:cs typeface="DejaVu Sans"/>
                        </a:rPr>
                        <a:t>Create an account and member details</a:t>
                      </a:r>
                    </a:p>
                  </a:txBody>
                  <a:tcPr>
                    <a:solidFill>
                      <a:srgbClr val="E9E0FC"/>
                    </a:solidFill>
                  </a:tcPr>
                </a:tc>
                <a:tc>
                  <a:txBody>
                    <a:bodyPr/>
                    <a:lstStyle/>
                    <a:p>
                      <a:r>
                        <a:rPr sz="1650" b="0">
                          <a:solidFill>
                            <a:srgbClr val="241C3B"/>
                          </a:solidFill>
                          <a:latin typeface="DejaVu Sans"/>
                          <a:ea typeface="DejaVu Sans"/>
                          <a:cs typeface="DejaVu Sans"/>
                        </a:rPr>
                        <a:t>Authenticate using admin.bin</a:t>
                      </a:r>
                    </a:p>
                  </a:txBody>
                  <a:tcPr>
                    <a:solidFill>
                      <a:srgbClr val="E9E0FC"/>
                    </a:solidFill>
                  </a:tcPr>
                </a:tc>
                <a:extLst>
                  <a:ext uri="{0D108BD9-81ED-4DB2-BD59-A6C34878D82A}">
                    <a16:rowId xmlns:a16="http://schemas.microsoft.com/office/drawing/2014/main" val="10001"/>
                  </a:ext>
                </a:extLst>
              </a:tr>
              <a:tr h="674688">
                <a:tc>
                  <a:txBody>
                    <a:bodyPr/>
                    <a:lstStyle/>
                    <a:p>
                      <a:r>
                        <a:rPr sz="1650" b="0">
                          <a:solidFill>
                            <a:srgbClr val="241C3B"/>
                          </a:solidFill>
                          <a:latin typeface="DejaVu Sans"/>
                          <a:ea typeface="DejaVu Sans"/>
                          <a:cs typeface="DejaVu Sans"/>
                        </a:rPr>
                        <a:t>Authenticate using users.bin</a:t>
                      </a:r>
                    </a:p>
                  </a:txBody>
                  <a:tcPr>
                    <a:solidFill>
                      <a:srgbClr val="D9CDF9"/>
                    </a:solidFill>
                  </a:tcPr>
                </a:tc>
                <a:tc>
                  <a:txBody>
                    <a:bodyPr/>
                    <a:lstStyle/>
                    <a:p>
                      <a:r>
                        <a:rPr sz="1650" b="0">
                          <a:solidFill>
                            <a:srgbClr val="241C3B"/>
                          </a:solidFill>
                          <a:latin typeface="DejaVu Sans"/>
                          <a:ea typeface="DejaVu Sans"/>
                          <a:cs typeface="DejaVu Sans"/>
                        </a:rPr>
                        <a:t>Add a book with availability text</a:t>
                      </a:r>
                    </a:p>
                  </a:txBody>
                  <a:tcPr>
                    <a:solidFill>
                      <a:srgbClr val="D9CDF9"/>
                    </a:solidFill>
                  </a:tcPr>
                </a:tc>
                <a:extLst>
                  <a:ext uri="{0D108BD9-81ED-4DB2-BD59-A6C34878D82A}">
                    <a16:rowId xmlns:a16="http://schemas.microsoft.com/office/drawing/2014/main" val="10002"/>
                  </a:ext>
                </a:extLst>
              </a:tr>
              <a:tr h="674688">
                <a:tc>
                  <a:txBody>
                    <a:bodyPr/>
                    <a:lstStyle/>
                    <a:p>
                      <a:r>
                        <a:rPr sz="1650" b="0">
                          <a:solidFill>
                            <a:srgbClr val="241C3B"/>
                          </a:solidFill>
                          <a:latin typeface="DejaVu Sans"/>
                          <a:ea typeface="DejaVu Sans"/>
                          <a:cs typeface="DejaVu Sans"/>
                        </a:rPr>
                        <a:t>View all stored book records</a:t>
                      </a:r>
                    </a:p>
                  </a:txBody>
                  <a:tcPr>
                    <a:solidFill>
                      <a:srgbClr val="E9E0FC"/>
                    </a:solidFill>
                  </a:tcPr>
                </a:tc>
                <a:tc>
                  <a:txBody>
                    <a:bodyPr/>
                    <a:lstStyle/>
                    <a:p>
                      <a:r>
                        <a:rPr sz="1650" b="0">
                          <a:solidFill>
                            <a:srgbClr val="241C3B"/>
                          </a:solidFill>
                          <a:latin typeface="DejaVu Sans"/>
                          <a:ea typeface="DejaVu Sans"/>
                          <a:cs typeface="DejaVu Sans"/>
                        </a:rPr>
                        <a:t>View all stored user details</a:t>
                      </a:r>
                    </a:p>
                  </a:txBody>
                  <a:tcPr>
                    <a:solidFill>
                      <a:srgbClr val="E9E0FC"/>
                    </a:solidFill>
                  </a:tcPr>
                </a:tc>
                <a:extLst>
                  <a:ext uri="{0D108BD9-81ED-4DB2-BD59-A6C34878D82A}">
                    <a16:rowId xmlns:a16="http://schemas.microsoft.com/office/drawing/2014/main" val="10003"/>
                  </a:ext>
                </a:extLst>
              </a:tr>
              <a:tr h="674688">
                <a:tc>
                  <a:txBody>
                    <a:bodyPr/>
                    <a:lstStyle/>
                    <a:p>
                      <a:r>
                        <a:rPr sz="1650" b="0">
                          <a:solidFill>
                            <a:srgbClr val="241C3B"/>
                          </a:solidFill>
                          <a:latin typeface="DejaVu Sans"/>
                          <a:ea typeface="DejaVu Sans"/>
                          <a:cs typeface="DejaVu Sans"/>
                        </a:rPr>
                        <a:t>Append a dated issue record</a:t>
                      </a:r>
                    </a:p>
                  </a:txBody>
                  <a:tcPr>
                    <a:solidFill>
                      <a:srgbClr val="D9CDF9"/>
                    </a:solidFill>
                  </a:tcPr>
                </a:tc>
                <a:tc>
                  <a:txBody>
                    <a:bodyPr/>
                    <a:lstStyle/>
                    <a:p>
                      <a:r>
                        <a:rPr sz="1650" b="0">
                          <a:solidFill>
                            <a:srgbClr val="241C3B"/>
                          </a:solidFill>
                          <a:latin typeface="DejaVu Sans"/>
                          <a:ea typeface="DejaVu Sans"/>
                          <a:cs typeface="DejaVu Sans"/>
                        </a:rPr>
                        <a:t>Remove a user details record</a:t>
                      </a:r>
                    </a:p>
                  </a:txBody>
                  <a:tcPr>
                    <a:solidFill>
                      <a:srgbClr val="D9CDF9"/>
                    </a:solidFill>
                  </a:tcPr>
                </a:tc>
                <a:extLst>
                  <a:ext uri="{0D108BD9-81ED-4DB2-BD59-A6C34878D82A}">
                    <a16:rowId xmlns:a16="http://schemas.microsoft.com/office/drawing/2014/main" val="10004"/>
                  </a:ext>
                </a:extLst>
              </a:tr>
              <a:tr h="674688">
                <a:tc>
                  <a:txBody>
                    <a:bodyPr/>
                    <a:lstStyle/>
                    <a:p>
                      <a:r>
                        <a:rPr sz="1650" b="0">
                          <a:solidFill>
                            <a:srgbClr val="241C3B"/>
                          </a:solidFill>
                          <a:latin typeface="DejaVu Sans"/>
                          <a:ea typeface="DejaVu Sans"/>
                          <a:cs typeface="DejaVu Sans"/>
                        </a:rPr>
                        <a:t>Return to the main menu</a:t>
                      </a:r>
                    </a:p>
                  </a:txBody>
                  <a:tcPr>
                    <a:solidFill>
                      <a:srgbClr val="E9E0FC"/>
                    </a:solidFill>
                  </a:tcPr>
                </a:tc>
                <a:tc>
                  <a:txBody>
                    <a:bodyPr/>
                    <a:lstStyle/>
                    <a:p>
                      <a:r>
                        <a:rPr sz="1650" b="0">
                          <a:solidFill>
                            <a:srgbClr val="241C3B"/>
                          </a:solidFill>
                          <a:latin typeface="DejaVu Sans"/>
                          <a:ea typeface="DejaVu Sans"/>
                          <a:cs typeface="DejaVu Sans"/>
                        </a:rPr>
                        <a:t>Exit to the main menu</a:t>
                      </a:r>
                    </a:p>
                  </a:txBody>
                  <a:tcPr>
                    <a:solidFill>
                      <a:srgbClr val="E9E0FC"/>
                    </a:solidFill>
                  </a:tcPr>
                </a:tc>
                <a:extLst>
                  <a:ext uri="{0D108BD9-81ED-4DB2-BD59-A6C34878D82A}">
                    <a16:rowId xmlns:a16="http://schemas.microsoft.com/office/drawing/2014/main" val="10005"/>
                  </a:ext>
                </a:extLst>
              </a:tr>
            </a:tbl>
          </a:graphicData>
        </a:graphic>
      </p:graphicFrame>
      <p:sp>
        <p:nvSpPr>
          <p:cNvPr id="5" name="Rectangle 4">
            <a:extLst>
              <a:ext uri="{FF2B5EF4-FFF2-40B4-BE49-F238E27FC236}">
                <a16:creationId xmlns:a16="http://schemas.microsoft.com/office/drawing/2014/main" id="{CEC83487-8044-4177-B04A-1E2103CA8B8E}"/>
              </a:ext>
            </a:extLst>
          </p:cNvPr>
          <p:cNvSpPr>
            <a:spLocks noGrp="1"/>
          </p:cNvSpPr>
          <p:nvPr/>
        </p:nvSpPr>
        <p:spPr>
          <a:xfrm>
            <a:off x="590550" y="5715000"/>
            <a:ext cx="10763250" cy="361950"/>
          </a:xfrm>
          <a:prstGeom prst="rect">
            <a:avLst/>
          </a:prstGeom>
          <a:noFill/>
          <a:ln w="0">
            <a:noFill/>
          </a:ln>
        </p:spPr>
        <p:txBody>
          <a:bodyPr>
            <a:noAutofit/>
          </a:bodyPr>
          <a:lstStyle/>
          <a:p>
            <a:pPr>
              <a:defRPr sz="1725" b="0">
                <a:solidFill>
                  <a:srgbClr val="47405E"/>
                </a:solidFill>
                <a:latin typeface="DejaVu Sans"/>
                <a:ea typeface="DejaVu Sans"/>
                <a:cs typeface="DejaVu Sans"/>
              </a:defRPr>
            </a:pPr>
            <a:r>
              <a:rPr sz="1725" b="0">
                <a:solidFill>
                  <a:srgbClr val="47405E"/>
                </a:solidFill>
                <a:latin typeface="DejaVu Sans"/>
                <a:ea typeface="DejaVu Sans"/>
                <a:cs typeface="DejaVu Sans"/>
              </a:rPr>
              <a:t>Book returns, fines and automatic availability updates are future work.</a:t>
            </a:r>
          </a:p>
        </p:txBody>
      </p:sp>
    </p:spTree>
    <p:extLst>
      <p:ext uri="{BB962C8B-B14F-4D97-AF65-F5344CB8AC3E}">
        <p14:creationId xmlns:p14="http://schemas.microsoft.com/office/powerpoint/2010/main" val="12327953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00F22"/>
        </a:solidFill>
        <a:effectLst/>
      </p:bgPr>
    </p:bg>
    <p:spTree>
      <p:nvGrpSpPr>
        <p:cNvPr id="1" name=""/>
        <p:cNvGrpSpPr/>
        <p:nvPr/>
      </p:nvGrpSpPr>
      <p:grpSpPr>
        <a:xfrm>
          <a:off x="0" y="0"/>
          <a:ext cx="0" cy="0"/>
          <a:chOff x="0" y="0"/>
          <a:chExt cx="0" cy="0"/>
        </a:xfrm>
      </p:grpSpPr>
      <p:pic>
        <p:nvPicPr>
          <p:cNvPr id="14" name="Picture 13"/>
          <p:cNvPicPr>
            <a:picLocks noChangeAspect="1"/>
          </p:cNvPicPr>
          <p:nvPr/>
        </p:nvPicPr>
        <p:blipFill>
          <a:blip r:embed="rId3"/>
          <a:stretch/>
        </p:blipFill>
        <p:spPr>
          <a:xfrm>
            <a:off x="3239" y="0"/>
            <a:ext cx="12185522" cy="6858000"/>
          </a:xfrm>
          <a:prstGeom prst="rect">
            <a:avLst/>
          </a:prstGeom>
        </p:spPr>
      </p:pic>
      <p:pic>
        <p:nvPicPr>
          <p:cNvPr id="15" name="Picture 14"/>
          <p:cNvPicPr>
            <a:picLocks noChangeAspect="1"/>
          </p:cNvPicPr>
          <p:nvPr/>
        </p:nvPicPr>
        <p:blipFill>
          <a:blip r:embed="rId4"/>
          <a:stretch/>
        </p:blipFill>
        <p:spPr>
          <a:xfrm>
            <a:off x="4000561" y="1504950"/>
            <a:ext cx="8191379" cy="4610100"/>
          </a:xfrm>
          <a:prstGeom prst="rect">
            <a:avLst/>
          </a:prstGeom>
        </p:spPr>
      </p:pic>
      <p:sp>
        <p:nvSpPr>
          <p:cNvPr id="3" name="Rectangle 2">
            <a:extLst>
              <a:ext uri="{FF2B5EF4-FFF2-40B4-BE49-F238E27FC236}">
                <a16:creationId xmlns:a16="http://schemas.microsoft.com/office/drawing/2014/main" id="{3E57B2C4-940D-4923-9D8A-2205224F643F}"/>
              </a:ext>
            </a:extLst>
          </p:cNvPr>
          <p:cNvSpPr>
            <a:spLocks noGrp="1"/>
          </p:cNvSpPr>
          <p:nvPr/>
        </p:nvSpPr>
        <p:spPr>
          <a:xfrm>
            <a:off x="571500" y="400050"/>
            <a:ext cx="10953750" cy="762000"/>
          </a:xfrm>
          <a:prstGeom prst="rect">
            <a:avLst/>
          </a:prstGeom>
          <a:noFill/>
          <a:ln w="0">
            <a:noFill/>
          </a:ln>
        </p:spPr>
        <p:txBody>
          <a:bodyPr>
            <a:noAutofit/>
          </a:bodyPr>
          <a:lstStyle/>
          <a:p>
            <a:pPr>
              <a:defRPr sz="3150" b="1">
                <a:solidFill>
                  <a:srgbClr val="D5C2FF"/>
                </a:solidFill>
                <a:latin typeface="DejaVu Sans"/>
                <a:ea typeface="DejaVu Sans"/>
                <a:cs typeface="DejaVu Sans"/>
              </a:defRPr>
            </a:pPr>
            <a:r>
              <a:rPr sz="3150" b="1">
                <a:solidFill>
                  <a:srgbClr val="D5C2FF"/>
                </a:solidFill>
                <a:latin typeface="DejaVu Sans"/>
                <a:ea typeface="DejaVu Sans"/>
                <a:cs typeface="DejaVu Sans"/>
              </a:rPr>
              <a:t>Technology and execution requirements</a:t>
            </a:r>
          </a:p>
        </p:txBody>
      </p:sp>
      <p:pic>
        <p:nvPicPr>
          <p:cNvPr id="17" name="Picture 16"/>
          <p:cNvPicPr>
            <a:picLocks noChangeAspect="1"/>
          </p:cNvPicPr>
          <p:nvPr/>
        </p:nvPicPr>
        <p:blipFill>
          <a:blip r:embed="rId5"/>
          <a:stretch/>
        </p:blipFill>
        <p:spPr>
          <a:xfrm>
            <a:off x="10477500" y="6153873"/>
            <a:ext cx="1143000" cy="570053"/>
          </a:xfrm>
          <a:prstGeom prst="rect">
            <a:avLst/>
          </a:prstGeom>
        </p:spPr>
      </p:pic>
      <p:sp>
        <p:nvSpPr>
          <p:cNvPr id="5" name="Rectangle 4">
            <a:extLst>
              <a:ext uri="{FF2B5EF4-FFF2-40B4-BE49-F238E27FC236}">
                <a16:creationId xmlns:a16="http://schemas.microsoft.com/office/drawing/2014/main" id="{11FBB87E-50BD-481D-B6F2-B169BF4F720A}"/>
              </a:ext>
            </a:extLst>
          </p:cNvPr>
          <p:cNvSpPr>
            <a:spLocks noGrp="1"/>
          </p:cNvSpPr>
          <p:nvPr/>
        </p:nvSpPr>
        <p:spPr>
          <a:xfrm>
            <a:off x="571500" y="6162675"/>
            <a:ext cx="857250" cy="457200"/>
          </a:xfrm>
          <a:prstGeom prst="rect">
            <a:avLst/>
          </a:prstGeom>
          <a:noFill/>
          <a:ln w="0">
            <a:noFill/>
          </a:ln>
        </p:spPr>
        <p:txBody>
          <a:bodyPr>
            <a:noAutofit/>
          </a:bodyPr>
          <a:lstStyle/>
          <a:p>
            <a:pPr>
              <a:defRPr sz="2175" b="1">
                <a:solidFill>
                  <a:srgbClr val="D2F66C"/>
                </a:solidFill>
                <a:latin typeface="DejaVu Sans"/>
                <a:ea typeface="DejaVu Sans"/>
                <a:cs typeface="DejaVu Sans"/>
              </a:defRPr>
            </a:pPr>
            <a:r>
              <a:rPr sz="2175" b="1">
                <a:solidFill>
                  <a:srgbClr val="D2F66C"/>
                </a:solidFill>
                <a:latin typeface="DejaVu Sans"/>
                <a:ea typeface="DejaVu Sans"/>
                <a:cs typeface="DejaVu Sans"/>
              </a:rPr>
              <a:t>5</a:t>
            </a:r>
          </a:p>
        </p:txBody>
      </p:sp>
      <p:sp>
        <p:nvSpPr>
          <p:cNvPr id="6" name="Rectangle 5">
            <a:extLst>
              <a:ext uri="{FF2B5EF4-FFF2-40B4-BE49-F238E27FC236}">
                <a16:creationId xmlns:a16="http://schemas.microsoft.com/office/drawing/2014/main" id="{39C822D9-5EA4-458A-8EF1-76069AC0EEAB}"/>
              </a:ext>
            </a:extLst>
          </p:cNvPr>
          <p:cNvSpPr>
            <a:spLocks noGrp="1"/>
          </p:cNvSpPr>
          <p:nvPr/>
        </p:nvSpPr>
        <p:spPr>
          <a:xfrm>
            <a:off x="609600" y="1485900"/>
            <a:ext cx="7191375" cy="342900"/>
          </a:xfrm>
          <a:prstGeom prst="rect">
            <a:avLst/>
          </a:prstGeom>
          <a:noFill/>
          <a:ln w="0">
            <a:noFill/>
          </a:ln>
        </p:spPr>
        <p:txBody>
          <a:bodyPr>
            <a:noAutofit/>
          </a:bodyPr>
          <a:lstStyle/>
          <a:p>
            <a:pPr>
              <a:defRPr sz="1950" b="1">
                <a:solidFill>
                  <a:srgbClr val="D2F66C"/>
                </a:solidFill>
                <a:latin typeface="DejaVu Sans"/>
                <a:ea typeface="DejaVu Sans"/>
                <a:cs typeface="DejaVu Sans"/>
              </a:defRPr>
            </a:pPr>
            <a:r>
              <a:rPr sz="1950" b="1">
                <a:solidFill>
                  <a:srgbClr val="D2F66C"/>
                </a:solidFill>
                <a:latin typeface="DejaVu Sans"/>
                <a:ea typeface="DejaVu Sans"/>
                <a:cs typeface="DejaVu Sans"/>
              </a:rPr>
              <a:t>C++ and standard library</a:t>
            </a:r>
          </a:p>
        </p:txBody>
      </p:sp>
      <p:sp>
        <p:nvSpPr>
          <p:cNvPr id="7" name="Rectangle 6">
            <a:extLst>
              <a:ext uri="{FF2B5EF4-FFF2-40B4-BE49-F238E27FC236}">
                <a16:creationId xmlns:a16="http://schemas.microsoft.com/office/drawing/2014/main" id="{1AA813E5-32C0-449D-8EED-43362904A3A0}"/>
              </a:ext>
            </a:extLst>
          </p:cNvPr>
          <p:cNvSpPr>
            <a:spLocks noGrp="1"/>
          </p:cNvSpPr>
          <p:nvPr/>
        </p:nvSpPr>
        <p:spPr>
          <a:xfrm>
            <a:off x="609600" y="1866900"/>
            <a:ext cx="7191375" cy="762000"/>
          </a:xfrm>
          <a:prstGeom prst="rect">
            <a:avLst/>
          </a:prstGeom>
          <a:noFill/>
          <a:ln w="0">
            <a:noFill/>
          </a:ln>
        </p:spPr>
        <p:txBody>
          <a:bodyPr>
            <a:noAutofit/>
          </a:bodyPr>
          <a:lstStyle/>
          <a:p>
            <a:pPr>
              <a:defRPr sz="1725" b="0">
                <a:solidFill>
                  <a:srgbClr val="C8C3D8"/>
                </a:solidFill>
                <a:latin typeface="DejaVu Sans"/>
                <a:ea typeface="DejaVu Sans"/>
                <a:cs typeface="DejaVu Sans"/>
              </a:defRPr>
            </a:pPr>
            <a:r>
              <a:rPr sz="1725" b="0">
                <a:solidFill>
                  <a:srgbClr val="C8C3D8"/>
                </a:solidFill>
                <a:latin typeface="DejaVu Sans"/>
                <a:ea typeface="DejaVu Sans"/>
                <a:cs typeface="DejaVu Sans"/>
              </a:rPr>
              <a:t>iostream for input/output, fstream for files, cstring for comparisons, ctime for dates.</a:t>
            </a:r>
          </a:p>
        </p:txBody>
      </p:sp>
      <p:sp>
        <p:nvSpPr>
          <p:cNvPr id="8" name="Rectangle 7">
            <a:extLst>
              <a:ext uri="{FF2B5EF4-FFF2-40B4-BE49-F238E27FC236}">
                <a16:creationId xmlns:a16="http://schemas.microsoft.com/office/drawing/2014/main" id="{40B97873-9C4F-4168-B432-DD72AA1CB7A4}"/>
              </a:ext>
            </a:extLst>
          </p:cNvPr>
          <p:cNvSpPr>
            <a:spLocks noGrp="1"/>
          </p:cNvSpPr>
          <p:nvPr/>
        </p:nvSpPr>
        <p:spPr>
          <a:xfrm>
            <a:off x="609600" y="2609850"/>
            <a:ext cx="7191375" cy="342900"/>
          </a:xfrm>
          <a:prstGeom prst="rect">
            <a:avLst/>
          </a:prstGeom>
          <a:noFill/>
          <a:ln w="0">
            <a:noFill/>
          </a:ln>
        </p:spPr>
        <p:txBody>
          <a:bodyPr>
            <a:noAutofit/>
          </a:bodyPr>
          <a:lstStyle/>
          <a:p>
            <a:pPr>
              <a:defRPr sz="1950" b="1">
                <a:solidFill>
                  <a:srgbClr val="D2F66C"/>
                </a:solidFill>
                <a:latin typeface="DejaVu Sans"/>
                <a:ea typeface="DejaVu Sans"/>
                <a:cs typeface="DejaVu Sans"/>
              </a:defRPr>
            </a:pPr>
            <a:r>
              <a:rPr sz="1950" b="1">
                <a:solidFill>
                  <a:srgbClr val="D2F66C"/>
                </a:solidFill>
                <a:latin typeface="DejaVu Sans"/>
                <a:ea typeface="DejaVu Sans"/>
                <a:cs typeface="DejaVu Sans"/>
              </a:rPr>
              <a:t>Core language features</a:t>
            </a:r>
          </a:p>
        </p:txBody>
      </p:sp>
      <p:sp>
        <p:nvSpPr>
          <p:cNvPr id="9" name="Rectangle 8">
            <a:extLst>
              <a:ext uri="{FF2B5EF4-FFF2-40B4-BE49-F238E27FC236}">
                <a16:creationId xmlns:a16="http://schemas.microsoft.com/office/drawing/2014/main" id="{D2E8B143-151D-4C9E-86ED-911327FEE6D4}"/>
              </a:ext>
            </a:extLst>
          </p:cNvPr>
          <p:cNvSpPr>
            <a:spLocks noGrp="1"/>
          </p:cNvSpPr>
          <p:nvPr/>
        </p:nvSpPr>
        <p:spPr>
          <a:xfrm>
            <a:off x="609600" y="2990850"/>
            <a:ext cx="7191375" cy="762000"/>
          </a:xfrm>
          <a:prstGeom prst="rect">
            <a:avLst/>
          </a:prstGeom>
          <a:noFill/>
          <a:ln w="0">
            <a:noFill/>
          </a:ln>
        </p:spPr>
        <p:txBody>
          <a:bodyPr>
            <a:noAutofit/>
          </a:bodyPr>
          <a:lstStyle/>
          <a:p>
            <a:pPr>
              <a:defRPr sz="1725" b="0">
                <a:solidFill>
                  <a:srgbClr val="C8C3D8"/>
                </a:solidFill>
                <a:latin typeface="DejaVu Sans"/>
                <a:ea typeface="DejaVu Sans"/>
                <a:cs typeface="DejaVu Sans"/>
              </a:defRPr>
            </a:pPr>
            <a:r>
              <a:rPr sz="1725" b="0">
                <a:solidFill>
                  <a:srgbClr val="C8C3D8"/>
                </a:solidFill>
                <a:latin typeface="DejaVu Sans"/>
                <a:ea typeface="DejaVu Sans"/>
                <a:cs typeface="DejaVu Sans"/>
              </a:rPr>
              <a:t>Classes, nested classes, access control, static members and exception handling.</a:t>
            </a:r>
          </a:p>
        </p:txBody>
      </p:sp>
      <p:sp>
        <p:nvSpPr>
          <p:cNvPr id="10" name="Rectangle 9">
            <a:extLst>
              <a:ext uri="{FF2B5EF4-FFF2-40B4-BE49-F238E27FC236}">
                <a16:creationId xmlns:a16="http://schemas.microsoft.com/office/drawing/2014/main" id="{AE956A15-F697-4AF9-9152-851A9B6361B8}"/>
              </a:ext>
            </a:extLst>
          </p:cNvPr>
          <p:cNvSpPr>
            <a:spLocks noGrp="1"/>
          </p:cNvSpPr>
          <p:nvPr/>
        </p:nvSpPr>
        <p:spPr>
          <a:xfrm>
            <a:off x="609600" y="3733800"/>
            <a:ext cx="7191375" cy="342900"/>
          </a:xfrm>
          <a:prstGeom prst="rect">
            <a:avLst/>
          </a:prstGeom>
          <a:noFill/>
          <a:ln w="0">
            <a:noFill/>
          </a:ln>
        </p:spPr>
        <p:txBody>
          <a:bodyPr>
            <a:noAutofit/>
          </a:bodyPr>
          <a:lstStyle/>
          <a:p>
            <a:pPr>
              <a:defRPr sz="1950" b="1">
                <a:solidFill>
                  <a:srgbClr val="D2F66C"/>
                </a:solidFill>
                <a:latin typeface="DejaVu Sans"/>
                <a:ea typeface="DejaVu Sans"/>
                <a:cs typeface="DejaVu Sans"/>
              </a:defRPr>
            </a:pPr>
            <a:r>
              <a:rPr sz="1950" b="1">
                <a:solidFill>
                  <a:srgbClr val="D2F66C"/>
                </a:solidFill>
                <a:latin typeface="DejaVu Sans"/>
                <a:ea typeface="DejaVu Sans"/>
                <a:cs typeface="DejaVu Sans"/>
              </a:rPr>
              <a:t>Local setup</a:t>
            </a:r>
          </a:p>
        </p:txBody>
      </p:sp>
      <p:sp>
        <p:nvSpPr>
          <p:cNvPr id="11" name="Rectangle 10">
            <a:extLst>
              <a:ext uri="{FF2B5EF4-FFF2-40B4-BE49-F238E27FC236}">
                <a16:creationId xmlns:a16="http://schemas.microsoft.com/office/drawing/2014/main" id="{F447DCAA-D6CD-44E1-A45D-017A2EDABCC9}"/>
              </a:ext>
            </a:extLst>
          </p:cNvPr>
          <p:cNvSpPr>
            <a:spLocks noGrp="1"/>
          </p:cNvSpPr>
          <p:nvPr/>
        </p:nvSpPr>
        <p:spPr>
          <a:xfrm>
            <a:off x="609600" y="4114800"/>
            <a:ext cx="7191375" cy="762000"/>
          </a:xfrm>
          <a:prstGeom prst="rect">
            <a:avLst/>
          </a:prstGeom>
          <a:noFill/>
          <a:ln w="0">
            <a:noFill/>
          </a:ln>
        </p:spPr>
        <p:txBody>
          <a:bodyPr>
            <a:noAutofit/>
          </a:bodyPr>
          <a:lstStyle/>
          <a:p>
            <a:pPr>
              <a:defRPr sz="1725" b="0">
                <a:solidFill>
                  <a:srgbClr val="C8C3D8"/>
                </a:solidFill>
                <a:latin typeface="DejaVu Sans"/>
                <a:ea typeface="DejaVu Sans"/>
                <a:cs typeface="DejaVu Sans"/>
              </a:defRPr>
            </a:pPr>
            <a:r>
              <a:rPr sz="1725" b="0">
                <a:solidFill>
                  <a:srgbClr val="C8C3D8"/>
                </a:solidFill>
                <a:latin typeface="DejaVu Sans"/>
                <a:ea typeface="DejaVu Sans"/>
                <a:cs typeface="DejaVu Sans"/>
              </a:rPr>
              <a:t>A C++11 or newer compiler, a terminal and write access to the working directory.</a:t>
            </a:r>
          </a:p>
        </p:txBody>
      </p:sp>
      <p:sp>
        <p:nvSpPr>
          <p:cNvPr id="12" name="Rectangle 11">
            <a:extLst>
              <a:ext uri="{FF2B5EF4-FFF2-40B4-BE49-F238E27FC236}">
                <a16:creationId xmlns:a16="http://schemas.microsoft.com/office/drawing/2014/main" id="{90817EB5-167D-4481-AD10-D3C5799E57B5}"/>
              </a:ext>
            </a:extLst>
          </p:cNvPr>
          <p:cNvSpPr>
            <a:spLocks noGrp="1"/>
          </p:cNvSpPr>
          <p:nvPr/>
        </p:nvSpPr>
        <p:spPr>
          <a:xfrm>
            <a:off x="609600" y="4857750"/>
            <a:ext cx="7191375" cy="342900"/>
          </a:xfrm>
          <a:prstGeom prst="rect">
            <a:avLst/>
          </a:prstGeom>
          <a:noFill/>
          <a:ln w="0">
            <a:noFill/>
          </a:ln>
        </p:spPr>
        <p:txBody>
          <a:bodyPr>
            <a:noAutofit/>
          </a:bodyPr>
          <a:lstStyle/>
          <a:p>
            <a:pPr>
              <a:defRPr sz="1950" b="1">
                <a:solidFill>
                  <a:srgbClr val="D2F66C"/>
                </a:solidFill>
                <a:latin typeface="DejaVu Sans"/>
                <a:ea typeface="DejaVu Sans"/>
                <a:cs typeface="DejaVu Sans"/>
              </a:defRPr>
            </a:pPr>
            <a:r>
              <a:rPr sz="1950" b="1">
                <a:solidFill>
                  <a:srgbClr val="D2F66C"/>
                </a:solidFill>
                <a:latin typeface="DejaVu Sans"/>
                <a:ea typeface="DejaVu Sans"/>
                <a:cs typeface="DejaVu Sans"/>
              </a:rPr>
              <a:t>Administrator prerequisite</a:t>
            </a:r>
          </a:p>
        </p:txBody>
      </p:sp>
      <p:sp>
        <p:nvSpPr>
          <p:cNvPr id="13" name="Rectangle 12">
            <a:extLst>
              <a:ext uri="{FF2B5EF4-FFF2-40B4-BE49-F238E27FC236}">
                <a16:creationId xmlns:a16="http://schemas.microsoft.com/office/drawing/2014/main" id="{C9FC43A0-45F1-4B0A-9917-1CF2507266E5}"/>
              </a:ext>
            </a:extLst>
          </p:cNvPr>
          <p:cNvSpPr>
            <a:spLocks noGrp="1"/>
          </p:cNvSpPr>
          <p:nvPr/>
        </p:nvSpPr>
        <p:spPr>
          <a:xfrm>
            <a:off x="609600" y="5238750"/>
            <a:ext cx="7191375" cy="762000"/>
          </a:xfrm>
          <a:prstGeom prst="rect">
            <a:avLst/>
          </a:prstGeom>
          <a:noFill/>
          <a:ln w="0">
            <a:noFill/>
          </a:ln>
        </p:spPr>
        <p:txBody>
          <a:bodyPr>
            <a:noAutofit/>
          </a:bodyPr>
          <a:lstStyle/>
          <a:p>
            <a:pPr>
              <a:defRPr sz="1725" b="0">
                <a:solidFill>
                  <a:srgbClr val="C8C3D8"/>
                </a:solidFill>
                <a:latin typeface="DejaVu Sans"/>
                <a:ea typeface="DejaVu Sans"/>
                <a:cs typeface="DejaVu Sans"/>
              </a:defRPr>
            </a:pPr>
            <a:r>
              <a:rPr sz="1725" b="0">
                <a:solidFill>
                  <a:srgbClr val="C8C3D8"/>
                </a:solidFill>
                <a:latin typeface="DejaVu Sans"/>
                <a:ea typeface="DejaVu Sans"/>
                <a:cs typeface="DejaVu Sans"/>
              </a:rPr>
              <a:t>Create a valid admin.bin first. Its setup code is currently commented out.</a:t>
            </a:r>
          </a:p>
        </p:txBody>
      </p:sp>
    </p:spTree>
    <p:extLst>
      <p:ext uri="{BB962C8B-B14F-4D97-AF65-F5344CB8AC3E}">
        <p14:creationId xmlns:p14="http://schemas.microsoft.com/office/powerpoint/2010/main" val="13597813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00F22"/>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tretch/>
        </p:blipFill>
        <p:spPr>
          <a:xfrm>
            <a:off x="3239" y="0"/>
            <a:ext cx="12185522" cy="6858000"/>
          </a:xfrm>
          <a:prstGeom prst="rect">
            <a:avLst/>
          </a:prstGeom>
        </p:spPr>
      </p:pic>
      <p:sp>
        <p:nvSpPr>
          <p:cNvPr id="2" name="Rectangle 1">
            <a:extLst>
              <a:ext uri="{FF2B5EF4-FFF2-40B4-BE49-F238E27FC236}">
                <a16:creationId xmlns:a16="http://schemas.microsoft.com/office/drawing/2014/main" id="{0FE5C066-5EB9-4043-A61A-F0AD7D1ADBF1}"/>
              </a:ext>
            </a:extLst>
          </p:cNvPr>
          <p:cNvSpPr>
            <a:spLocks noGrp="1"/>
          </p:cNvSpPr>
          <p:nvPr/>
        </p:nvSpPr>
        <p:spPr>
          <a:xfrm>
            <a:off x="571500" y="400050"/>
            <a:ext cx="10953750" cy="762000"/>
          </a:xfrm>
          <a:prstGeom prst="rect">
            <a:avLst/>
          </a:prstGeom>
          <a:noFill/>
          <a:ln w="0">
            <a:noFill/>
          </a:ln>
        </p:spPr>
        <p:txBody>
          <a:bodyPr>
            <a:noAutofit/>
          </a:bodyPr>
          <a:lstStyle/>
          <a:p>
            <a:pPr>
              <a:defRPr sz="3150" b="1">
                <a:solidFill>
                  <a:srgbClr val="D5C2FF"/>
                </a:solidFill>
                <a:latin typeface="DejaVu Sans"/>
                <a:ea typeface="DejaVu Sans"/>
                <a:cs typeface="DejaVu Sans"/>
              </a:defRPr>
            </a:pPr>
            <a:r>
              <a:rPr sz="3150" b="1">
                <a:solidFill>
                  <a:srgbClr val="D5C2FF"/>
                </a:solidFill>
                <a:latin typeface="DejaVu Sans"/>
                <a:ea typeface="DejaVu Sans"/>
                <a:cs typeface="DejaVu Sans"/>
              </a:rPr>
              <a:t>Program structure</a:t>
            </a:r>
          </a:p>
        </p:txBody>
      </p:sp>
      <p:pic>
        <p:nvPicPr>
          <p:cNvPr id="9" name="Picture 8"/>
          <p:cNvPicPr>
            <a:picLocks noChangeAspect="1"/>
          </p:cNvPicPr>
          <p:nvPr/>
        </p:nvPicPr>
        <p:blipFill>
          <a:blip r:embed="rId4"/>
          <a:stretch/>
        </p:blipFill>
        <p:spPr>
          <a:xfrm>
            <a:off x="10477500" y="6153873"/>
            <a:ext cx="1143000" cy="570053"/>
          </a:xfrm>
          <a:prstGeom prst="rect">
            <a:avLst/>
          </a:prstGeom>
        </p:spPr>
      </p:pic>
      <p:sp>
        <p:nvSpPr>
          <p:cNvPr id="4" name="Rectangle 3">
            <a:extLst>
              <a:ext uri="{FF2B5EF4-FFF2-40B4-BE49-F238E27FC236}">
                <a16:creationId xmlns:a16="http://schemas.microsoft.com/office/drawing/2014/main" id="{A32F3673-6B30-4C1D-B2F4-F9088F1FD652}"/>
              </a:ext>
            </a:extLst>
          </p:cNvPr>
          <p:cNvSpPr>
            <a:spLocks noGrp="1"/>
          </p:cNvSpPr>
          <p:nvPr/>
        </p:nvSpPr>
        <p:spPr>
          <a:xfrm>
            <a:off x="571500" y="6162675"/>
            <a:ext cx="857250" cy="457200"/>
          </a:xfrm>
          <a:prstGeom prst="rect">
            <a:avLst/>
          </a:prstGeom>
          <a:noFill/>
          <a:ln w="0">
            <a:noFill/>
          </a:ln>
        </p:spPr>
        <p:txBody>
          <a:bodyPr>
            <a:noAutofit/>
          </a:bodyPr>
          <a:lstStyle/>
          <a:p>
            <a:pPr>
              <a:defRPr sz="2175" b="1">
                <a:solidFill>
                  <a:srgbClr val="D2F66C"/>
                </a:solidFill>
                <a:latin typeface="DejaVu Sans"/>
                <a:ea typeface="DejaVu Sans"/>
                <a:cs typeface="DejaVu Sans"/>
              </a:defRPr>
            </a:pPr>
            <a:r>
              <a:rPr sz="2175" b="1">
                <a:solidFill>
                  <a:srgbClr val="D2F66C"/>
                </a:solidFill>
                <a:latin typeface="DejaVu Sans"/>
                <a:ea typeface="DejaVu Sans"/>
                <a:cs typeface="DejaVu Sans"/>
              </a:rPr>
              <a:t>6</a:t>
            </a:r>
          </a:p>
        </p:txBody>
      </p:sp>
      <p:graphicFrame>
        <p:nvGraphicFramePr>
          <p:cNvPr id="11" name="Table 10"/>
          <p:cNvGraphicFramePr/>
          <p:nvPr/>
        </p:nvGraphicFramePr>
        <p:xfrm>
          <a:off x="571500" y="1543050"/>
          <a:ext cx="11049000" cy="3952878"/>
        </p:xfrm>
        <a:graphic>
          <a:graphicData uri="http://schemas.openxmlformats.org/drawingml/2006/table">
            <a:tbl>
              <a:tblPr/>
              <a:tblGrid>
                <a:gridCol w="3476625">
                  <a:extLst>
                    <a:ext uri="{9D8B030D-6E8A-4147-A177-3AD203B41FA5}">
                      <a16:colId xmlns:a16="http://schemas.microsoft.com/office/drawing/2014/main" val="20000"/>
                    </a:ext>
                  </a:extLst>
                </a:gridCol>
                <a:gridCol w="7572375">
                  <a:extLst>
                    <a:ext uri="{9D8B030D-6E8A-4147-A177-3AD203B41FA5}">
                      <a16:colId xmlns:a16="http://schemas.microsoft.com/office/drawing/2014/main" val="20001"/>
                    </a:ext>
                  </a:extLst>
                </a:gridCol>
              </a:tblGrid>
              <a:tr h="658813">
                <a:tc>
                  <a:txBody>
                    <a:bodyPr/>
                    <a:lstStyle/>
                    <a:p>
                      <a:r>
                        <a:rPr sz="1650" b="1">
                          <a:solidFill>
                            <a:srgbClr val="1D1630"/>
                          </a:solidFill>
                          <a:latin typeface="DejaVu Sans"/>
                          <a:ea typeface="DejaVu Sans"/>
                          <a:cs typeface="DejaVu Sans"/>
                        </a:rPr>
                        <a:t>Component</a:t>
                      </a:r>
                    </a:p>
                  </a:txBody>
                  <a:tcPr>
                    <a:solidFill>
                      <a:srgbClr val="BFA2F2"/>
                    </a:solidFill>
                  </a:tcPr>
                </a:tc>
                <a:tc>
                  <a:txBody>
                    <a:bodyPr/>
                    <a:lstStyle/>
                    <a:p>
                      <a:r>
                        <a:rPr sz="1650" b="1">
                          <a:solidFill>
                            <a:srgbClr val="1D1630"/>
                          </a:solidFill>
                          <a:latin typeface="DejaVu Sans"/>
                          <a:ea typeface="DejaVu Sans"/>
                          <a:cs typeface="DejaVu Sans"/>
                        </a:rPr>
                        <a:t>Responsibility</a:t>
                      </a:r>
                    </a:p>
                  </a:txBody>
                  <a:tcPr>
                    <a:solidFill>
                      <a:srgbClr val="BFA2F2"/>
                    </a:solidFill>
                  </a:tcPr>
                </a:tc>
                <a:extLst>
                  <a:ext uri="{0D108BD9-81ED-4DB2-BD59-A6C34878D82A}">
                    <a16:rowId xmlns:a16="http://schemas.microsoft.com/office/drawing/2014/main" val="10000"/>
                  </a:ext>
                </a:extLst>
              </a:tr>
              <a:tr h="658813">
                <a:tc>
                  <a:txBody>
                    <a:bodyPr/>
                    <a:lstStyle/>
                    <a:p>
                      <a:r>
                        <a:rPr sz="1650" b="0">
                          <a:solidFill>
                            <a:srgbClr val="F2EEFA"/>
                          </a:solidFill>
                          <a:latin typeface="DejaVu Sans"/>
                          <a:ea typeface="DejaVu Sans"/>
                          <a:cs typeface="DejaVu Sans"/>
                        </a:rPr>
                        <a:t>main()</a:t>
                      </a:r>
                    </a:p>
                  </a:txBody>
                  <a:tcPr>
                    <a:solidFill>
                      <a:srgbClr val="29213D"/>
                    </a:solidFill>
                  </a:tcPr>
                </a:tc>
                <a:tc>
                  <a:txBody>
                    <a:bodyPr/>
                    <a:lstStyle/>
                    <a:p>
                      <a:r>
                        <a:rPr sz="1650" b="0">
                          <a:solidFill>
                            <a:srgbClr val="F2EEFA"/>
                          </a:solidFill>
                          <a:latin typeface="DejaVu Sans"/>
                          <a:ea typeface="DejaVu Sans"/>
                          <a:cs typeface="DejaVu Sans"/>
                        </a:rPr>
                        <a:t>Repeats User, Admin Login and Exit options</a:t>
                      </a:r>
                    </a:p>
                  </a:txBody>
                  <a:tcPr>
                    <a:solidFill>
                      <a:srgbClr val="29213D"/>
                    </a:solidFill>
                  </a:tcPr>
                </a:tc>
                <a:extLst>
                  <a:ext uri="{0D108BD9-81ED-4DB2-BD59-A6C34878D82A}">
                    <a16:rowId xmlns:a16="http://schemas.microsoft.com/office/drawing/2014/main" val="10001"/>
                  </a:ext>
                </a:extLst>
              </a:tr>
              <a:tr h="658813">
                <a:tc>
                  <a:txBody>
                    <a:bodyPr/>
                    <a:lstStyle/>
                    <a:p>
                      <a:r>
                        <a:rPr sz="1650" b="0">
                          <a:solidFill>
                            <a:srgbClr val="F2EEFA"/>
                          </a:solidFill>
                          <a:latin typeface="DejaVu Sans"/>
                          <a:ea typeface="DejaVu Sans"/>
                          <a:cs typeface="DejaVu Sans"/>
                        </a:rPr>
                        <a:t>Details</a:t>
                      </a:r>
                    </a:p>
                  </a:txBody>
                  <a:tcPr>
                    <a:solidFill>
                      <a:srgbClr val="171328"/>
                    </a:solidFill>
                  </a:tcPr>
                </a:tc>
                <a:tc>
                  <a:txBody>
                    <a:bodyPr/>
                    <a:lstStyle/>
                    <a:p>
                      <a:r>
                        <a:rPr sz="1650" b="0">
                          <a:solidFill>
                            <a:srgbClr val="F2EEFA"/>
                          </a:solidFill>
                          <a:latin typeface="DejaVu Sans"/>
                          <a:ea typeface="DejaVu Sans"/>
                          <a:cs typeface="DejaVu Sans"/>
                        </a:rPr>
                        <a:t>Holds user, book and availability fields</a:t>
                      </a:r>
                    </a:p>
                  </a:txBody>
                  <a:tcPr>
                    <a:solidFill>
                      <a:srgbClr val="171328"/>
                    </a:solidFill>
                  </a:tcPr>
                </a:tc>
                <a:extLst>
                  <a:ext uri="{0D108BD9-81ED-4DB2-BD59-A6C34878D82A}">
                    <a16:rowId xmlns:a16="http://schemas.microsoft.com/office/drawing/2014/main" val="10002"/>
                  </a:ext>
                </a:extLst>
              </a:tr>
              <a:tr h="658813">
                <a:tc>
                  <a:txBody>
                    <a:bodyPr/>
                    <a:lstStyle/>
                    <a:p>
                      <a:r>
                        <a:rPr sz="1650" b="0">
                          <a:solidFill>
                            <a:srgbClr val="F2EEFA"/>
                          </a:solidFill>
                          <a:latin typeface="DejaVu Sans"/>
                          <a:ea typeface="DejaVu Sans"/>
                          <a:cs typeface="DejaVu Sans"/>
                        </a:rPr>
                        <a:t>User::UserRegister</a:t>
                      </a:r>
                    </a:p>
                  </a:txBody>
                  <a:tcPr>
                    <a:solidFill>
                      <a:srgbClr val="29213D"/>
                    </a:solidFill>
                  </a:tcPr>
                </a:tc>
                <a:tc>
                  <a:txBody>
                    <a:bodyPr/>
                    <a:lstStyle/>
                    <a:p>
                      <a:r>
                        <a:rPr sz="1650" b="0">
                          <a:solidFill>
                            <a:srgbClr val="F2EEFA"/>
                          </a:solidFill>
                          <a:latin typeface="DejaVu Sans"/>
                          <a:ea typeface="DejaVu Sans"/>
                          <a:cs typeface="DejaVu Sans"/>
                        </a:rPr>
                        <a:t>Collects credentials, saves and lists user details</a:t>
                      </a:r>
                    </a:p>
                  </a:txBody>
                  <a:tcPr>
                    <a:solidFill>
                      <a:srgbClr val="29213D"/>
                    </a:solidFill>
                  </a:tcPr>
                </a:tc>
                <a:extLst>
                  <a:ext uri="{0D108BD9-81ED-4DB2-BD59-A6C34878D82A}">
                    <a16:rowId xmlns:a16="http://schemas.microsoft.com/office/drawing/2014/main" val="10003"/>
                  </a:ext>
                </a:extLst>
              </a:tr>
              <a:tr h="658813">
                <a:tc>
                  <a:txBody>
                    <a:bodyPr/>
                    <a:lstStyle/>
                    <a:p>
                      <a:r>
                        <a:rPr sz="1650" b="0">
                          <a:solidFill>
                            <a:srgbClr val="F2EEFA"/>
                          </a:solidFill>
                          <a:latin typeface="DejaVu Sans"/>
                          <a:ea typeface="DejaVu Sans"/>
                          <a:cs typeface="DejaVu Sans"/>
                        </a:rPr>
                        <a:t>User::UserLogin</a:t>
                      </a:r>
                    </a:p>
                  </a:txBody>
                  <a:tcPr>
                    <a:solidFill>
                      <a:srgbClr val="171328"/>
                    </a:solidFill>
                  </a:tcPr>
                </a:tc>
                <a:tc>
                  <a:txBody>
                    <a:bodyPr/>
                    <a:lstStyle/>
                    <a:p>
                      <a:r>
                        <a:rPr sz="1650" b="0">
                          <a:solidFill>
                            <a:srgbClr val="F2EEFA"/>
                          </a:solidFill>
                          <a:latin typeface="DejaVu Sans"/>
                          <a:ea typeface="DejaVu Sans"/>
                          <a:cs typeface="DejaVu Sans"/>
                        </a:rPr>
                        <a:t>Authenticates, lists books, issues books, deletes details</a:t>
                      </a:r>
                    </a:p>
                  </a:txBody>
                  <a:tcPr>
                    <a:solidFill>
                      <a:srgbClr val="171328"/>
                    </a:solidFill>
                  </a:tcPr>
                </a:tc>
                <a:extLst>
                  <a:ext uri="{0D108BD9-81ED-4DB2-BD59-A6C34878D82A}">
                    <a16:rowId xmlns:a16="http://schemas.microsoft.com/office/drawing/2014/main" val="10004"/>
                  </a:ext>
                </a:extLst>
              </a:tr>
              <a:tr h="658813">
                <a:tc>
                  <a:txBody>
                    <a:bodyPr/>
                    <a:lstStyle/>
                    <a:p>
                      <a:r>
                        <a:rPr sz="1650" b="0">
                          <a:solidFill>
                            <a:srgbClr val="F2EEFA"/>
                          </a:solidFill>
                          <a:latin typeface="DejaVu Sans"/>
                          <a:ea typeface="DejaVu Sans"/>
                          <a:cs typeface="DejaVu Sans"/>
                        </a:rPr>
                        <a:t>Admin::AdminLogin</a:t>
                      </a:r>
                    </a:p>
                  </a:txBody>
                  <a:tcPr>
                    <a:solidFill>
                      <a:srgbClr val="29213D"/>
                    </a:solidFill>
                  </a:tcPr>
                </a:tc>
                <a:tc>
                  <a:txBody>
                    <a:bodyPr/>
                    <a:lstStyle/>
                    <a:p>
                      <a:r>
                        <a:rPr sz="1650" b="0">
                          <a:solidFill>
                            <a:srgbClr val="F2EEFA"/>
                          </a:solidFill>
                          <a:latin typeface="DejaVu Sans"/>
                          <a:ea typeface="DejaVu Sans"/>
                          <a:cs typeface="DejaVu Sans"/>
                        </a:rPr>
                        <a:t>Authenticates admins and routes admin operations</a:t>
                      </a:r>
                    </a:p>
                  </a:txBody>
                  <a:tcPr>
                    <a:solidFill>
                      <a:srgbClr val="29213D"/>
                    </a:solidFill>
                  </a:tcPr>
                </a:tc>
                <a:extLst>
                  <a:ext uri="{0D108BD9-81ED-4DB2-BD59-A6C34878D82A}">
                    <a16:rowId xmlns:a16="http://schemas.microsoft.com/office/drawing/2014/main" val="10005"/>
                  </a:ext>
                </a:extLst>
              </a:tr>
            </a:tbl>
          </a:graphicData>
        </a:graphic>
      </p:graphicFrame>
      <p:sp>
        <p:nvSpPr>
          <p:cNvPr id="6" name="Rectangle 5">
            <a:extLst>
              <a:ext uri="{FF2B5EF4-FFF2-40B4-BE49-F238E27FC236}">
                <a16:creationId xmlns:a16="http://schemas.microsoft.com/office/drawing/2014/main" id="{BFE222C0-2E22-4AE4-9A1B-7EE36C3839A5}"/>
              </a:ext>
            </a:extLst>
          </p:cNvPr>
          <p:cNvSpPr>
            <a:spLocks noGrp="1"/>
          </p:cNvSpPr>
          <p:nvPr/>
        </p:nvSpPr>
        <p:spPr>
          <a:xfrm>
            <a:off x="590550" y="5667375"/>
            <a:ext cx="10668000" cy="361950"/>
          </a:xfrm>
          <a:prstGeom prst="rect">
            <a:avLst/>
          </a:prstGeom>
          <a:noFill/>
          <a:ln w="0">
            <a:noFill/>
          </a:ln>
        </p:spPr>
        <p:txBody>
          <a:bodyPr>
            <a:noAutofit/>
          </a:bodyPr>
          <a:lstStyle/>
          <a:p>
            <a:pPr>
              <a:defRPr sz="1725" b="0">
                <a:solidFill>
                  <a:srgbClr val="C8C3D8"/>
                </a:solidFill>
                <a:latin typeface="DejaVu Sans"/>
                <a:ea typeface="DejaVu Sans"/>
                <a:cs typeface="DejaVu Sans"/>
              </a:defRPr>
            </a:pPr>
            <a:r>
              <a:rPr sz="1725" b="0">
                <a:solidFill>
                  <a:srgbClr val="C8C3D8"/>
                </a:solidFill>
                <a:latin typeface="DejaVu Sans"/>
                <a:ea typeface="DejaVu Sans"/>
                <a:cs typeface="DejaVu Sans"/>
              </a:rPr>
              <a:t>deleteUser() belongs to UserLogin, but the admin menu calls it.</a:t>
            </a:r>
          </a:p>
        </p:txBody>
      </p:sp>
    </p:spTree>
    <p:extLst>
      <p:ext uri="{BB962C8B-B14F-4D97-AF65-F5344CB8AC3E}">
        <p14:creationId xmlns:p14="http://schemas.microsoft.com/office/powerpoint/2010/main" val="19208265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00F22"/>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tretch/>
        </p:blipFill>
        <p:spPr>
          <a:xfrm>
            <a:off x="3239" y="0"/>
            <a:ext cx="12185522" cy="6858000"/>
          </a:xfrm>
          <a:prstGeom prst="rect">
            <a:avLst/>
          </a:prstGeom>
        </p:spPr>
      </p:pic>
      <p:sp>
        <p:nvSpPr>
          <p:cNvPr id="2" name="Rectangle 1">
            <a:extLst>
              <a:ext uri="{FF2B5EF4-FFF2-40B4-BE49-F238E27FC236}">
                <a16:creationId xmlns:a16="http://schemas.microsoft.com/office/drawing/2014/main" id="{B5F99EE8-6DF5-4BC5-AE70-A0951F86F3D4}"/>
              </a:ext>
            </a:extLst>
          </p:cNvPr>
          <p:cNvSpPr>
            <a:spLocks noGrp="1"/>
          </p:cNvSpPr>
          <p:nvPr/>
        </p:nvSpPr>
        <p:spPr>
          <a:xfrm>
            <a:off x="571500" y="400050"/>
            <a:ext cx="10953750" cy="762000"/>
          </a:xfrm>
          <a:prstGeom prst="rect">
            <a:avLst/>
          </a:prstGeom>
          <a:noFill/>
          <a:ln w="0">
            <a:noFill/>
          </a:ln>
        </p:spPr>
        <p:txBody>
          <a:bodyPr>
            <a:noAutofit/>
          </a:bodyPr>
          <a:lstStyle/>
          <a:p>
            <a:pPr>
              <a:defRPr sz="3150" b="1">
                <a:solidFill>
                  <a:srgbClr val="D5C2FF"/>
                </a:solidFill>
                <a:latin typeface="DejaVu Sans"/>
                <a:ea typeface="DejaVu Sans"/>
                <a:cs typeface="DejaVu Sans"/>
              </a:defRPr>
            </a:pPr>
            <a:r>
              <a:rPr sz="3150" b="1">
                <a:solidFill>
                  <a:srgbClr val="D5C2FF"/>
                </a:solidFill>
                <a:latin typeface="DejaVu Sans"/>
                <a:ea typeface="DejaVu Sans"/>
                <a:cs typeface="DejaVu Sans"/>
              </a:rPr>
              <a:t>File storage design</a:t>
            </a:r>
          </a:p>
        </p:txBody>
      </p:sp>
      <p:pic>
        <p:nvPicPr>
          <p:cNvPr id="9" name="Picture 8"/>
          <p:cNvPicPr>
            <a:picLocks noChangeAspect="1"/>
          </p:cNvPicPr>
          <p:nvPr/>
        </p:nvPicPr>
        <p:blipFill>
          <a:blip r:embed="rId4"/>
          <a:stretch/>
        </p:blipFill>
        <p:spPr>
          <a:xfrm>
            <a:off x="10477500" y="6153873"/>
            <a:ext cx="1143000" cy="570053"/>
          </a:xfrm>
          <a:prstGeom prst="rect">
            <a:avLst/>
          </a:prstGeom>
        </p:spPr>
      </p:pic>
      <p:sp>
        <p:nvSpPr>
          <p:cNvPr id="4" name="Rectangle 3">
            <a:extLst>
              <a:ext uri="{FF2B5EF4-FFF2-40B4-BE49-F238E27FC236}">
                <a16:creationId xmlns:a16="http://schemas.microsoft.com/office/drawing/2014/main" id="{4D10AA84-916E-43F3-A9AA-41563B66ED83}"/>
              </a:ext>
            </a:extLst>
          </p:cNvPr>
          <p:cNvSpPr>
            <a:spLocks noGrp="1"/>
          </p:cNvSpPr>
          <p:nvPr/>
        </p:nvSpPr>
        <p:spPr>
          <a:xfrm>
            <a:off x="571500" y="6162675"/>
            <a:ext cx="857250" cy="457200"/>
          </a:xfrm>
          <a:prstGeom prst="rect">
            <a:avLst/>
          </a:prstGeom>
          <a:noFill/>
          <a:ln w="0">
            <a:noFill/>
          </a:ln>
        </p:spPr>
        <p:txBody>
          <a:bodyPr>
            <a:noAutofit/>
          </a:bodyPr>
          <a:lstStyle/>
          <a:p>
            <a:pPr>
              <a:defRPr sz="2175" b="1">
                <a:solidFill>
                  <a:srgbClr val="D2F66C"/>
                </a:solidFill>
                <a:latin typeface="DejaVu Sans"/>
                <a:ea typeface="DejaVu Sans"/>
                <a:cs typeface="DejaVu Sans"/>
              </a:defRPr>
            </a:pPr>
            <a:r>
              <a:rPr sz="2175" b="1">
                <a:solidFill>
                  <a:srgbClr val="D2F66C"/>
                </a:solidFill>
                <a:latin typeface="DejaVu Sans"/>
                <a:ea typeface="DejaVu Sans"/>
                <a:cs typeface="DejaVu Sans"/>
              </a:rPr>
              <a:t>7</a:t>
            </a:r>
          </a:p>
        </p:txBody>
      </p:sp>
      <p:graphicFrame>
        <p:nvGraphicFramePr>
          <p:cNvPr id="11" name="Table 10"/>
          <p:cNvGraphicFramePr/>
          <p:nvPr/>
        </p:nvGraphicFramePr>
        <p:xfrm>
          <a:off x="571500" y="1447800"/>
          <a:ext cx="11049000" cy="4143377"/>
        </p:xfrm>
        <a:graphic>
          <a:graphicData uri="http://schemas.openxmlformats.org/drawingml/2006/table">
            <a:tbl>
              <a:tblPr/>
              <a:tblGrid>
                <a:gridCol w="2905125">
                  <a:extLst>
                    <a:ext uri="{9D8B030D-6E8A-4147-A177-3AD203B41FA5}">
                      <a16:colId xmlns:a16="http://schemas.microsoft.com/office/drawing/2014/main" val="20000"/>
                    </a:ext>
                  </a:extLst>
                </a:gridCol>
                <a:gridCol w="1428750">
                  <a:extLst>
                    <a:ext uri="{9D8B030D-6E8A-4147-A177-3AD203B41FA5}">
                      <a16:colId xmlns:a16="http://schemas.microsoft.com/office/drawing/2014/main" val="20001"/>
                    </a:ext>
                  </a:extLst>
                </a:gridCol>
                <a:gridCol w="6715125">
                  <a:extLst>
                    <a:ext uri="{9D8B030D-6E8A-4147-A177-3AD203B41FA5}">
                      <a16:colId xmlns:a16="http://schemas.microsoft.com/office/drawing/2014/main" val="20002"/>
                    </a:ext>
                  </a:extLst>
                </a:gridCol>
              </a:tblGrid>
              <a:tr h="591911">
                <a:tc>
                  <a:txBody>
                    <a:bodyPr/>
                    <a:lstStyle/>
                    <a:p>
                      <a:r>
                        <a:rPr sz="1650" b="1">
                          <a:solidFill>
                            <a:srgbClr val="1D1630"/>
                          </a:solidFill>
                          <a:latin typeface="DejaVu Sans"/>
                          <a:ea typeface="DejaVu Sans"/>
                          <a:cs typeface="DejaVu Sans"/>
                        </a:rPr>
                        <a:t>File</a:t>
                      </a:r>
                    </a:p>
                  </a:txBody>
                  <a:tcPr>
                    <a:solidFill>
                      <a:srgbClr val="BFA2F2"/>
                    </a:solidFill>
                  </a:tcPr>
                </a:tc>
                <a:tc>
                  <a:txBody>
                    <a:bodyPr/>
                    <a:lstStyle/>
                    <a:p>
                      <a:r>
                        <a:rPr sz="1650" b="1">
                          <a:solidFill>
                            <a:srgbClr val="1D1630"/>
                          </a:solidFill>
                          <a:latin typeface="DejaVu Sans"/>
                          <a:ea typeface="DejaVu Sans"/>
                          <a:cs typeface="DejaVu Sans"/>
                        </a:rPr>
                        <a:t>Format</a:t>
                      </a:r>
                    </a:p>
                  </a:txBody>
                  <a:tcPr>
                    <a:solidFill>
                      <a:srgbClr val="BFA2F2"/>
                    </a:solidFill>
                  </a:tcPr>
                </a:tc>
                <a:tc>
                  <a:txBody>
                    <a:bodyPr/>
                    <a:lstStyle/>
                    <a:p>
                      <a:r>
                        <a:rPr sz="1650" b="1">
                          <a:solidFill>
                            <a:srgbClr val="1D1630"/>
                          </a:solidFill>
                          <a:latin typeface="DejaVu Sans"/>
                          <a:ea typeface="DejaVu Sans"/>
                          <a:cs typeface="DejaVu Sans"/>
                        </a:rPr>
                        <a:t>Stored content</a:t>
                      </a:r>
                    </a:p>
                  </a:txBody>
                  <a:tcPr>
                    <a:solidFill>
                      <a:srgbClr val="BFA2F2"/>
                    </a:solidFill>
                  </a:tcPr>
                </a:tc>
                <a:extLst>
                  <a:ext uri="{0D108BD9-81ED-4DB2-BD59-A6C34878D82A}">
                    <a16:rowId xmlns:a16="http://schemas.microsoft.com/office/drawing/2014/main" val="10000"/>
                  </a:ext>
                </a:extLst>
              </a:tr>
              <a:tr h="591911">
                <a:tc>
                  <a:txBody>
                    <a:bodyPr/>
                    <a:lstStyle/>
                    <a:p>
                      <a:r>
                        <a:rPr sz="1650" b="0">
                          <a:solidFill>
                            <a:srgbClr val="F2EEFA"/>
                          </a:solidFill>
                          <a:latin typeface="DejaVu Sans"/>
                          <a:ea typeface="DejaVu Sans"/>
                          <a:cs typeface="DejaVu Sans"/>
                        </a:rPr>
                        <a:t>users.bin</a:t>
                      </a:r>
                    </a:p>
                  </a:txBody>
                  <a:tcPr>
                    <a:solidFill>
                      <a:srgbClr val="29213D"/>
                    </a:solidFill>
                  </a:tcPr>
                </a:tc>
                <a:tc>
                  <a:txBody>
                    <a:bodyPr/>
                    <a:lstStyle/>
                    <a:p>
                      <a:r>
                        <a:rPr sz="1650" b="0">
                          <a:solidFill>
                            <a:srgbClr val="F2EEFA"/>
                          </a:solidFill>
                          <a:latin typeface="DejaVu Sans"/>
                          <a:ea typeface="DejaVu Sans"/>
                          <a:cs typeface="DejaVu Sans"/>
                        </a:rPr>
                        <a:t>Binary</a:t>
                      </a:r>
                    </a:p>
                  </a:txBody>
                  <a:tcPr>
                    <a:solidFill>
                      <a:srgbClr val="29213D"/>
                    </a:solidFill>
                  </a:tcPr>
                </a:tc>
                <a:tc>
                  <a:txBody>
                    <a:bodyPr/>
                    <a:lstStyle/>
                    <a:p>
                      <a:r>
                        <a:rPr sz="1650" b="0">
                          <a:solidFill>
                            <a:srgbClr val="F2EEFA"/>
                          </a:solidFill>
                          <a:latin typeface="DejaVu Sans"/>
                          <a:ea typeface="DejaVu Sans"/>
                          <a:cs typeface="DejaVu Sans"/>
                        </a:rPr>
                        <a:t>Repeated username[30] + password[30]</a:t>
                      </a:r>
                    </a:p>
                  </a:txBody>
                  <a:tcPr>
                    <a:solidFill>
                      <a:srgbClr val="29213D"/>
                    </a:solidFill>
                  </a:tcPr>
                </a:tc>
                <a:extLst>
                  <a:ext uri="{0D108BD9-81ED-4DB2-BD59-A6C34878D82A}">
                    <a16:rowId xmlns:a16="http://schemas.microsoft.com/office/drawing/2014/main" val="10001"/>
                  </a:ext>
                </a:extLst>
              </a:tr>
              <a:tr h="591911">
                <a:tc>
                  <a:txBody>
                    <a:bodyPr/>
                    <a:lstStyle/>
                    <a:p>
                      <a:r>
                        <a:rPr sz="1650" b="0">
                          <a:solidFill>
                            <a:srgbClr val="F2EEFA"/>
                          </a:solidFill>
                          <a:latin typeface="DejaVu Sans"/>
                          <a:ea typeface="DejaVu Sans"/>
                          <a:cs typeface="DejaVu Sans"/>
                        </a:rPr>
                        <a:t>admin.bin</a:t>
                      </a:r>
                    </a:p>
                  </a:txBody>
                  <a:tcPr>
                    <a:solidFill>
                      <a:srgbClr val="171328"/>
                    </a:solidFill>
                  </a:tcPr>
                </a:tc>
                <a:tc>
                  <a:txBody>
                    <a:bodyPr/>
                    <a:lstStyle/>
                    <a:p>
                      <a:r>
                        <a:rPr sz="1650" b="0">
                          <a:solidFill>
                            <a:srgbClr val="F2EEFA"/>
                          </a:solidFill>
                          <a:latin typeface="DejaVu Sans"/>
                          <a:ea typeface="DejaVu Sans"/>
                          <a:cs typeface="DejaVu Sans"/>
                        </a:rPr>
                        <a:t>Binary</a:t>
                      </a:r>
                    </a:p>
                  </a:txBody>
                  <a:tcPr>
                    <a:solidFill>
                      <a:srgbClr val="171328"/>
                    </a:solidFill>
                  </a:tcPr>
                </a:tc>
                <a:tc>
                  <a:txBody>
                    <a:bodyPr/>
                    <a:lstStyle/>
                    <a:p>
                      <a:r>
                        <a:rPr sz="1650" b="0">
                          <a:solidFill>
                            <a:srgbClr val="F2EEFA"/>
                          </a:solidFill>
                          <a:latin typeface="DejaVu Sans"/>
                          <a:ea typeface="DejaVu Sans"/>
                          <a:cs typeface="DejaVu Sans"/>
                        </a:rPr>
                        <a:t>One username[30] + password[30] pair</a:t>
                      </a:r>
                    </a:p>
                  </a:txBody>
                  <a:tcPr>
                    <a:solidFill>
                      <a:srgbClr val="171328"/>
                    </a:solidFill>
                  </a:tcPr>
                </a:tc>
                <a:extLst>
                  <a:ext uri="{0D108BD9-81ED-4DB2-BD59-A6C34878D82A}">
                    <a16:rowId xmlns:a16="http://schemas.microsoft.com/office/drawing/2014/main" val="10002"/>
                  </a:ext>
                </a:extLst>
              </a:tr>
              <a:tr h="591911">
                <a:tc>
                  <a:txBody>
                    <a:bodyPr/>
                    <a:lstStyle/>
                    <a:p>
                      <a:r>
                        <a:rPr sz="1650" b="0">
                          <a:solidFill>
                            <a:srgbClr val="F2EEFA"/>
                          </a:solidFill>
                          <a:latin typeface="DejaVu Sans"/>
                          <a:ea typeface="DejaVu Sans"/>
                          <a:cs typeface="DejaVu Sans"/>
                        </a:rPr>
                        <a:t>userdetails.txt</a:t>
                      </a:r>
                    </a:p>
                  </a:txBody>
                  <a:tcPr>
                    <a:solidFill>
                      <a:srgbClr val="29213D"/>
                    </a:solidFill>
                  </a:tcPr>
                </a:tc>
                <a:tc>
                  <a:txBody>
                    <a:bodyPr/>
                    <a:lstStyle/>
                    <a:p>
                      <a:r>
                        <a:rPr sz="1650" b="0">
                          <a:solidFill>
                            <a:srgbClr val="F2EEFA"/>
                          </a:solidFill>
                          <a:latin typeface="DejaVu Sans"/>
                          <a:ea typeface="DejaVu Sans"/>
                          <a:cs typeface="DejaVu Sans"/>
                        </a:rPr>
                        <a:t>Text</a:t>
                      </a:r>
                    </a:p>
                  </a:txBody>
                  <a:tcPr>
                    <a:solidFill>
                      <a:srgbClr val="29213D"/>
                    </a:solidFill>
                  </a:tcPr>
                </a:tc>
                <a:tc>
                  <a:txBody>
                    <a:bodyPr/>
                    <a:lstStyle/>
                    <a:p>
                      <a:r>
                        <a:rPr sz="1650" b="0">
                          <a:solidFill>
                            <a:srgbClr val="F2EEFA"/>
                          </a:solidFill>
                          <a:latin typeface="DejaVu Sans"/>
                          <a:ea typeface="DejaVu Sans"/>
                          <a:cs typeface="DejaVu Sans"/>
                        </a:rPr>
                        <a:t>User ID, name, mobile number</a:t>
                      </a:r>
                    </a:p>
                  </a:txBody>
                  <a:tcPr>
                    <a:solidFill>
                      <a:srgbClr val="29213D"/>
                    </a:solidFill>
                  </a:tcPr>
                </a:tc>
                <a:extLst>
                  <a:ext uri="{0D108BD9-81ED-4DB2-BD59-A6C34878D82A}">
                    <a16:rowId xmlns:a16="http://schemas.microsoft.com/office/drawing/2014/main" val="10003"/>
                  </a:ext>
                </a:extLst>
              </a:tr>
              <a:tr h="591911">
                <a:tc>
                  <a:txBody>
                    <a:bodyPr/>
                    <a:lstStyle/>
                    <a:p>
                      <a:r>
                        <a:rPr sz="1650" b="0">
                          <a:solidFill>
                            <a:srgbClr val="F2EEFA"/>
                          </a:solidFill>
                          <a:latin typeface="DejaVu Sans"/>
                          <a:ea typeface="DejaVu Sans"/>
                          <a:cs typeface="DejaVu Sans"/>
                        </a:rPr>
                        <a:t>bookdetails.txt</a:t>
                      </a:r>
                    </a:p>
                  </a:txBody>
                  <a:tcPr>
                    <a:solidFill>
                      <a:srgbClr val="171328"/>
                    </a:solidFill>
                  </a:tcPr>
                </a:tc>
                <a:tc>
                  <a:txBody>
                    <a:bodyPr/>
                    <a:lstStyle/>
                    <a:p>
                      <a:r>
                        <a:rPr sz="1650" b="0">
                          <a:solidFill>
                            <a:srgbClr val="F2EEFA"/>
                          </a:solidFill>
                          <a:latin typeface="DejaVu Sans"/>
                          <a:ea typeface="DejaVu Sans"/>
                          <a:cs typeface="DejaVu Sans"/>
                        </a:rPr>
                        <a:t>Text</a:t>
                      </a:r>
                    </a:p>
                  </a:txBody>
                  <a:tcPr>
                    <a:solidFill>
                      <a:srgbClr val="171328"/>
                    </a:solidFill>
                  </a:tcPr>
                </a:tc>
                <a:tc>
                  <a:txBody>
                    <a:bodyPr/>
                    <a:lstStyle/>
                    <a:p>
                      <a:r>
                        <a:rPr sz="1650" b="0">
                          <a:solidFill>
                            <a:srgbClr val="F2EEFA"/>
                          </a:solidFill>
                          <a:latin typeface="DejaVu Sans"/>
                          <a:ea typeface="DejaVu Sans"/>
                          <a:cs typeface="DejaVu Sans"/>
                        </a:rPr>
                        <a:t>Book ID, name, availability</a:t>
                      </a:r>
                    </a:p>
                  </a:txBody>
                  <a:tcPr>
                    <a:solidFill>
                      <a:srgbClr val="171328"/>
                    </a:solidFill>
                  </a:tcPr>
                </a:tc>
                <a:extLst>
                  <a:ext uri="{0D108BD9-81ED-4DB2-BD59-A6C34878D82A}">
                    <a16:rowId xmlns:a16="http://schemas.microsoft.com/office/drawing/2014/main" val="10004"/>
                  </a:ext>
                </a:extLst>
              </a:tr>
              <a:tr h="591911">
                <a:tc>
                  <a:txBody>
                    <a:bodyPr/>
                    <a:lstStyle/>
                    <a:p>
                      <a:r>
                        <a:rPr sz="1650" b="0">
                          <a:solidFill>
                            <a:srgbClr val="F2EEFA"/>
                          </a:solidFill>
                          <a:latin typeface="DejaVu Sans"/>
                          <a:ea typeface="DejaVu Sans"/>
                          <a:cs typeface="DejaVu Sans"/>
                        </a:rPr>
                        <a:t>issueddetails.txt</a:t>
                      </a:r>
                    </a:p>
                  </a:txBody>
                  <a:tcPr>
                    <a:solidFill>
                      <a:srgbClr val="29213D"/>
                    </a:solidFill>
                  </a:tcPr>
                </a:tc>
                <a:tc>
                  <a:txBody>
                    <a:bodyPr/>
                    <a:lstStyle/>
                    <a:p>
                      <a:r>
                        <a:rPr sz="1650" b="0">
                          <a:solidFill>
                            <a:srgbClr val="F2EEFA"/>
                          </a:solidFill>
                          <a:latin typeface="DejaVu Sans"/>
                          <a:ea typeface="DejaVu Sans"/>
                          <a:cs typeface="DejaVu Sans"/>
                        </a:rPr>
                        <a:t>Text</a:t>
                      </a:r>
                    </a:p>
                  </a:txBody>
                  <a:tcPr>
                    <a:solidFill>
                      <a:srgbClr val="29213D"/>
                    </a:solidFill>
                  </a:tcPr>
                </a:tc>
                <a:tc>
                  <a:txBody>
                    <a:bodyPr/>
                    <a:lstStyle/>
                    <a:p>
                      <a:r>
                        <a:rPr sz="1650" b="0">
                          <a:solidFill>
                            <a:srgbClr val="F2EEFA"/>
                          </a:solidFill>
                          <a:latin typeface="DejaVu Sans"/>
                          <a:ea typeface="DejaVu Sans"/>
                          <a:cs typeface="DejaVu Sans"/>
                        </a:rPr>
                        <a:t>User and book details, issue date</a:t>
                      </a:r>
                    </a:p>
                  </a:txBody>
                  <a:tcPr>
                    <a:solidFill>
                      <a:srgbClr val="29213D"/>
                    </a:solidFill>
                  </a:tcPr>
                </a:tc>
                <a:extLst>
                  <a:ext uri="{0D108BD9-81ED-4DB2-BD59-A6C34878D82A}">
                    <a16:rowId xmlns:a16="http://schemas.microsoft.com/office/drawing/2014/main" val="10005"/>
                  </a:ext>
                </a:extLst>
              </a:tr>
              <a:tr h="591911">
                <a:tc>
                  <a:txBody>
                    <a:bodyPr/>
                    <a:lstStyle/>
                    <a:p>
                      <a:r>
                        <a:rPr sz="1650" b="0">
                          <a:solidFill>
                            <a:srgbClr val="F2EEFA"/>
                          </a:solidFill>
                          <a:latin typeface="DejaVu Sans"/>
                          <a:ea typeface="DejaVu Sans"/>
                          <a:cs typeface="DejaVu Sans"/>
                        </a:rPr>
                        <a:t>temp.txt</a:t>
                      </a:r>
                    </a:p>
                  </a:txBody>
                  <a:tcPr>
                    <a:solidFill>
                      <a:srgbClr val="171328"/>
                    </a:solidFill>
                  </a:tcPr>
                </a:tc>
                <a:tc>
                  <a:txBody>
                    <a:bodyPr/>
                    <a:lstStyle/>
                    <a:p>
                      <a:r>
                        <a:rPr sz="1650" b="0">
                          <a:solidFill>
                            <a:srgbClr val="F2EEFA"/>
                          </a:solidFill>
                          <a:latin typeface="DejaVu Sans"/>
                          <a:ea typeface="DejaVu Sans"/>
                          <a:cs typeface="DejaVu Sans"/>
                        </a:rPr>
                        <a:t>Text</a:t>
                      </a:r>
                    </a:p>
                  </a:txBody>
                  <a:tcPr>
                    <a:solidFill>
                      <a:srgbClr val="171328"/>
                    </a:solidFill>
                  </a:tcPr>
                </a:tc>
                <a:tc>
                  <a:txBody>
                    <a:bodyPr/>
                    <a:lstStyle/>
                    <a:p>
                      <a:r>
                        <a:rPr sz="1650" b="0">
                          <a:solidFill>
                            <a:srgbClr val="F2EEFA"/>
                          </a:solidFill>
                          <a:latin typeface="DejaVu Sans"/>
                          <a:ea typeface="DejaVu Sans"/>
                          <a:cs typeface="DejaVu Sans"/>
                        </a:rPr>
                        <a:t>Temporary records during user deletion</a:t>
                      </a:r>
                    </a:p>
                  </a:txBody>
                  <a:tcPr>
                    <a:solidFill>
                      <a:srgbClr val="171328"/>
                    </a:solidFill>
                  </a:tcPr>
                </a:tc>
                <a:extLst>
                  <a:ext uri="{0D108BD9-81ED-4DB2-BD59-A6C34878D82A}">
                    <a16:rowId xmlns:a16="http://schemas.microsoft.com/office/drawing/2014/main" val="10006"/>
                  </a:ext>
                </a:extLst>
              </a:tr>
            </a:tbl>
          </a:graphicData>
        </a:graphic>
      </p:graphicFrame>
      <p:sp>
        <p:nvSpPr>
          <p:cNvPr id="6" name="Rectangle 5">
            <a:extLst>
              <a:ext uri="{FF2B5EF4-FFF2-40B4-BE49-F238E27FC236}">
                <a16:creationId xmlns:a16="http://schemas.microsoft.com/office/drawing/2014/main" id="{89FB0B3E-058A-4DBA-B68C-F40805A38F07}"/>
              </a:ext>
            </a:extLst>
          </p:cNvPr>
          <p:cNvSpPr>
            <a:spLocks noGrp="1"/>
          </p:cNvSpPr>
          <p:nvPr/>
        </p:nvSpPr>
        <p:spPr>
          <a:xfrm>
            <a:off x="590550" y="5762625"/>
            <a:ext cx="10287000" cy="323850"/>
          </a:xfrm>
          <a:prstGeom prst="rect">
            <a:avLst/>
          </a:prstGeom>
          <a:noFill/>
          <a:ln w="0">
            <a:noFill/>
          </a:ln>
        </p:spPr>
        <p:txBody>
          <a:bodyPr>
            <a:noAutofit/>
          </a:bodyPr>
          <a:lstStyle/>
          <a:p>
            <a:pPr>
              <a:defRPr sz="1725" b="0">
                <a:solidFill>
                  <a:srgbClr val="C8C3D8"/>
                </a:solidFill>
                <a:latin typeface="DejaVu Sans"/>
                <a:ea typeface="DejaVu Sans"/>
                <a:cs typeface="DejaVu Sans"/>
              </a:defRPr>
            </a:pPr>
            <a:r>
              <a:rPr sz="1725" b="0">
                <a:solidFill>
                  <a:srgbClr val="C8C3D8"/>
                </a:solidFill>
                <a:latin typeface="DejaVu Sans"/>
                <a:ea typeface="DejaVu Sans"/>
                <a:cs typeface="DejaVu Sans"/>
              </a:rPr>
              <a:t>Binary storage does not encrypt passwords.</a:t>
            </a:r>
          </a:p>
        </p:txBody>
      </p:sp>
    </p:spTree>
    <p:extLst>
      <p:ext uri="{BB962C8B-B14F-4D97-AF65-F5344CB8AC3E}">
        <p14:creationId xmlns:p14="http://schemas.microsoft.com/office/powerpoint/2010/main" val="11638483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00F22"/>
        </a:solidFill>
        <a:effectLst/>
      </p:bgPr>
    </p:bg>
    <p:spTree>
      <p:nvGrpSpPr>
        <p:cNvPr id="1" name=""/>
        <p:cNvGrpSpPr/>
        <p:nvPr/>
      </p:nvGrpSpPr>
      <p:grpSpPr>
        <a:xfrm>
          <a:off x="0" y="0"/>
          <a:ext cx="0" cy="0"/>
          <a:chOff x="0" y="0"/>
          <a:chExt cx="0" cy="0"/>
        </a:xfrm>
      </p:grpSpPr>
      <p:pic>
        <p:nvPicPr>
          <p:cNvPr id="18" name="Picture 17"/>
          <p:cNvPicPr>
            <a:picLocks noChangeAspect="1"/>
          </p:cNvPicPr>
          <p:nvPr/>
        </p:nvPicPr>
        <p:blipFill>
          <a:blip r:embed="rId3"/>
          <a:stretch/>
        </p:blipFill>
        <p:spPr>
          <a:xfrm>
            <a:off x="3239" y="0"/>
            <a:ext cx="12185522" cy="6858000"/>
          </a:xfrm>
          <a:prstGeom prst="rect">
            <a:avLst/>
          </a:prstGeom>
        </p:spPr>
      </p:pic>
      <p:sp>
        <p:nvSpPr>
          <p:cNvPr id="2" name="Rectangle 1">
            <a:extLst>
              <a:ext uri="{FF2B5EF4-FFF2-40B4-BE49-F238E27FC236}">
                <a16:creationId xmlns:a16="http://schemas.microsoft.com/office/drawing/2014/main" id="{3DCFF5BB-5E58-42DA-88FD-3048A4994F03}"/>
              </a:ext>
            </a:extLst>
          </p:cNvPr>
          <p:cNvSpPr>
            <a:spLocks noGrp="1"/>
          </p:cNvSpPr>
          <p:nvPr/>
        </p:nvSpPr>
        <p:spPr>
          <a:xfrm>
            <a:off x="571500" y="400050"/>
            <a:ext cx="10953750" cy="762000"/>
          </a:xfrm>
          <a:prstGeom prst="rect">
            <a:avLst/>
          </a:prstGeom>
          <a:noFill/>
          <a:ln w="0">
            <a:noFill/>
          </a:ln>
        </p:spPr>
        <p:txBody>
          <a:bodyPr>
            <a:noAutofit/>
          </a:bodyPr>
          <a:lstStyle/>
          <a:p>
            <a:pPr>
              <a:defRPr sz="3150" b="1">
                <a:solidFill>
                  <a:srgbClr val="D5C2FF"/>
                </a:solidFill>
                <a:latin typeface="DejaVu Sans"/>
                <a:ea typeface="DejaVu Sans"/>
                <a:cs typeface="DejaVu Sans"/>
              </a:defRPr>
            </a:pPr>
            <a:r>
              <a:rPr sz="3150" b="1">
                <a:solidFill>
                  <a:srgbClr val="D5C2FF"/>
                </a:solidFill>
                <a:latin typeface="DejaVu Sans"/>
                <a:ea typeface="DejaVu Sans"/>
                <a:cs typeface="DejaVu Sans"/>
              </a:rPr>
              <a:t>ER diagram: library records</a:t>
            </a:r>
          </a:p>
        </p:txBody>
      </p:sp>
      <p:pic>
        <p:nvPicPr>
          <p:cNvPr id="20" name="Picture 19"/>
          <p:cNvPicPr>
            <a:picLocks noChangeAspect="1"/>
          </p:cNvPicPr>
          <p:nvPr/>
        </p:nvPicPr>
        <p:blipFill>
          <a:blip r:embed="rId4"/>
          <a:stretch/>
        </p:blipFill>
        <p:spPr>
          <a:xfrm>
            <a:off x="10477500" y="6153873"/>
            <a:ext cx="1143000" cy="570053"/>
          </a:xfrm>
          <a:prstGeom prst="rect">
            <a:avLst/>
          </a:prstGeom>
        </p:spPr>
      </p:pic>
      <p:sp>
        <p:nvSpPr>
          <p:cNvPr id="4" name="Rectangle 3">
            <a:extLst>
              <a:ext uri="{FF2B5EF4-FFF2-40B4-BE49-F238E27FC236}">
                <a16:creationId xmlns:a16="http://schemas.microsoft.com/office/drawing/2014/main" id="{F03604AF-FC73-4214-9E7C-605950B3A041}"/>
              </a:ext>
            </a:extLst>
          </p:cNvPr>
          <p:cNvSpPr>
            <a:spLocks noGrp="1"/>
          </p:cNvSpPr>
          <p:nvPr/>
        </p:nvSpPr>
        <p:spPr>
          <a:xfrm>
            <a:off x="571500" y="6162675"/>
            <a:ext cx="857250" cy="457200"/>
          </a:xfrm>
          <a:prstGeom prst="rect">
            <a:avLst/>
          </a:prstGeom>
          <a:noFill/>
          <a:ln w="0">
            <a:noFill/>
          </a:ln>
        </p:spPr>
        <p:txBody>
          <a:bodyPr>
            <a:noAutofit/>
          </a:bodyPr>
          <a:lstStyle/>
          <a:p>
            <a:pPr>
              <a:defRPr sz="2175" b="1">
                <a:solidFill>
                  <a:srgbClr val="D2F66C"/>
                </a:solidFill>
                <a:latin typeface="DejaVu Sans"/>
                <a:ea typeface="DejaVu Sans"/>
                <a:cs typeface="DejaVu Sans"/>
              </a:defRPr>
            </a:pPr>
            <a:r>
              <a:rPr sz="2175" b="1">
                <a:solidFill>
                  <a:srgbClr val="D2F66C"/>
                </a:solidFill>
                <a:latin typeface="DejaVu Sans"/>
                <a:ea typeface="DejaVu Sans"/>
                <a:cs typeface="DejaVu Sans"/>
              </a:rPr>
              <a:t>8</a:t>
            </a:r>
          </a:p>
        </p:txBody>
      </p:sp>
      <p:sp>
        <p:nvSpPr>
          <p:cNvPr id="5" name="Rectangle 4">
            <a:extLst>
              <a:ext uri="{FF2B5EF4-FFF2-40B4-BE49-F238E27FC236}">
                <a16:creationId xmlns:a16="http://schemas.microsoft.com/office/drawing/2014/main" id="{385FEC1C-E1D6-4649-84B6-6CC6AA29A67A}"/>
              </a:ext>
            </a:extLst>
          </p:cNvPr>
          <p:cNvSpPr>
            <a:spLocks noGrp="1"/>
          </p:cNvSpPr>
          <p:nvPr/>
        </p:nvSpPr>
        <p:spPr>
          <a:xfrm>
            <a:off x="571500" y="1962150"/>
            <a:ext cx="3048000" cy="2428875"/>
          </a:xfrm>
          <a:prstGeom prst="rect">
            <a:avLst/>
          </a:prstGeom>
          <a:solidFill>
            <a:srgbClr val="262139"/>
          </a:solidFill>
          <a:ln w="19050">
            <a:solidFill>
              <a:srgbClr val="AA89ED"/>
            </a:solidFill>
          </a:ln>
        </p:spPr>
        <p:txBody>
          <a:bodyPr anchor="ctr">
            <a:noAutofit/>
          </a:bodyPr>
          <a:lstStyle/>
          <a:p>
            <a:pPr algn="ctr">
              <a:defRPr sz="1575">
                <a:solidFill>
                  <a:srgbClr val="F7F5FF"/>
                </a:solidFill>
                <a:latin typeface="DejaVu Sans"/>
                <a:ea typeface="DejaVu Sans"/>
                <a:cs typeface="DejaVu Sans"/>
              </a:defRPr>
            </a:pPr>
            <a:r>
              <a:rPr sz="1575">
                <a:solidFill>
                  <a:srgbClr val="F7F5FF"/>
                </a:solidFill>
                <a:latin typeface="DejaVu Sans"/>
                <a:ea typeface="DejaVu Sans"/>
                <a:cs typeface="DejaVu Sans"/>
              </a:rPr>
              <a:t>LIBRARY USER</a:t>
            </a:r>
          </a:p>
          <a:p>
            <a:endParaRPr sz="1575">
              <a:solidFill>
                <a:srgbClr val="F7F5FF"/>
              </a:solidFill>
              <a:latin typeface="DejaVu Sans"/>
              <a:ea typeface="DejaVu Sans"/>
              <a:cs typeface="DejaVu Sans"/>
            </a:endParaRPr>
          </a:p>
          <a:p>
            <a:pPr algn="ctr">
              <a:defRPr sz="1575">
                <a:solidFill>
                  <a:srgbClr val="F7F5FF"/>
                </a:solidFill>
                <a:latin typeface="DejaVu Sans"/>
                <a:ea typeface="DejaVu Sans"/>
                <a:cs typeface="DejaVu Sans"/>
              </a:defRPr>
            </a:pPr>
            <a:r>
              <a:rPr sz="1575">
                <a:solidFill>
                  <a:srgbClr val="F7F5FF"/>
                </a:solidFill>
                <a:latin typeface="DejaVu Sans"/>
                <a:ea typeface="DejaVu Sans"/>
                <a:cs typeface="DejaVu Sans"/>
              </a:rPr>
              <a:t>uid  (intended identifier)</a:t>
            </a:r>
          </a:p>
          <a:p>
            <a:pPr algn="ctr">
              <a:defRPr sz="1575">
                <a:solidFill>
                  <a:srgbClr val="F7F5FF"/>
                </a:solidFill>
                <a:latin typeface="DejaVu Sans"/>
                <a:ea typeface="DejaVu Sans"/>
                <a:cs typeface="DejaVu Sans"/>
              </a:defRPr>
            </a:pPr>
            <a:r>
              <a:rPr sz="1575">
                <a:solidFill>
                  <a:srgbClr val="F7F5FF"/>
                </a:solidFill>
                <a:latin typeface="DejaVu Sans"/>
                <a:ea typeface="DejaVu Sans"/>
                <a:cs typeface="DejaVu Sans"/>
              </a:rPr>
              <a:t>uname</a:t>
            </a:r>
          </a:p>
          <a:p>
            <a:pPr algn="ctr">
              <a:defRPr sz="1575">
                <a:solidFill>
                  <a:srgbClr val="F7F5FF"/>
                </a:solidFill>
                <a:latin typeface="DejaVu Sans"/>
                <a:ea typeface="DejaVu Sans"/>
                <a:cs typeface="DejaVu Sans"/>
              </a:defRPr>
            </a:pPr>
            <a:r>
              <a:rPr sz="1575">
                <a:solidFill>
                  <a:srgbClr val="F7F5FF"/>
                </a:solidFill>
                <a:latin typeface="DejaVu Sans"/>
                <a:ea typeface="DejaVu Sans"/>
                <a:cs typeface="DejaVu Sans"/>
              </a:rPr>
              <a:t>umobno</a:t>
            </a:r>
          </a:p>
        </p:txBody>
      </p:sp>
      <p:sp>
        <p:nvSpPr>
          <p:cNvPr id="6" name="Rectangle 5">
            <a:extLst>
              <a:ext uri="{FF2B5EF4-FFF2-40B4-BE49-F238E27FC236}">
                <a16:creationId xmlns:a16="http://schemas.microsoft.com/office/drawing/2014/main" id="{B1575AEA-2112-4F41-9DD1-BA4E9456ABFC}"/>
              </a:ext>
            </a:extLst>
          </p:cNvPr>
          <p:cNvSpPr>
            <a:spLocks noGrp="1"/>
          </p:cNvSpPr>
          <p:nvPr/>
        </p:nvSpPr>
        <p:spPr>
          <a:xfrm>
            <a:off x="4572000" y="1962150"/>
            <a:ext cx="3048000" cy="2428875"/>
          </a:xfrm>
          <a:prstGeom prst="rect">
            <a:avLst/>
          </a:prstGeom>
          <a:solidFill>
            <a:srgbClr val="262139"/>
          </a:solidFill>
          <a:ln w="19050">
            <a:solidFill>
              <a:srgbClr val="AA89ED"/>
            </a:solidFill>
          </a:ln>
        </p:spPr>
        <p:txBody>
          <a:bodyPr anchor="ctr">
            <a:noAutofit/>
          </a:bodyPr>
          <a:lstStyle/>
          <a:p>
            <a:pPr algn="ctr">
              <a:defRPr sz="1575">
                <a:solidFill>
                  <a:srgbClr val="F7F5FF"/>
                </a:solidFill>
                <a:latin typeface="DejaVu Sans"/>
                <a:ea typeface="DejaVu Sans"/>
                <a:cs typeface="DejaVu Sans"/>
              </a:defRPr>
            </a:pPr>
            <a:r>
              <a:rPr sz="1575">
                <a:solidFill>
                  <a:srgbClr val="F7F5FF"/>
                </a:solidFill>
                <a:latin typeface="DejaVu Sans"/>
                <a:ea typeface="DejaVu Sans"/>
                <a:cs typeface="DejaVu Sans"/>
              </a:rPr>
              <a:t>ISSUE RECORD</a:t>
            </a:r>
          </a:p>
          <a:p>
            <a:endParaRPr sz="1575">
              <a:solidFill>
                <a:srgbClr val="F7F5FF"/>
              </a:solidFill>
              <a:latin typeface="DejaVu Sans"/>
              <a:ea typeface="DejaVu Sans"/>
              <a:cs typeface="DejaVu Sans"/>
            </a:endParaRPr>
          </a:p>
          <a:p>
            <a:pPr algn="ctr">
              <a:defRPr sz="1575">
                <a:solidFill>
                  <a:srgbClr val="F7F5FF"/>
                </a:solidFill>
                <a:latin typeface="DejaVu Sans"/>
                <a:ea typeface="DejaVu Sans"/>
                <a:cs typeface="DejaVu Sans"/>
              </a:defRPr>
            </a:pPr>
            <a:r>
              <a:rPr sz="1575">
                <a:solidFill>
                  <a:srgbClr val="F7F5FF"/>
                </a:solidFill>
                <a:latin typeface="DejaVu Sans"/>
                <a:ea typeface="DejaVu Sans"/>
                <a:cs typeface="DejaVu Sans"/>
              </a:rPr>
              <a:t>uid   ·   bid</a:t>
            </a:r>
          </a:p>
          <a:p>
            <a:pPr algn="ctr">
              <a:defRPr sz="1575">
                <a:solidFill>
                  <a:srgbClr val="F7F5FF"/>
                </a:solidFill>
                <a:latin typeface="DejaVu Sans"/>
                <a:ea typeface="DejaVu Sans"/>
                <a:cs typeface="DejaVu Sans"/>
              </a:defRPr>
            </a:pPr>
            <a:r>
              <a:rPr sz="1575">
                <a:solidFill>
                  <a:srgbClr val="F7F5FF"/>
                </a:solidFill>
                <a:latin typeface="DejaVu Sans"/>
                <a:ea typeface="DejaVu Sans"/>
                <a:cs typeface="DejaVu Sans"/>
              </a:rPr>
              <a:t>uname   ·   umobno</a:t>
            </a:r>
          </a:p>
          <a:p>
            <a:pPr algn="ctr">
              <a:defRPr sz="1575">
                <a:solidFill>
                  <a:srgbClr val="F7F5FF"/>
                </a:solidFill>
                <a:latin typeface="DejaVu Sans"/>
                <a:ea typeface="DejaVu Sans"/>
                <a:cs typeface="DejaVu Sans"/>
              </a:defRPr>
            </a:pPr>
            <a:r>
              <a:rPr sz="1575">
                <a:solidFill>
                  <a:srgbClr val="F7F5FF"/>
                </a:solidFill>
                <a:latin typeface="DejaVu Sans"/>
                <a:ea typeface="DejaVu Sans"/>
                <a:cs typeface="DejaVu Sans"/>
              </a:rPr>
              <a:t>bname   ·   date</a:t>
            </a:r>
          </a:p>
        </p:txBody>
      </p:sp>
      <p:sp>
        <p:nvSpPr>
          <p:cNvPr id="7" name="Rectangle 6">
            <a:extLst>
              <a:ext uri="{FF2B5EF4-FFF2-40B4-BE49-F238E27FC236}">
                <a16:creationId xmlns:a16="http://schemas.microsoft.com/office/drawing/2014/main" id="{D4CFA033-36FE-461C-96B7-1A50155FBF63}"/>
              </a:ext>
            </a:extLst>
          </p:cNvPr>
          <p:cNvSpPr>
            <a:spLocks noGrp="1"/>
          </p:cNvSpPr>
          <p:nvPr/>
        </p:nvSpPr>
        <p:spPr>
          <a:xfrm>
            <a:off x="8572500" y="1962150"/>
            <a:ext cx="3048000" cy="2428875"/>
          </a:xfrm>
          <a:prstGeom prst="rect">
            <a:avLst/>
          </a:prstGeom>
          <a:solidFill>
            <a:srgbClr val="262139"/>
          </a:solidFill>
          <a:ln w="19050">
            <a:solidFill>
              <a:srgbClr val="AA89ED"/>
            </a:solidFill>
          </a:ln>
        </p:spPr>
        <p:txBody>
          <a:bodyPr anchor="ctr">
            <a:noAutofit/>
          </a:bodyPr>
          <a:lstStyle/>
          <a:p>
            <a:pPr algn="ctr">
              <a:defRPr sz="1575">
                <a:solidFill>
                  <a:srgbClr val="F7F5FF"/>
                </a:solidFill>
                <a:latin typeface="DejaVu Sans"/>
                <a:ea typeface="DejaVu Sans"/>
                <a:cs typeface="DejaVu Sans"/>
              </a:defRPr>
            </a:pPr>
            <a:r>
              <a:rPr sz="1575">
                <a:solidFill>
                  <a:srgbClr val="F7F5FF"/>
                </a:solidFill>
                <a:latin typeface="DejaVu Sans"/>
                <a:ea typeface="DejaVu Sans"/>
                <a:cs typeface="DejaVu Sans"/>
              </a:rPr>
              <a:t>BOOK</a:t>
            </a:r>
          </a:p>
          <a:p>
            <a:endParaRPr sz="1575">
              <a:solidFill>
                <a:srgbClr val="F7F5FF"/>
              </a:solidFill>
              <a:latin typeface="DejaVu Sans"/>
              <a:ea typeface="DejaVu Sans"/>
              <a:cs typeface="DejaVu Sans"/>
            </a:endParaRPr>
          </a:p>
          <a:p>
            <a:pPr algn="ctr">
              <a:defRPr sz="1575">
                <a:solidFill>
                  <a:srgbClr val="F7F5FF"/>
                </a:solidFill>
                <a:latin typeface="DejaVu Sans"/>
                <a:ea typeface="DejaVu Sans"/>
                <a:cs typeface="DejaVu Sans"/>
              </a:defRPr>
            </a:pPr>
            <a:r>
              <a:rPr sz="1575">
                <a:solidFill>
                  <a:srgbClr val="F7F5FF"/>
                </a:solidFill>
                <a:latin typeface="DejaVu Sans"/>
                <a:ea typeface="DejaVu Sans"/>
                <a:cs typeface="DejaVu Sans"/>
              </a:rPr>
              <a:t>bid  (intended identifier)</a:t>
            </a:r>
          </a:p>
          <a:p>
            <a:pPr algn="ctr">
              <a:defRPr sz="1575">
                <a:solidFill>
                  <a:srgbClr val="F7F5FF"/>
                </a:solidFill>
                <a:latin typeface="DejaVu Sans"/>
                <a:ea typeface="DejaVu Sans"/>
                <a:cs typeface="DejaVu Sans"/>
              </a:defRPr>
            </a:pPr>
            <a:r>
              <a:rPr sz="1575">
                <a:solidFill>
                  <a:srgbClr val="F7F5FF"/>
                </a:solidFill>
                <a:latin typeface="DejaVu Sans"/>
                <a:ea typeface="DejaVu Sans"/>
                <a:cs typeface="DejaVu Sans"/>
              </a:rPr>
              <a:t>bname</a:t>
            </a:r>
          </a:p>
          <a:p>
            <a:pPr algn="ctr">
              <a:defRPr sz="1575">
                <a:solidFill>
                  <a:srgbClr val="F7F5FF"/>
                </a:solidFill>
                <a:latin typeface="DejaVu Sans"/>
                <a:ea typeface="DejaVu Sans"/>
                <a:cs typeface="DejaVu Sans"/>
              </a:defRPr>
            </a:pPr>
            <a:r>
              <a:rPr sz="1575">
                <a:solidFill>
                  <a:srgbClr val="F7F5FF"/>
                </a:solidFill>
                <a:latin typeface="DejaVu Sans"/>
                <a:ea typeface="DejaVu Sans"/>
                <a:cs typeface="DejaVu Sans"/>
              </a:rPr>
              <a:t>available</a:t>
            </a:r>
          </a:p>
        </p:txBody>
      </p:sp>
      <p:cxnSp>
        <p:nvCxnSpPr>
          <p:cNvPr id="25" name="Straight Arrow Connector 24"/>
          <p:cNvCxnSpPr>
            <a:stCxn id="5" idx="3"/>
            <a:endCxn id="6" idx="1"/>
          </p:cNvCxnSpPr>
          <p:nvPr/>
        </p:nvCxnSpPr>
        <p:spPr>
          <a:xfrm>
            <a:off x="3619500" y="3176588"/>
            <a:ext cx="952500" cy="0"/>
          </a:xfrm>
          <a:prstGeom prst="straightConnector1">
            <a:avLst/>
          </a:prstGeom>
          <a:ln w="23813">
            <a:solidFill>
              <a:srgbClr val="D2F66C"/>
            </a:solidFill>
            <a:tailEnd type="none" w="med" len="med"/>
          </a:ln>
        </p:spPr>
      </p:cxnSp>
      <p:cxnSp>
        <p:nvCxnSpPr>
          <p:cNvPr id="26" name="Straight Arrow Connector 25"/>
          <p:cNvCxnSpPr>
            <a:stCxn id="7" idx="1"/>
            <a:endCxn id="6" idx="3"/>
          </p:cNvCxnSpPr>
          <p:nvPr/>
        </p:nvCxnSpPr>
        <p:spPr>
          <a:xfrm flipH="1">
            <a:off x="7620000" y="3176588"/>
            <a:ext cx="952500" cy="0"/>
          </a:xfrm>
          <a:prstGeom prst="straightConnector1">
            <a:avLst/>
          </a:prstGeom>
          <a:ln w="23813">
            <a:solidFill>
              <a:srgbClr val="D2F66C"/>
            </a:solidFill>
            <a:tailEnd type="none" w="med" len="med"/>
          </a:ln>
        </p:spPr>
      </p:cxnSp>
      <p:sp>
        <p:nvSpPr>
          <p:cNvPr id="10" name="Rectangle 9">
            <a:extLst>
              <a:ext uri="{FF2B5EF4-FFF2-40B4-BE49-F238E27FC236}">
                <a16:creationId xmlns:a16="http://schemas.microsoft.com/office/drawing/2014/main" id="{ED7F8F49-24A6-4480-802B-DE25F0A58F38}"/>
              </a:ext>
            </a:extLst>
          </p:cNvPr>
          <p:cNvSpPr>
            <a:spLocks noGrp="1"/>
          </p:cNvSpPr>
          <p:nvPr/>
        </p:nvSpPr>
        <p:spPr>
          <a:xfrm>
            <a:off x="3743325" y="2562225"/>
            <a:ext cx="323850" cy="304800"/>
          </a:xfrm>
          <a:prstGeom prst="rect">
            <a:avLst/>
          </a:prstGeom>
          <a:noFill/>
          <a:ln w="0">
            <a:noFill/>
          </a:ln>
        </p:spPr>
        <p:txBody>
          <a:bodyPr>
            <a:noAutofit/>
          </a:bodyPr>
          <a:lstStyle/>
          <a:p>
            <a:pPr>
              <a:defRPr sz="1650" b="0">
                <a:solidFill>
                  <a:srgbClr val="F7F5FF"/>
                </a:solidFill>
                <a:latin typeface="DejaVu Sans"/>
                <a:ea typeface="DejaVu Sans"/>
                <a:cs typeface="DejaVu Sans"/>
              </a:defRPr>
            </a:pPr>
            <a:r>
              <a:rPr sz="1650" b="0">
                <a:solidFill>
                  <a:srgbClr val="F7F5FF"/>
                </a:solidFill>
                <a:latin typeface="DejaVu Sans"/>
                <a:ea typeface="DejaVu Sans"/>
                <a:cs typeface="DejaVu Sans"/>
              </a:rPr>
              <a:t>1</a:t>
            </a:r>
          </a:p>
        </p:txBody>
      </p:sp>
      <p:sp>
        <p:nvSpPr>
          <p:cNvPr id="11" name="Rectangle 10">
            <a:extLst>
              <a:ext uri="{FF2B5EF4-FFF2-40B4-BE49-F238E27FC236}">
                <a16:creationId xmlns:a16="http://schemas.microsoft.com/office/drawing/2014/main" id="{1E03A959-324B-46CA-846C-F847EE6CDE65}"/>
              </a:ext>
            </a:extLst>
          </p:cNvPr>
          <p:cNvSpPr>
            <a:spLocks noGrp="1"/>
          </p:cNvSpPr>
          <p:nvPr/>
        </p:nvSpPr>
        <p:spPr>
          <a:xfrm>
            <a:off x="4019550" y="3286125"/>
            <a:ext cx="619125" cy="323850"/>
          </a:xfrm>
          <a:prstGeom prst="rect">
            <a:avLst/>
          </a:prstGeom>
          <a:noFill/>
          <a:ln w="0">
            <a:noFill/>
          </a:ln>
        </p:spPr>
        <p:txBody>
          <a:bodyPr>
            <a:noAutofit/>
          </a:bodyPr>
          <a:lstStyle/>
          <a:p>
            <a:pPr>
              <a:defRPr sz="1650" b="0">
                <a:solidFill>
                  <a:srgbClr val="F7F5FF"/>
                </a:solidFill>
                <a:latin typeface="DejaVu Sans"/>
                <a:ea typeface="DejaVu Sans"/>
                <a:cs typeface="DejaVu Sans"/>
              </a:defRPr>
            </a:pPr>
            <a:r>
              <a:rPr sz="1650" b="0">
                <a:solidFill>
                  <a:srgbClr val="F7F5FF"/>
                </a:solidFill>
                <a:latin typeface="DejaVu Sans"/>
                <a:ea typeface="DejaVu Sans"/>
                <a:cs typeface="DejaVu Sans"/>
              </a:rPr>
              <a:t>0..*</a:t>
            </a:r>
          </a:p>
        </p:txBody>
      </p:sp>
      <p:sp>
        <p:nvSpPr>
          <p:cNvPr id="12" name="Rectangle 11">
            <a:extLst>
              <a:ext uri="{FF2B5EF4-FFF2-40B4-BE49-F238E27FC236}">
                <a16:creationId xmlns:a16="http://schemas.microsoft.com/office/drawing/2014/main" id="{B3E9EA34-0333-43FD-8A69-95EF76A295DA}"/>
              </a:ext>
            </a:extLst>
          </p:cNvPr>
          <p:cNvSpPr>
            <a:spLocks noGrp="1"/>
          </p:cNvSpPr>
          <p:nvPr/>
        </p:nvSpPr>
        <p:spPr>
          <a:xfrm>
            <a:off x="7677150" y="3286125"/>
            <a:ext cx="666750" cy="323850"/>
          </a:xfrm>
          <a:prstGeom prst="rect">
            <a:avLst/>
          </a:prstGeom>
          <a:noFill/>
          <a:ln w="0">
            <a:noFill/>
          </a:ln>
        </p:spPr>
        <p:txBody>
          <a:bodyPr>
            <a:noAutofit/>
          </a:bodyPr>
          <a:lstStyle/>
          <a:p>
            <a:pPr>
              <a:defRPr sz="1650" b="0">
                <a:solidFill>
                  <a:srgbClr val="F7F5FF"/>
                </a:solidFill>
                <a:latin typeface="DejaVu Sans"/>
                <a:ea typeface="DejaVu Sans"/>
                <a:cs typeface="DejaVu Sans"/>
              </a:defRPr>
            </a:pPr>
            <a:r>
              <a:rPr sz="1650" b="0">
                <a:solidFill>
                  <a:srgbClr val="F7F5FF"/>
                </a:solidFill>
                <a:latin typeface="DejaVu Sans"/>
                <a:ea typeface="DejaVu Sans"/>
                <a:cs typeface="DejaVu Sans"/>
              </a:rPr>
              <a:t>0..*</a:t>
            </a:r>
          </a:p>
        </p:txBody>
      </p:sp>
      <p:sp>
        <p:nvSpPr>
          <p:cNvPr id="13" name="Rectangle 12">
            <a:extLst>
              <a:ext uri="{FF2B5EF4-FFF2-40B4-BE49-F238E27FC236}">
                <a16:creationId xmlns:a16="http://schemas.microsoft.com/office/drawing/2014/main" id="{5D5E76D3-C177-4DDB-AD3F-CEDFA0771CE3}"/>
              </a:ext>
            </a:extLst>
          </p:cNvPr>
          <p:cNvSpPr>
            <a:spLocks noGrp="1"/>
          </p:cNvSpPr>
          <p:nvPr/>
        </p:nvSpPr>
        <p:spPr>
          <a:xfrm>
            <a:off x="8229600" y="2562225"/>
            <a:ext cx="323850" cy="304800"/>
          </a:xfrm>
          <a:prstGeom prst="rect">
            <a:avLst/>
          </a:prstGeom>
          <a:noFill/>
          <a:ln w="0">
            <a:noFill/>
          </a:ln>
        </p:spPr>
        <p:txBody>
          <a:bodyPr>
            <a:noAutofit/>
          </a:bodyPr>
          <a:lstStyle/>
          <a:p>
            <a:pPr>
              <a:defRPr sz="1650" b="0">
                <a:solidFill>
                  <a:srgbClr val="F7F5FF"/>
                </a:solidFill>
                <a:latin typeface="DejaVu Sans"/>
                <a:ea typeface="DejaVu Sans"/>
                <a:cs typeface="DejaVu Sans"/>
              </a:defRPr>
            </a:pPr>
            <a:r>
              <a:rPr sz="1650" b="0">
                <a:solidFill>
                  <a:srgbClr val="F7F5FF"/>
                </a:solidFill>
                <a:latin typeface="DejaVu Sans"/>
                <a:ea typeface="DejaVu Sans"/>
                <a:cs typeface="DejaVu Sans"/>
              </a:rPr>
              <a:t>1</a:t>
            </a:r>
          </a:p>
        </p:txBody>
      </p:sp>
      <p:sp>
        <p:nvSpPr>
          <p:cNvPr id="14" name="Rectangle 13">
            <a:extLst>
              <a:ext uri="{FF2B5EF4-FFF2-40B4-BE49-F238E27FC236}">
                <a16:creationId xmlns:a16="http://schemas.microsoft.com/office/drawing/2014/main" id="{ACC52FD8-3CC0-4E55-A86B-7AC068DD0A45}"/>
              </a:ext>
            </a:extLst>
          </p:cNvPr>
          <p:cNvSpPr>
            <a:spLocks noGrp="1"/>
          </p:cNvSpPr>
          <p:nvPr/>
        </p:nvSpPr>
        <p:spPr>
          <a:xfrm>
            <a:off x="3657600" y="2190750"/>
            <a:ext cx="952500" cy="428625"/>
          </a:xfrm>
          <a:prstGeom prst="rect">
            <a:avLst/>
          </a:prstGeom>
          <a:noFill/>
          <a:ln w="0">
            <a:noFill/>
          </a:ln>
        </p:spPr>
        <p:txBody>
          <a:bodyPr>
            <a:noAutofit/>
          </a:bodyPr>
          <a:lstStyle/>
          <a:p>
            <a:pPr>
              <a:defRPr sz="1275" b="0">
                <a:solidFill>
                  <a:srgbClr val="C8C3D8"/>
                </a:solidFill>
                <a:latin typeface="DejaVu Sans"/>
                <a:ea typeface="DejaVu Sans"/>
                <a:cs typeface="DejaVu Sans"/>
              </a:defRPr>
            </a:pPr>
            <a:r>
              <a:rPr sz="1275" b="0">
                <a:solidFill>
                  <a:srgbClr val="C8C3D8"/>
                </a:solidFill>
                <a:latin typeface="DejaVu Sans"/>
                <a:ea typeface="DejaVu Sans"/>
                <a:cs typeface="DejaVu Sans"/>
              </a:rPr>
              <a:t>has issues</a:t>
            </a:r>
          </a:p>
        </p:txBody>
      </p:sp>
      <p:sp>
        <p:nvSpPr>
          <p:cNvPr id="15" name="Rectangle 14">
            <a:extLst>
              <a:ext uri="{FF2B5EF4-FFF2-40B4-BE49-F238E27FC236}">
                <a16:creationId xmlns:a16="http://schemas.microsoft.com/office/drawing/2014/main" id="{B38BA38C-78E4-4D4B-8CA9-9FB628595341}"/>
              </a:ext>
            </a:extLst>
          </p:cNvPr>
          <p:cNvSpPr>
            <a:spLocks noGrp="1"/>
          </p:cNvSpPr>
          <p:nvPr/>
        </p:nvSpPr>
        <p:spPr>
          <a:xfrm>
            <a:off x="7639050" y="2190750"/>
            <a:ext cx="923925" cy="428625"/>
          </a:xfrm>
          <a:prstGeom prst="rect">
            <a:avLst/>
          </a:prstGeom>
          <a:noFill/>
          <a:ln w="0">
            <a:noFill/>
          </a:ln>
        </p:spPr>
        <p:txBody>
          <a:bodyPr>
            <a:noAutofit/>
          </a:bodyPr>
          <a:lstStyle/>
          <a:p>
            <a:pPr>
              <a:defRPr sz="1275" b="0">
                <a:solidFill>
                  <a:srgbClr val="C8C3D8"/>
                </a:solidFill>
                <a:latin typeface="DejaVu Sans"/>
                <a:ea typeface="DejaVu Sans"/>
                <a:cs typeface="DejaVu Sans"/>
              </a:defRPr>
            </a:pPr>
            <a:r>
              <a:rPr sz="1275" b="0">
                <a:solidFill>
                  <a:srgbClr val="C8C3D8"/>
                </a:solidFill>
                <a:latin typeface="DejaVu Sans"/>
                <a:ea typeface="DejaVu Sans"/>
                <a:cs typeface="DejaVu Sans"/>
              </a:rPr>
              <a:t>appears in</a:t>
            </a:r>
          </a:p>
        </p:txBody>
      </p:sp>
      <p:sp>
        <p:nvSpPr>
          <p:cNvPr id="16" name="Rectangle 15">
            <a:extLst>
              <a:ext uri="{FF2B5EF4-FFF2-40B4-BE49-F238E27FC236}">
                <a16:creationId xmlns:a16="http://schemas.microsoft.com/office/drawing/2014/main" id="{97F3B4F0-F864-40EA-968C-154070399851}"/>
              </a:ext>
            </a:extLst>
          </p:cNvPr>
          <p:cNvSpPr>
            <a:spLocks noGrp="1"/>
          </p:cNvSpPr>
          <p:nvPr/>
        </p:nvSpPr>
        <p:spPr>
          <a:xfrm>
            <a:off x="571500" y="4886325"/>
            <a:ext cx="10858500" cy="523875"/>
          </a:xfrm>
          <a:prstGeom prst="rect">
            <a:avLst/>
          </a:prstGeom>
          <a:noFill/>
          <a:ln w="0">
            <a:noFill/>
          </a:ln>
        </p:spPr>
        <p:txBody>
          <a:bodyPr>
            <a:noAutofit/>
          </a:bodyPr>
          <a:lstStyle/>
          <a:p>
            <a:pPr>
              <a:defRPr sz="1875" b="0">
                <a:solidFill>
                  <a:srgbClr val="C8C3D8"/>
                </a:solidFill>
                <a:latin typeface="DejaVu Sans"/>
                <a:ea typeface="DejaVu Sans"/>
                <a:cs typeface="DejaVu Sans"/>
              </a:defRPr>
            </a:pPr>
            <a:r>
              <a:rPr sz="1875" b="0">
                <a:solidFill>
                  <a:srgbClr val="C8C3D8"/>
                </a:solidFill>
                <a:latin typeface="DejaVu Sans"/>
                <a:ea typeface="DejaVu Sans"/>
                <a:cs typeface="DejaVu Sans"/>
              </a:rPr>
              <a:t>Conceptual relationships over time. Files do not enforce IDs or relationships.</a:t>
            </a:r>
          </a:p>
        </p:txBody>
      </p:sp>
      <p:sp>
        <p:nvSpPr>
          <p:cNvPr id="17" name="Rectangle 16">
            <a:extLst>
              <a:ext uri="{FF2B5EF4-FFF2-40B4-BE49-F238E27FC236}">
                <a16:creationId xmlns:a16="http://schemas.microsoft.com/office/drawing/2014/main" id="{4A829173-A845-479C-BC02-BF381980B275}"/>
              </a:ext>
            </a:extLst>
          </p:cNvPr>
          <p:cNvSpPr>
            <a:spLocks noGrp="1"/>
          </p:cNvSpPr>
          <p:nvPr/>
        </p:nvSpPr>
        <p:spPr>
          <a:xfrm>
            <a:off x="571500" y="5514975"/>
            <a:ext cx="10668000" cy="428625"/>
          </a:xfrm>
          <a:prstGeom prst="rect">
            <a:avLst/>
          </a:prstGeom>
          <a:noFill/>
          <a:ln w="0">
            <a:noFill/>
          </a:ln>
        </p:spPr>
        <p:txBody>
          <a:bodyPr>
            <a:noAutofit/>
          </a:bodyPr>
          <a:lstStyle/>
          <a:p>
            <a:pPr>
              <a:defRPr sz="1725" b="0">
                <a:solidFill>
                  <a:srgbClr val="C8C3D8"/>
                </a:solidFill>
                <a:latin typeface="DejaVu Sans"/>
                <a:ea typeface="DejaVu Sans"/>
                <a:cs typeface="DejaVu Sans"/>
              </a:defRPr>
            </a:pPr>
            <a:r>
              <a:rPr sz="1725" b="0">
                <a:solidFill>
                  <a:srgbClr val="C8C3D8"/>
                </a:solidFill>
                <a:latin typeface="DejaVu Sans"/>
                <a:ea typeface="DejaVu Sans"/>
                <a:cs typeface="DejaVu Sans"/>
              </a:rPr>
              <a:t>Each issue row stores both user and book details. No unique issue ID exists.</a:t>
            </a:r>
          </a:p>
        </p:txBody>
      </p:sp>
    </p:spTree>
    <p:extLst>
      <p:ext uri="{BB962C8B-B14F-4D97-AF65-F5344CB8AC3E}">
        <p14:creationId xmlns:p14="http://schemas.microsoft.com/office/powerpoint/2010/main" val="2738399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00F22"/>
        </a:solidFill>
        <a:effectLst/>
      </p:bgPr>
    </p:bg>
    <p:spTree>
      <p:nvGrpSpPr>
        <p:cNvPr id="1" name=""/>
        <p:cNvGrpSpPr/>
        <p:nvPr/>
      </p:nvGrpSpPr>
      <p:grpSpPr>
        <a:xfrm>
          <a:off x="0" y="0"/>
          <a:ext cx="0" cy="0"/>
          <a:chOff x="0" y="0"/>
          <a:chExt cx="0" cy="0"/>
        </a:xfrm>
      </p:grpSpPr>
      <p:pic>
        <p:nvPicPr>
          <p:cNvPr id="14" name="Picture 13"/>
          <p:cNvPicPr>
            <a:picLocks noChangeAspect="1"/>
          </p:cNvPicPr>
          <p:nvPr/>
        </p:nvPicPr>
        <p:blipFill>
          <a:blip r:embed="rId3"/>
          <a:stretch/>
        </p:blipFill>
        <p:spPr>
          <a:xfrm>
            <a:off x="3239" y="0"/>
            <a:ext cx="12185522" cy="6858000"/>
          </a:xfrm>
          <a:prstGeom prst="rect">
            <a:avLst/>
          </a:prstGeom>
        </p:spPr>
      </p:pic>
      <p:pic>
        <p:nvPicPr>
          <p:cNvPr id="15" name="Picture 14"/>
          <p:cNvPicPr>
            <a:picLocks noChangeAspect="1"/>
          </p:cNvPicPr>
          <p:nvPr/>
        </p:nvPicPr>
        <p:blipFill>
          <a:blip r:embed="rId4"/>
          <a:stretch/>
        </p:blipFill>
        <p:spPr>
          <a:xfrm>
            <a:off x="4000561" y="1504950"/>
            <a:ext cx="8191379" cy="4610100"/>
          </a:xfrm>
          <a:prstGeom prst="rect">
            <a:avLst/>
          </a:prstGeom>
        </p:spPr>
      </p:pic>
      <p:sp>
        <p:nvSpPr>
          <p:cNvPr id="3" name="Rectangle 2">
            <a:extLst>
              <a:ext uri="{FF2B5EF4-FFF2-40B4-BE49-F238E27FC236}">
                <a16:creationId xmlns:a16="http://schemas.microsoft.com/office/drawing/2014/main" id="{E913185F-D063-48E3-9E96-D76381B326DE}"/>
              </a:ext>
            </a:extLst>
          </p:cNvPr>
          <p:cNvSpPr>
            <a:spLocks noGrp="1"/>
          </p:cNvSpPr>
          <p:nvPr/>
        </p:nvSpPr>
        <p:spPr>
          <a:xfrm>
            <a:off x="571500" y="400050"/>
            <a:ext cx="10953750" cy="762000"/>
          </a:xfrm>
          <a:prstGeom prst="rect">
            <a:avLst/>
          </a:prstGeom>
          <a:noFill/>
          <a:ln w="0">
            <a:noFill/>
          </a:ln>
        </p:spPr>
        <p:txBody>
          <a:bodyPr>
            <a:noAutofit/>
          </a:bodyPr>
          <a:lstStyle/>
          <a:p>
            <a:pPr>
              <a:defRPr sz="3150" b="1">
                <a:solidFill>
                  <a:srgbClr val="D5C2FF"/>
                </a:solidFill>
                <a:latin typeface="DejaVu Sans"/>
                <a:ea typeface="DejaVu Sans"/>
                <a:cs typeface="DejaVu Sans"/>
              </a:defRPr>
            </a:pPr>
            <a:r>
              <a:rPr sz="3150" b="1">
                <a:solidFill>
                  <a:srgbClr val="D5C2FF"/>
                </a:solidFill>
                <a:latin typeface="DejaVu Sans"/>
                <a:ea typeface="DejaVu Sans"/>
                <a:cs typeface="DejaVu Sans"/>
              </a:rPr>
              <a:t>ER diagram: credential boundaries</a:t>
            </a:r>
          </a:p>
        </p:txBody>
      </p:sp>
      <p:pic>
        <p:nvPicPr>
          <p:cNvPr id="17" name="Picture 16"/>
          <p:cNvPicPr>
            <a:picLocks noChangeAspect="1"/>
          </p:cNvPicPr>
          <p:nvPr/>
        </p:nvPicPr>
        <p:blipFill>
          <a:blip r:embed="rId5"/>
          <a:stretch/>
        </p:blipFill>
        <p:spPr>
          <a:xfrm>
            <a:off x="10477500" y="6153873"/>
            <a:ext cx="1143000" cy="570053"/>
          </a:xfrm>
          <a:prstGeom prst="rect">
            <a:avLst/>
          </a:prstGeom>
        </p:spPr>
      </p:pic>
      <p:sp>
        <p:nvSpPr>
          <p:cNvPr id="5" name="Rectangle 4">
            <a:extLst>
              <a:ext uri="{FF2B5EF4-FFF2-40B4-BE49-F238E27FC236}">
                <a16:creationId xmlns:a16="http://schemas.microsoft.com/office/drawing/2014/main" id="{CC480513-B7F7-427F-B2CE-3B25BCB4A6E5}"/>
              </a:ext>
            </a:extLst>
          </p:cNvPr>
          <p:cNvSpPr>
            <a:spLocks noGrp="1"/>
          </p:cNvSpPr>
          <p:nvPr/>
        </p:nvSpPr>
        <p:spPr>
          <a:xfrm>
            <a:off x="571500" y="6162675"/>
            <a:ext cx="857250" cy="457200"/>
          </a:xfrm>
          <a:prstGeom prst="rect">
            <a:avLst/>
          </a:prstGeom>
          <a:noFill/>
          <a:ln w="0">
            <a:noFill/>
          </a:ln>
        </p:spPr>
        <p:txBody>
          <a:bodyPr>
            <a:noAutofit/>
          </a:bodyPr>
          <a:lstStyle/>
          <a:p>
            <a:pPr>
              <a:defRPr sz="2175" b="1">
                <a:solidFill>
                  <a:srgbClr val="D2F66C"/>
                </a:solidFill>
                <a:latin typeface="DejaVu Sans"/>
                <a:ea typeface="DejaVu Sans"/>
                <a:cs typeface="DejaVu Sans"/>
              </a:defRPr>
            </a:pPr>
            <a:r>
              <a:rPr sz="2175" b="1">
                <a:solidFill>
                  <a:srgbClr val="D2F66C"/>
                </a:solidFill>
                <a:latin typeface="DejaVu Sans"/>
                <a:ea typeface="DejaVu Sans"/>
                <a:cs typeface="DejaVu Sans"/>
              </a:rPr>
              <a:t>9</a:t>
            </a:r>
          </a:p>
        </p:txBody>
      </p:sp>
      <p:sp>
        <p:nvSpPr>
          <p:cNvPr id="6" name="Rectangle 5">
            <a:extLst>
              <a:ext uri="{FF2B5EF4-FFF2-40B4-BE49-F238E27FC236}">
                <a16:creationId xmlns:a16="http://schemas.microsoft.com/office/drawing/2014/main" id="{ACE85C3A-22E8-4855-8DD5-727788FE9439}"/>
              </a:ext>
            </a:extLst>
          </p:cNvPr>
          <p:cNvSpPr>
            <a:spLocks noGrp="1"/>
          </p:cNvSpPr>
          <p:nvPr/>
        </p:nvSpPr>
        <p:spPr>
          <a:xfrm>
            <a:off x="609600" y="1485900"/>
            <a:ext cx="7191375" cy="342900"/>
          </a:xfrm>
          <a:prstGeom prst="rect">
            <a:avLst/>
          </a:prstGeom>
          <a:noFill/>
          <a:ln w="0">
            <a:noFill/>
          </a:ln>
        </p:spPr>
        <p:txBody>
          <a:bodyPr>
            <a:noAutofit/>
          </a:bodyPr>
          <a:lstStyle/>
          <a:p>
            <a:pPr>
              <a:defRPr sz="1950" b="1">
                <a:solidFill>
                  <a:srgbClr val="D2F66C"/>
                </a:solidFill>
                <a:latin typeface="DejaVu Sans"/>
                <a:ea typeface="DejaVu Sans"/>
                <a:cs typeface="DejaVu Sans"/>
              </a:defRPr>
            </a:pPr>
            <a:r>
              <a:rPr sz="1950" b="1">
                <a:solidFill>
                  <a:srgbClr val="D2F66C"/>
                </a:solidFill>
                <a:latin typeface="DejaVu Sans"/>
                <a:ea typeface="DejaVu Sans"/>
                <a:cs typeface="DejaVu Sans"/>
              </a:rPr>
              <a:t>USER CREDENTIAL</a:t>
            </a:r>
          </a:p>
        </p:txBody>
      </p:sp>
      <p:sp>
        <p:nvSpPr>
          <p:cNvPr id="7" name="Rectangle 6">
            <a:extLst>
              <a:ext uri="{FF2B5EF4-FFF2-40B4-BE49-F238E27FC236}">
                <a16:creationId xmlns:a16="http://schemas.microsoft.com/office/drawing/2014/main" id="{D32CB77A-B9E7-4054-AF21-1DD7ADF69C4C}"/>
              </a:ext>
            </a:extLst>
          </p:cNvPr>
          <p:cNvSpPr>
            <a:spLocks noGrp="1"/>
          </p:cNvSpPr>
          <p:nvPr/>
        </p:nvSpPr>
        <p:spPr>
          <a:xfrm>
            <a:off x="609600" y="1866900"/>
            <a:ext cx="7191375" cy="762000"/>
          </a:xfrm>
          <a:prstGeom prst="rect">
            <a:avLst/>
          </a:prstGeom>
          <a:noFill/>
          <a:ln w="0">
            <a:noFill/>
          </a:ln>
        </p:spPr>
        <p:txBody>
          <a:bodyPr>
            <a:noAutofit/>
          </a:bodyPr>
          <a:lstStyle/>
          <a:p>
            <a:pPr>
              <a:defRPr sz="1725" b="0">
                <a:solidFill>
                  <a:srgbClr val="C8C3D8"/>
                </a:solidFill>
                <a:latin typeface="DejaVu Sans"/>
                <a:ea typeface="DejaVu Sans"/>
                <a:cs typeface="DejaVu Sans"/>
              </a:defRPr>
            </a:pPr>
            <a:r>
              <a:rPr sz="1725" b="0">
                <a:solidFill>
                  <a:srgbClr val="C8C3D8"/>
                </a:solidFill>
                <a:latin typeface="DejaVu Sans"/>
                <a:ea typeface="DejaVu Sans"/>
                <a:cs typeface="DejaVu Sans"/>
              </a:rPr>
              <a:t>username[30] and password[30], stored in users.bin.</a:t>
            </a:r>
          </a:p>
        </p:txBody>
      </p:sp>
      <p:sp>
        <p:nvSpPr>
          <p:cNvPr id="8" name="Rectangle 7">
            <a:extLst>
              <a:ext uri="{FF2B5EF4-FFF2-40B4-BE49-F238E27FC236}">
                <a16:creationId xmlns:a16="http://schemas.microsoft.com/office/drawing/2014/main" id="{05F63AF7-1D63-4CEC-958E-B663DB02774C}"/>
              </a:ext>
            </a:extLst>
          </p:cNvPr>
          <p:cNvSpPr>
            <a:spLocks noGrp="1"/>
          </p:cNvSpPr>
          <p:nvPr/>
        </p:nvSpPr>
        <p:spPr>
          <a:xfrm>
            <a:off x="609600" y="2609850"/>
            <a:ext cx="7191375" cy="342900"/>
          </a:xfrm>
          <a:prstGeom prst="rect">
            <a:avLst/>
          </a:prstGeom>
          <a:noFill/>
          <a:ln w="0">
            <a:noFill/>
          </a:ln>
        </p:spPr>
        <p:txBody>
          <a:bodyPr>
            <a:noAutofit/>
          </a:bodyPr>
          <a:lstStyle/>
          <a:p>
            <a:pPr>
              <a:defRPr sz="1950" b="1">
                <a:solidFill>
                  <a:srgbClr val="D2F66C"/>
                </a:solidFill>
                <a:latin typeface="DejaVu Sans"/>
                <a:ea typeface="DejaVu Sans"/>
                <a:cs typeface="DejaVu Sans"/>
              </a:defRPr>
            </a:pPr>
            <a:r>
              <a:rPr sz="1950" b="1">
                <a:solidFill>
                  <a:srgbClr val="D2F66C"/>
                </a:solidFill>
                <a:latin typeface="DejaVu Sans"/>
                <a:ea typeface="DejaVu Sans"/>
                <a:cs typeface="DejaVu Sans"/>
              </a:rPr>
              <a:t>ADMIN CREDENTIAL</a:t>
            </a:r>
          </a:p>
        </p:txBody>
      </p:sp>
      <p:sp>
        <p:nvSpPr>
          <p:cNvPr id="9" name="Rectangle 8">
            <a:extLst>
              <a:ext uri="{FF2B5EF4-FFF2-40B4-BE49-F238E27FC236}">
                <a16:creationId xmlns:a16="http://schemas.microsoft.com/office/drawing/2014/main" id="{1179AA8C-A0FF-42E4-9817-809B37F085BC}"/>
              </a:ext>
            </a:extLst>
          </p:cNvPr>
          <p:cNvSpPr>
            <a:spLocks noGrp="1"/>
          </p:cNvSpPr>
          <p:nvPr/>
        </p:nvSpPr>
        <p:spPr>
          <a:xfrm>
            <a:off x="609600" y="2990850"/>
            <a:ext cx="7191375" cy="762000"/>
          </a:xfrm>
          <a:prstGeom prst="rect">
            <a:avLst/>
          </a:prstGeom>
          <a:noFill/>
          <a:ln w="0">
            <a:noFill/>
          </a:ln>
        </p:spPr>
        <p:txBody>
          <a:bodyPr>
            <a:noAutofit/>
          </a:bodyPr>
          <a:lstStyle/>
          <a:p>
            <a:pPr>
              <a:defRPr sz="1725" b="0">
                <a:solidFill>
                  <a:srgbClr val="C8C3D8"/>
                </a:solidFill>
                <a:latin typeface="DejaVu Sans"/>
                <a:ea typeface="DejaVu Sans"/>
                <a:cs typeface="DejaVu Sans"/>
              </a:defRPr>
            </a:pPr>
            <a:r>
              <a:rPr sz="1725" b="0">
                <a:solidFill>
                  <a:srgbClr val="C8C3D8"/>
                </a:solidFill>
                <a:latin typeface="DejaVu Sans"/>
                <a:ea typeface="DejaVu Sans"/>
                <a:cs typeface="DejaVu Sans"/>
              </a:rPr>
              <a:t>username[30] and password[30], stored separately in admin.bin.</a:t>
            </a:r>
          </a:p>
        </p:txBody>
      </p:sp>
      <p:sp>
        <p:nvSpPr>
          <p:cNvPr id="10" name="Rectangle 9">
            <a:extLst>
              <a:ext uri="{FF2B5EF4-FFF2-40B4-BE49-F238E27FC236}">
                <a16:creationId xmlns:a16="http://schemas.microsoft.com/office/drawing/2014/main" id="{DA5D50AB-C1F7-4F39-8534-9AE4811AABB3}"/>
              </a:ext>
            </a:extLst>
          </p:cNvPr>
          <p:cNvSpPr>
            <a:spLocks noGrp="1"/>
          </p:cNvSpPr>
          <p:nvPr/>
        </p:nvSpPr>
        <p:spPr>
          <a:xfrm>
            <a:off x="609600" y="3733800"/>
            <a:ext cx="7191375" cy="342900"/>
          </a:xfrm>
          <a:prstGeom prst="rect">
            <a:avLst/>
          </a:prstGeom>
          <a:noFill/>
          <a:ln w="0">
            <a:noFill/>
          </a:ln>
        </p:spPr>
        <p:txBody>
          <a:bodyPr>
            <a:noAutofit/>
          </a:bodyPr>
          <a:lstStyle/>
          <a:p>
            <a:pPr>
              <a:defRPr sz="1950" b="1">
                <a:solidFill>
                  <a:srgbClr val="D2F66C"/>
                </a:solidFill>
                <a:latin typeface="DejaVu Sans"/>
                <a:ea typeface="DejaVu Sans"/>
                <a:cs typeface="DejaVu Sans"/>
              </a:defRPr>
            </a:pPr>
            <a:r>
              <a:rPr sz="1950" b="1">
                <a:solidFill>
                  <a:srgbClr val="D2F66C"/>
                </a:solidFill>
                <a:latin typeface="DejaVu Sans"/>
                <a:ea typeface="DejaVu Sans"/>
                <a:cs typeface="DejaVu Sans"/>
              </a:rPr>
              <a:t>No saved account-to-member link</a:t>
            </a:r>
          </a:p>
        </p:txBody>
      </p:sp>
      <p:sp>
        <p:nvSpPr>
          <p:cNvPr id="11" name="Rectangle 10">
            <a:extLst>
              <a:ext uri="{FF2B5EF4-FFF2-40B4-BE49-F238E27FC236}">
                <a16:creationId xmlns:a16="http://schemas.microsoft.com/office/drawing/2014/main" id="{1C00B06C-9EEB-4AC6-B37D-4B1C6C1618EF}"/>
              </a:ext>
            </a:extLst>
          </p:cNvPr>
          <p:cNvSpPr>
            <a:spLocks noGrp="1"/>
          </p:cNvSpPr>
          <p:nvPr/>
        </p:nvSpPr>
        <p:spPr>
          <a:xfrm>
            <a:off x="609600" y="4114800"/>
            <a:ext cx="7191375" cy="762000"/>
          </a:xfrm>
          <a:prstGeom prst="rect">
            <a:avLst/>
          </a:prstGeom>
          <a:noFill/>
          <a:ln w="0">
            <a:noFill/>
          </a:ln>
        </p:spPr>
        <p:txBody>
          <a:bodyPr>
            <a:noAutofit/>
          </a:bodyPr>
          <a:lstStyle/>
          <a:p>
            <a:pPr>
              <a:defRPr sz="1725" b="0">
                <a:solidFill>
                  <a:srgbClr val="C8C3D8"/>
                </a:solidFill>
                <a:latin typeface="DejaVu Sans"/>
                <a:ea typeface="DejaVu Sans"/>
                <a:cs typeface="DejaVu Sans"/>
              </a:defRPr>
            </a:pPr>
            <a:r>
              <a:rPr sz="1725" b="0">
                <a:solidFill>
                  <a:srgbClr val="C8C3D8"/>
                </a:solidFill>
                <a:latin typeface="DejaVu Sans"/>
                <a:ea typeface="DejaVu Sans"/>
                <a:cs typeface="DejaVu Sans"/>
              </a:rPr>
              <a:t>users.bin contains no uid. userdetails.txt contains no login username.</a:t>
            </a:r>
          </a:p>
        </p:txBody>
      </p:sp>
      <p:sp>
        <p:nvSpPr>
          <p:cNvPr id="12" name="Rectangle 11">
            <a:extLst>
              <a:ext uri="{FF2B5EF4-FFF2-40B4-BE49-F238E27FC236}">
                <a16:creationId xmlns:a16="http://schemas.microsoft.com/office/drawing/2014/main" id="{5FA97E69-E50F-42C4-8235-1E8996B691DC}"/>
              </a:ext>
            </a:extLst>
          </p:cNvPr>
          <p:cNvSpPr>
            <a:spLocks noGrp="1"/>
          </p:cNvSpPr>
          <p:nvPr/>
        </p:nvSpPr>
        <p:spPr>
          <a:xfrm>
            <a:off x="609600" y="4857750"/>
            <a:ext cx="7191375" cy="342900"/>
          </a:xfrm>
          <a:prstGeom prst="rect">
            <a:avLst/>
          </a:prstGeom>
          <a:noFill/>
          <a:ln w="0">
            <a:noFill/>
          </a:ln>
        </p:spPr>
        <p:txBody>
          <a:bodyPr>
            <a:noAutofit/>
          </a:bodyPr>
          <a:lstStyle/>
          <a:p>
            <a:pPr>
              <a:defRPr sz="1950" b="1">
                <a:solidFill>
                  <a:srgbClr val="D2F66C"/>
                </a:solidFill>
                <a:latin typeface="DejaVu Sans"/>
                <a:ea typeface="DejaVu Sans"/>
                <a:cs typeface="DejaVu Sans"/>
              </a:defRPr>
            </a:pPr>
            <a:r>
              <a:rPr sz="1950" b="1">
                <a:solidFill>
                  <a:srgbClr val="D2F66C"/>
                </a:solidFill>
                <a:latin typeface="DejaVu Sans"/>
                <a:ea typeface="DejaVu Sans"/>
                <a:cs typeface="DejaVu Sans"/>
              </a:rPr>
              <a:t>Design implication</a:t>
            </a:r>
          </a:p>
        </p:txBody>
      </p:sp>
      <p:sp>
        <p:nvSpPr>
          <p:cNvPr id="13" name="Rectangle 12">
            <a:extLst>
              <a:ext uri="{FF2B5EF4-FFF2-40B4-BE49-F238E27FC236}">
                <a16:creationId xmlns:a16="http://schemas.microsoft.com/office/drawing/2014/main" id="{D22C337C-203B-4FBC-92D5-9FD8024A1E21}"/>
              </a:ext>
            </a:extLst>
          </p:cNvPr>
          <p:cNvSpPr>
            <a:spLocks noGrp="1"/>
          </p:cNvSpPr>
          <p:nvPr/>
        </p:nvSpPr>
        <p:spPr>
          <a:xfrm>
            <a:off x="609600" y="5238750"/>
            <a:ext cx="7191375" cy="762000"/>
          </a:xfrm>
          <a:prstGeom prst="rect">
            <a:avLst/>
          </a:prstGeom>
          <a:noFill/>
          <a:ln w="0">
            <a:noFill/>
          </a:ln>
        </p:spPr>
        <p:txBody>
          <a:bodyPr>
            <a:noAutofit/>
          </a:bodyPr>
          <a:lstStyle/>
          <a:p>
            <a:pPr>
              <a:defRPr sz="1725" b="0">
                <a:solidFill>
                  <a:srgbClr val="C8C3D8"/>
                </a:solidFill>
                <a:latin typeface="DejaVu Sans"/>
                <a:ea typeface="DejaVu Sans"/>
                <a:cs typeface="DejaVu Sans"/>
              </a:defRPr>
            </a:pPr>
            <a:r>
              <a:rPr sz="1725" b="0">
                <a:solidFill>
                  <a:srgbClr val="C8C3D8"/>
                </a:solidFill>
                <a:latin typeface="DejaVu Sans"/>
                <a:ea typeface="DejaVu Sans"/>
                <a:cs typeface="DejaVu Sans"/>
              </a:rPr>
              <a:t>The logged-in account is not tied to the user ID entered when issuing a book.</a:t>
            </a:r>
          </a:p>
        </p:txBody>
      </p:sp>
    </p:spTree>
    <p:extLst>
      <p:ext uri="{BB962C8B-B14F-4D97-AF65-F5344CB8AC3E}">
        <p14:creationId xmlns:p14="http://schemas.microsoft.com/office/powerpoint/2010/main" val="17080630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00F22"/>
        </a:solidFill>
        <a:effectLst/>
      </p:bgPr>
    </p:bg>
    <p:spTree>
      <p:nvGrpSpPr>
        <p:cNvPr id="1" name=""/>
        <p:cNvGrpSpPr/>
        <p:nvPr/>
      </p:nvGrpSpPr>
      <p:grpSpPr>
        <a:xfrm>
          <a:off x="0" y="0"/>
          <a:ext cx="0" cy="0"/>
          <a:chOff x="0" y="0"/>
          <a:chExt cx="0" cy="0"/>
        </a:xfrm>
      </p:grpSpPr>
      <p:pic>
        <p:nvPicPr>
          <p:cNvPr id="28" name="Picture 27"/>
          <p:cNvPicPr>
            <a:picLocks noChangeAspect="1"/>
          </p:cNvPicPr>
          <p:nvPr/>
        </p:nvPicPr>
        <p:blipFill>
          <a:blip r:embed="rId3"/>
          <a:stretch/>
        </p:blipFill>
        <p:spPr>
          <a:xfrm>
            <a:off x="3239" y="0"/>
            <a:ext cx="12185522" cy="6858000"/>
          </a:xfrm>
          <a:prstGeom prst="rect">
            <a:avLst/>
          </a:prstGeom>
        </p:spPr>
      </p:pic>
      <p:sp>
        <p:nvSpPr>
          <p:cNvPr id="2" name="Rectangle 1">
            <a:extLst>
              <a:ext uri="{FF2B5EF4-FFF2-40B4-BE49-F238E27FC236}">
                <a16:creationId xmlns:a16="http://schemas.microsoft.com/office/drawing/2014/main" id="{B1DAF46D-61FC-4218-ABC2-08298191BAB1}"/>
              </a:ext>
            </a:extLst>
          </p:cNvPr>
          <p:cNvSpPr>
            <a:spLocks noGrp="1"/>
          </p:cNvSpPr>
          <p:nvPr/>
        </p:nvSpPr>
        <p:spPr>
          <a:xfrm>
            <a:off x="571500" y="400050"/>
            <a:ext cx="10953750" cy="762000"/>
          </a:xfrm>
          <a:prstGeom prst="rect">
            <a:avLst/>
          </a:prstGeom>
          <a:noFill/>
          <a:ln w="0">
            <a:noFill/>
          </a:ln>
        </p:spPr>
        <p:txBody>
          <a:bodyPr>
            <a:noAutofit/>
          </a:bodyPr>
          <a:lstStyle/>
          <a:p>
            <a:pPr>
              <a:defRPr sz="3150" b="1">
                <a:solidFill>
                  <a:srgbClr val="D5C2FF"/>
                </a:solidFill>
                <a:latin typeface="DejaVu Sans"/>
                <a:ea typeface="DejaVu Sans"/>
                <a:cs typeface="DejaVu Sans"/>
              </a:defRPr>
            </a:pPr>
            <a:r>
              <a:rPr sz="3150" b="1">
                <a:solidFill>
                  <a:srgbClr val="D5C2FF"/>
                </a:solidFill>
                <a:latin typeface="DejaVu Sans"/>
                <a:ea typeface="DejaVu Sans"/>
                <a:cs typeface="DejaVu Sans"/>
              </a:rPr>
              <a:t>User process flow</a:t>
            </a:r>
          </a:p>
        </p:txBody>
      </p:sp>
      <p:pic>
        <p:nvPicPr>
          <p:cNvPr id="30" name="Picture 29"/>
          <p:cNvPicPr>
            <a:picLocks noChangeAspect="1"/>
          </p:cNvPicPr>
          <p:nvPr/>
        </p:nvPicPr>
        <p:blipFill>
          <a:blip r:embed="rId4"/>
          <a:stretch/>
        </p:blipFill>
        <p:spPr>
          <a:xfrm>
            <a:off x="10477500" y="6153873"/>
            <a:ext cx="1143000" cy="570053"/>
          </a:xfrm>
          <a:prstGeom prst="rect">
            <a:avLst/>
          </a:prstGeom>
        </p:spPr>
      </p:pic>
      <p:sp>
        <p:nvSpPr>
          <p:cNvPr id="4" name="Rectangle 3">
            <a:extLst>
              <a:ext uri="{FF2B5EF4-FFF2-40B4-BE49-F238E27FC236}">
                <a16:creationId xmlns:a16="http://schemas.microsoft.com/office/drawing/2014/main" id="{F630C7B6-07B7-4776-9FA1-EEA1533B3442}"/>
              </a:ext>
            </a:extLst>
          </p:cNvPr>
          <p:cNvSpPr>
            <a:spLocks noGrp="1"/>
          </p:cNvSpPr>
          <p:nvPr/>
        </p:nvSpPr>
        <p:spPr>
          <a:xfrm>
            <a:off x="571500" y="6162675"/>
            <a:ext cx="857250" cy="457200"/>
          </a:xfrm>
          <a:prstGeom prst="rect">
            <a:avLst/>
          </a:prstGeom>
          <a:noFill/>
          <a:ln w="0">
            <a:noFill/>
          </a:ln>
        </p:spPr>
        <p:txBody>
          <a:bodyPr>
            <a:noAutofit/>
          </a:bodyPr>
          <a:lstStyle/>
          <a:p>
            <a:pPr>
              <a:defRPr sz="2175" b="1">
                <a:solidFill>
                  <a:srgbClr val="D2F66C"/>
                </a:solidFill>
                <a:latin typeface="DejaVu Sans"/>
                <a:ea typeface="DejaVu Sans"/>
                <a:cs typeface="DejaVu Sans"/>
              </a:defRPr>
            </a:pPr>
            <a:r>
              <a:rPr sz="2175" b="1">
                <a:solidFill>
                  <a:srgbClr val="D2F66C"/>
                </a:solidFill>
                <a:latin typeface="DejaVu Sans"/>
                <a:ea typeface="DejaVu Sans"/>
                <a:cs typeface="DejaVu Sans"/>
              </a:rPr>
              <a:t>10</a:t>
            </a:r>
          </a:p>
        </p:txBody>
      </p:sp>
      <p:sp>
        <p:nvSpPr>
          <p:cNvPr id="5" name="Rectangle: Rounded Corners 4">
            <a:extLst>
              <a:ext uri="{FF2B5EF4-FFF2-40B4-BE49-F238E27FC236}">
                <a16:creationId xmlns:a16="http://schemas.microsoft.com/office/drawing/2014/main" id="{B33091F7-0126-4D7E-8FDF-B22725E090D7}"/>
              </a:ext>
            </a:extLst>
          </p:cNvPr>
          <p:cNvSpPr>
            <a:spLocks noGrp="1"/>
          </p:cNvSpPr>
          <p:nvPr/>
        </p:nvSpPr>
        <p:spPr>
          <a:xfrm>
            <a:off x="4381500" y="1285875"/>
            <a:ext cx="2857500" cy="476250"/>
          </a:xfrm>
          <a:prstGeom prst="roundRect">
            <a:avLst>
              <a:gd name="adj" fmla="val 16000"/>
            </a:avLst>
          </a:prstGeom>
          <a:solidFill>
            <a:srgbClr val="262139"/>
          </a:solidFill>
          <a:ln w="19050">
            <a:solidFill>
              <a:srgbClr val="AA89ED"/>
            </a:solidFill>
          </a:ln>
        </p:spPr>
        <p:txBody>
          <a:bodyPr anchor="ctr">
            <a:noAutofit/>
          </a:bodyPr>
          <a:lstStyle/>
          <a:p>
            <a:pPr algn="ctr">
              <a:defRPr sz="1575">
                <a:solidFill>
                  <a:srgbClr val="F7F5FF"/>
                </a:solidFill>
                <a:latin typeface="DejaVu Sans"/>
                <a:ea typeface="DejaVu Sans"/>
                <a:cs typeface="DejaVu Sans"/>
              </a:defRPr>
            </a:pPr>
            <a:r>
              <a:rPr sz="1575">
                <a:solidFill>
                  <a:srgbClr val="F7F5FF"/>
                </a:solidFill>
                <a:latin typeface="DejaVu Sans"/>
                <a:ea typeface="DejaVu Sans"/>
                <a:cs typeface="DejaVu Sans"/>
              </a:rPr>
              <a:t>Main menu: User</a:t>
            </a:r>
          </a:p>
        </p:txBody>
      </p:sp>
      <p:sp>
        <p:nvSpPr>
          <p:cNvPr id="6" name="Diamond 5">
            <a:extLst>
              <a:ext uri="{FF2B5EF4-FFF2-40B4-BE49-F238E27FC236}">
                <a16:creationId xmlns:a16="http://schemas.microsoft.com/office/drawing/2014/main" id="{E3EF3A27-2450-4DD5-BBD9-098DA8D43466}"/>
              </a:ext>
            </a:extLst>
          </p:cNvPr>
          <p:cNvSpPr>
            <a:spLocks noGrp="1"/>
          </p:cNvSpPr>
          <p:nvPr/>
        </p:nvSpPr>
        <p:spPr>
          <a:xfrm>
            <a:off x="4524375" y="2095500"/>
            <a:ext cx="2571750" cy="714375"/>
          </a:xfrm>
          <a:prstGeom prst="diamond">
            <a:avLst/>
          </a:prstGeom>
          <a:solidFill>
            <a:srgbClr val="262139"/>
          </a:solidFill>
          <a:ln w="19050">
            <a:solidFill>
              <a:srgbClr val="AA89ED"/>
            </a:solidFill>
          </a:ln>
        </p:spPr>
        <p:txBody>
          <a:bodyPr anchor="ctr">
            <a:noAutofit/>
          </a:bodyPr>
          <a:lstStyle/>
          <a:p>
            <a:pPr algn="ctr">
              <a:defRPr sz="1575">
                <a:solidFill>
                  <a:srgbClr val="F7F5FF"/>
                </a:solidFill>
                <a:latin typeface="DejaVu Sans"/>
                <a:ea typeface="DejaVu Sans"/>
                <a:cs typeface="DejaVu Sans"/>
              </a:defRPr>
            </a:pPr>
            <a:r>
              <a:rPr sz="1575">
                <a:solidFill>
                  <a:srgbClr val="F7F5FF"/>
                </a:solidFill>
                <a:latin typeface="DejaVu Sans"/>
                <a:ea typeface="DejaVu Sans"/>
                <a:cs typeface="DejaVu Sans"/>
              </a:rPr>
              <a:t>New or existing?</a:t>
            </a:r>
          </a:p>
        </p:txBody>
      </p:sp>
      <p:sp>
        <p:nvSpPr>
          <p:cNvPr id="7" name="Rectangle 6">
            <a:extLst>
              <a:ext uri="{FF2B5EF4-FFF2-40B4-BE49-F238E27FC236}">
                <a16:creationId xmlns:a16="http://schemas.microsoft.com/office/drawing/2014/main" id="{7AAA4287-1A8E-46E2-B663-3C7ADC5325C5}"/>
              </a:ext>
            </a:extLst>
          </p:cNvPr>
          <p:cNvSpPr>
            <a:spLocks noGrp="1"/>
          </p:cNvSpPr>
          <p:nvPr/>
        </p:nvSpPr>
        <p:spPr>
          <a:xfrm>
            <a:off x="571500" y="2190750"/>
            <a:ext cx="2857500" cy="762000"/>
          </a:xfrm>
          <a:prstGeom prst="rect">
            <a:avLst/>
          </a:prstGeom>
          <a:solidFill>
            <a:srgbClr val="262139"/>
          </a:solidFill>
          <a:ln w="19050">
            <a:solidFill>
              <a:srgbClr val="AA89ED"/>
            </a:solidFill>
          </a:ln>
        </p:spPr>
        <p:txBody>
          <a:bodyPr anchor="ctr">
            <a:noAutofit/>
          </a:bodyPr>
          <a:lstStyle/>
          <a:p>
            <a:pPr algn="ctr">
              <a:defRPr sz="1575">
                <a:solidFill>
                  <a:srgbClr val="F7F5FF"/>
                </a:solidFill>
                <a:latin typeface="DejaVu Sans"/>
                <a:ea typeface="DejaVu Sans"/>
                <a:cs typeface="DejaVu Sans"/>
              </a:defRPr>
            </a:pPr>
            <a:r>
              <a:rPr sz="1575">
                <a:solidFill>
                  <a:srgbClr val="F7F5FF"/>
                </a:solidFill>
                <a:latin typeface="DejaVu Sans"/>
                <a:ea typeface="DejaVu Sans"/>
                <a:cs typeface="DejaVu Sans"/>
              </a:rPr>
              <a:t>New user</a:t>
            </a:r>
          </a:p>
          <a:p>
            <a:pPr algn="ctr">
              <a:defRPr sz="1575">
                <a:solidFill>
                  <a:srgbClr val="F7F5FF"/>
                </a:solidFill>
                <a:latin typeface="DejaVu Sans"/>
                <a:ea typeface="DejaVu Sans"/>
                <a:cs typeface="DejaVu Sans"/>
              </a:defRPr>
            </a:pPr>
            <a:r>
              <a:rPr sz="1575">
                <a:solidFill>
                  <a:srgbClr val="F7F5FF"/>
                </a:solidFill>
                <a:latin typeface="DejaVu Sans"/>
                <a:ea typeface="DejaVu Sans"/>
                <a:cs typeface="DejaVu Sans"/>
              </a:rPr>
              <a:t>Save credentials + details</a:t>
            </a:r>
          </a:p>
        </p:txBody>
      </p:sp>
      <p:sp>
        <p:nvSpPr>
          <p:cNvPr id="8" name="Rectangle 7">
            <a:extLst>
              <a:ext uri="{FF2B5EF4-FFF2-40B4-BE49-F238E27FC236}">
                <a16:creationId xmlns:a16="http://schemas.microsoft.com/office/drawing/2014/main" id="{EDA4212E-A710-4F5E-A98E-9A6E0F65DED2}"/>
              </a:ext>
            </a:extLst>
          </p:cNvPr>
          <p:cNvSpPr>
            <a:spLocks noGrp="1"/>
          </p:cNvSpPr>
          <p:nvPr/>
        </p:nvSpPr>
        <p:spPr>
          <a:xfrm>
            <a:off x="8572500" y="2190750"/>
            <a:ext cx="2857500" cy="762000"/>
          </a:xfrm>
          <a:prstGeom prst="rect">
            <a:avLst/>
          </a:prstGeom>
          <a:solidFill>
            <a:srgbClr val="262139"/>
          </a:solidFill>
          <a:ln w="19050">
            <a:solidFill>
              <a:srgbClr val="AA89ED"/>
            </a:solidFill>
          </a:ln>
        </p:spPr>
        <p:txBody>
          <a:bodyPr anchor="ctr">
            <a:noAutofit/>
          </a:bodyPr>
          <a:lstStyle/>
          <a:p>
            <a:pPr algn="ctr">
              <a:defRPr sz="1575">
                <a:solidFill>
                  <a:srgbClr val="F7F5FF"/>
                </a:solidFill>
                <a:latin typeface="DejaVu Sans"/>
                <a:ea typeface="DejaVu Sans"/>
                <a:cs typeface="DejaVu Sans"/>
              </a:defRPr>
            </a:pPr>
            <a:r>
              <a:rPr sz="1575">
                <a:solidFill>
                  <a:srgbClr val="F7F5FF"/>
                </a:solidFill>
                <a:latin typeface="DejaVu Sans"/>
                <a:ea typeface="DejaVu Sans"/>
                <a:cs typeface="DejaVu Sans"/>
              </a:rPr>
              <a:t>Login</a:t>
            </a:r>
          </a:p>
          <a:p>
            <a:pPr algn="ctr">
              <a:defRPr sz="1575">
                <a:solidFill>
                  <a:srgbClr val="F7F5FF"/>
                </a:solidFill>
                <a:latin typeface="DejaVu Sans"/>
                <a:ea typeface="DejaVu Sans"/>
                <a:cs typeface="DejaVu Sans"/>
              </a:defRPr>
            </a:pPr>
            <a:r>
              <a:rPr sz="1575">
                <a:solidFill>
                  <a:srgbClr val="F7F5FF"/>
                </a:solidFill>
                <a:latin typeface="DejaVu Sans"/>
                <a:ea typeface="DejaVu Sans"/>
                <a:cs typeface="DejaVu Sans"/>
              </a:rPr>
              <a:t>Read users.bin</a:t>
            </a:r>
          </a:p>
        </p:txBody>
      </p:sp>
      <p:sp>
        <p:nvSpPr>
          <p:cNvPr id="9" name="Diamond 8">
            <a:extLst>
              <a:ext uri="{FF2B5EF4-FFF2-40B4-BE49-F238E27FC236}">
                <a16:creationId xmlns:a16="http://schemas.microsoft.com/office/drawing/2014/main" id="{FC835BB7-9568-4A76-8CE5-C2D1D398EF28}"/>
              </a:ext>
            </a:extLst>
          </p:cNvPr>
          <p:cNvSpPr>
            <a:spLocks noGrp="1"/>
          </p:cNvSpPr>
          <p:nvPr/>
        </p:nvSpPr>
        <p:spPr>
          <a:xfrm>
            <a:off x="8858250" y="3476625"/>
            <a:ext cx="2238375" cy="742950"/>
          </a:xfrm>
          <a:prstGeom prst="diamond">
            <a:avLst/>
          </a:prstGeom>
          <a:solidFill>
            <a:srgbClr val="262139"/>
          </a:solidFill>
          <a:ln w="19050">
            <a:solidFill>
              <a:srgbClr val="AA89ED"/>
            </a:solidFill>
          </a:ln>
        </p:spPr>
        <p:txBody>
          <a:bodyPr anchor="ctr">
            <a:noAutofit/>
          </a:bodyPr>
          <a:lstStyle/>
          <a:p>
            <a:pPr algn="ctr">
              <a:defRPr sz="1575">
                <a:solidFill>
                  <a:srgbClr val="F7F5FF"/>
                </a:solidFill>
                <a:latin typeface="DejaVu Sans"/>
                <a:ea typeface="DejaVu Sans"/>
                <a:cs typeface="DejaVu Sans"/>
              </a:defRPr>
            </a:pPr>
            <a:r>
              <a:rPr sz="1575">
                <a:solidFill>
                  <a:srgbClr val="F7F5FF"/>
                </a:solidFill>
                <a:latin typeface="DejaVu Sans"/>
                <a:ea typeface="DejaVu Sans"/>
                <a:cs typeface="DejaVu Sans"/>
              </a:rPr>
              <a:t>Match?</a:t>
            </a:r>
          </a:p>
        </p:txBody>
      </p:sp>
      <p:sp>
        <p:nvSpPr>
          <p:cNvPr id="10" name="Rectangle 9">
            <a:extLst>
              <a:ext uri="{FF2B5EF4-FFF2-40B4-BE49-F238E27FC236}">
                <a16:creationId xmlns:a16="http://schemas.microsoft.com/office/drawing/2014/main" id="{5E31BBEE-C9C2-4A15-A00C-4FC95B12FB84}"/>
              </a:ext>
            </a:extLst>
          </p:cNvPr>
          <p:cNvSpPr>
            <a:spLocks noGrp="1"/>
          </p:cNvSpPr>
          <p:nvPr/>
        </p:nvSpPr>
        <p:spPr>
          <a:xfrm>
            <a:off x="4476750" y="3562350"/>
            <a:ext cx="2857500" cy="619125"/>
          </a:xfrm>
          <a:prstGeom prst="rect">
            <a:avLst/>
          </a:prstGeom>
          <a:solidFill>
            <a:srgbClr val="262139"/>
          </a:solidFill>
          <a:ln w="19050">
            <a:solidFill>
              <a:srgbClr val="AA89ED"/>
            </a:solidFill>
          </a:ln>
        </p:spPr>
        <p:txBody>
          <a:bodyPr anchor="ctr">
            <a:noAutofit/>
          </a:bodyPr>
          <a:lstStyle/>
          <a:p>
            <a:pPr algn="ctr">
              <a:defRPr sz="1575">
                <a:solidFill>
                  <a:srgbClr val="F7F5FF"/>
                </a:solidFill>
                <a:latin typeface="DejaVu Sans"/>
                <a:ea typeface="DejaVu Sans"/>
                <a:cs typeface="DejaVu Sans"/>
              </a:defRPr>
            </a:pPr>
            <a:r>
              <a:rPr sz="1575">
                <a:solidFill>
                  <a:srgbClr val="F7F5FF"/>
                </a:solidFill>
                <a:latin typeface="DejaVu Sans"/>
                <a:ea typeface="DejaVu Sans"/>
                <a:cs typeface="DejaVu Sans"/>
              </a:rPr>
              <a:t>User operations</a:t>
            </a:r>
          </a:p>
        </p:txBody>
      </p:sp>
      <p:sp>
        <p:nvSpPr>
          <p:cNvPr id="11" name="Rectangle: Rounded Corners 10">
            <a:extLst>
              <a:ext uri="{FF2B5EF4-FFF2-40B4-BE49-F238E27FC236}">
                <a16:creationId xmlns:a16="http://schemas.microsoft.com/office/drawing/2014/main" id="{61F65CF1-B337-4B96-B7BA-795976A8AEA2}"/>
              </a:ext>
            </a:extLst>
          </p:cNvPr>
          <p:cNvSpPr>
            <a:spLocks noGrp="1"/>
          </p:cNvSpPr>
          <p:nvPr/>
        </p:nvSpPr>
        <p:spPr>
          <a:xfrm>
            <a:off x="8858250" y="5086350"/>
            <a:ext cx="2571750" cy="619125"/>
          </a:xfrm>
          <a:prstGeom prst="roundRect">
            <a:avLst>
              <a:gd name="adj" fmla="val 12308"/>
            </a:avLst>
          </a:prstGeom>
          <a:solidFill>
            <a:srgbClr val="262139"/>
          </a:solidFill>
          <a:ln w="19050">
            <a:solidFill>
              <a:srgbClr val="AA89ED"/>
            </a:solidFill>
          </a:ln>
        </p:spPr>
        <p:txBody>
          <a:bodyPr anchor="ctr">
            <a:noAutofit/>
          </a:bodyPr>
          <a:lstStyle/>
          <a:p>
            <a:pPr algn="ctr">
              <a:defRPr sz="1575">
                <a:solidFill>
                  <a:srgbClr val="F7F5FF"/>
                </a:solidFill>
                <a:latin typeface="DejaVu Sans"/>
                <a:ea typeface="DejaVu Sans"/>
                <a:cs typeface="DejaVu Sans"/>
              </a:defRPr>
            </a:pPr>
            <a:r>
              <a:rPr sz="1575">
                <a:solidFill>
                  <a:srgbClr val="F7F5FF"/>
                </a:solidFill>
                <a:latin typeface="DejaVu Sans"/>
                <a:ea typeface="DejaVu Sans"/>
                <a:cs typeface="DejaVu Sans"/>
              </a:rPr>
              <a:t>Main menu</a:t>
            </a:r>
          </a:p>
        </p:txBody>
      </p:sp>
      <p:cxnSp>
        <p:nvCxnSpPr>
          <p:cNvPr id="39" name="Straight Arrow Connector 38"/>
          <p:cNvCxnSpPr>
            <a:stCxn id="5" idx="2"/>
            <a:endCxn id="6" idx="0"/>
          </p:cNvCxnSpPr>
          <p:nvPr/>
        </p:nvCxnSpPr>
        <p:spPr>
          <a:xfrm>
            <a:off x="5810250" y="1762125"/>
            <a:ext cx="0" cy="333375"/>
          </a:xfrm>
          <a:prstGeom prst="straightConnector1">
            <a:avLst/>
          </a:prstGeom>
          <a:ln w="23813">
            <a:solidFill>
              <a:srgbClr val="D2F66C"/>
            </a:solidFill>
            <a:tailEnd type="triangle" w="med" len="med"/>
          </a:ln>
        </p:spPr>
      </p:cxnSp>
      <p:cxnSp>
        <p:nvCxnSpPr>
          <p:cNvPr id="40" name="Connector: Elbow 39"/>
          <p:cNvCxnSpPr>
            <a:stCxn id="6" idx="1"/>
            <a:endCxn id="7" idx="3"/>
          </p:cNvCxnSpPr>
          <p:nvPr/>
        </p:nvCxnSpPr>
        <p:spPr>
          <a:xfrm flipH="1">
            <a:off x="3429000" y="2452688"/>
            <a:ext cx="1095375" cy="119063"/>
          </a:xfrm>
          <a:prstGeom prst="bentConnector3">
            <a:avLst>
              <a:gd name="adj1" fmla="val 50000"/>
            </a:avLst>
          </a:prstGeom>
          <a:ln w="23813">
            <a:solidFill>
              <a:srgbClr val="D2F66C"/>
            </a:solidFill>
            <a:tailEnd type="triangle" w="med" len="med"/>
          </a:ln>
        </p:spPr>
      </p:cxnSp>
      <p:cxnSp>
        <p:nvCxnSpPr>
          <p:cNvPr id="41" name="Connector: Elbow 40"/>
          <p:cNvCxnSpPr>
            <a:stCxn id="6" idx="3"/>
            <a:endCxn id="8" idx="1"/>
          </p:cNvCxnSpPr>
          <p:nvPr/>
        </p:nvCxnSpPr>
        <p:spPr>
          <a:xfrm>
            <a:off x="7096125" y="2452688"/>
            <a:ext cx="1476375" cy="119063"/>
          </a:xfrm>
          <a:prstGeom prst="bentConnector3">
            <a:avLst>
              <a:gd name="adj1" fmla="val 50000"/>
            </a:avLst>
          </a:prstGeom>
          <a:ln w="23813">
            <a:solidFill>
              <a:srgbClr val="D2F66C"/>
            </a:solidFill>
            <a:tailEnd type="triangle" w="med" len="med"/>
          </a:ln>
        </p:spPr>
      </p:cxnSp>
      <p:cxnSp>
        <p:nvCxnSpPr>
          <p:cNvPr id="42" name="Connector: Elbow 41"/>
          <p:cNvCxnSpPr>
            <a:stCxn id="8" idx="2"/>
            <a:endCxn id="9" idx="0"/>
          </p:cNvCxnSpPr>
          <p:nvPr/>
        </p:nvCxnSpPr>
        <p:spPr>
          <a:xfrm flipH="1">
            <a:off x="9977438" y="2952750"/>
            <a:ext cx="23813" cy="523875"/>
          </a:xfrm>
          <a:prstGeom prst="bentConnector4">
            <a:avLst>
              <a:gd name="adj1" fmla="val 0"/>
              <a:gd name="adj2" fmla="val 50000"/>
            </a:avLst>
          </a:prstGeom>
          <a:ln w="23813">
            <a:solidFill>
              <a:srgbClr val="D2F66C"/>
            </a:solidFill>
            <a:tailEnd type="triangle" w="med" len="med"/>
          </a:ln>
        </p:spPr>
      </p:cxnSp>
      <p:cxnSp>
        <p:nvCxnSpPr>
          <p:cNvPr id="43" name="Connector: Elbow 42"/>
          <p:cNvCxnSpPr>
            <a:stCxn id="9" idx="1"/>
            <a:endCxn id="10" idx="3"/>
          </p:cNvCxnSpPr>
          <p:nvPr/>
        </p:nvCxnSpPr>
        <p:spPr>
          <a:xfrm flipH="1">
            <a:off x="7334250" y="3848100"/>
            <a:ext cx="1524000" cy="23813"/>
          </a:xfrm>
          <a:prstGeom prst="bentConnector3">
            <a:avLst>
              <a:gd name="adj1" fmla="val 50000"/>
            </a:avLst>
          </a:prstGeom>
          <a:ln w="23813">
            <a:solidFill>
              <a:srgbClr val="D2F66C"/>
            </a:solidFill>
            <a:tailEnd type="triangle" w="med" len="med"/>
          </a:ln>
        </p:spPr>
      </p:cxnSp>
      <p:sp>
        <p:nvSpPr>
          <p:cNvPr id="17" name="Rectangle 16">
            <a:extLst>
              <a:ext uri="{FF2B5EF4-FFF2-40B4-BE49-F238E27FC236}">
                <a16:creationId xmlns:a16="http://schemas.microsoft.com/office/drawing/2014/main" id="{D57CA1BA-F31E-4B43-89BA-09DAB669C833}"/>
              </a:ext>
            </a:extLst>
          </p:cNvPr>
          <p:cNvSpPr>
            <a:spLocks noGrp="1"/>
          </p:cNvSpPr>
          <p:nvPr/>
        </p:nvSpPr>
        <p:spPr>
          <a:xfrm>
            <a:off x="7858125" y="3619500"/>
            <a:ext cx="666750" cy="333375"/>
          </a:xfrm>
          <a:prstGeom prst="rect">
            <a:avLst/>
          </a:prstGeom>
          <a:noFill/>
          <a:ln w="0">
            <a:noFill/>
          </a:ln>
        </p:spPr>
        <p:txBody>
          <a:bodyPr>
            <a:noAutofit/>
          </a:bodyPr>
          <a:lstStyle/>
          <a:p>
            <a:pPr>
              <a:defRPr sz="1500" b="0">
                <a:solidFill>
                  <a:srgbClr val="F7F5FF"/>
                </a:solidFill>
                <a:latin typeface="DejaVu Sans"/>
                <a:ea typeface="DejaVu Sans"/>
                <a:cs typeface="DejaVu Sans"/>
              </a:defRPr>
            </a:pPr>
            <a:r>
              <a:rPr sz="1500" b="0">
                <a:solidFill>
                  <a:srgbClr val="F7F5FF"/>
                </a:solidFill>
                <a:latin typeface="DejaVu Sans"/>
                <a:ea typeface="DejaVu Sans"/>
                <a:cs typeface="DejaVu Sans"/>
              </a:rPr>
              <a:t>Yes</a:t>
            </a:r>
          </a:p>
        </p:txBody>
      </p:sp>
      <p:cxnSp>
        <p:nvCxnSpPr>
          <p:cNvPr id="45" name="Connector: Elbow 44"/>
          <p:cNvCxnSpPr>
            <a:stCxn id="9" idx="2"/>
            <a:endCxn id="11" idx="0"/>
          </p:cNvCxnSpPr>
          <p:nvPr/>
        </p:nvCxnSpPr>
        <p:spPr>
          <a:xfrm>
            <a:off x="9977438" y="4219575"/>
            <a:ext cx="166688" cy="866775"/>
          </a:xfrm>
          <a:prstGeom prst="bentConnector4">
            <a:avLst>
              <a:gd name="adj1" fmla="val 0"/>
              <a:gd name="adj2" fmla="val 50000"/>
            </a:avLst>
          </a:prstGeom>
          <a:ln w="23813">
            <a:solidFill>
              <a:srgbClr val="D2F66C"/>
            </a:solidFill>
            <a:tailEnd type="triangle" w="med" len="med"/>
          </a:ln>
        </p:spPr>
      </p:cxnSp>
      <p:sp>
        <p:nvSpPr>
          <p:cNvPr id="19" name="Rectangle 18">
            <a:extLst>
              <a:ext uri="{FF2B5EF4-FFF2-40B4-BE49-F238E27FC236}">
                <a16:creationId xmlns:a16="http://schemas.microsoft.com/office/drawing/2014/main" id="{76F7F107-BBE0-4B71-93EA-337707771D53}"/>
              </a:ext>
            </a:extLst>
          </p:cNvPr>
          <p:cNvSpPr>
            <a:spLocks noGrp="1"/>
          </p:cNvSpPr>
          <p:nvPr/>
        </p:nvSpPr>
        <p:spPr>
          <a:xfrm>
            <a:off x="11334750" y="4400550"/>
            <a:ext cx="619125" cy="333375"/>
          </a:xfrm>
          <a:prstGeom prst="rect">
            <a:avLst/>
          </a:prstGeom>
          <a:noFill/>
          <a:ln w="0">
            <a:noFill/>
          </a:ln>
        </p:spPr>
        <p:txBody>
          <a:bodyPr>
            <a:noAutofit/>
          </a:bodyPr>
          <a:lstStyle/>
          <a:p>
            <a:pPr>
              <a:defRPr sz="1500" b="0">
                <a:solidFill>
                  <a:srgbClr val="F7F5FF"/>
                </a:solidFill>
                <a:latin typeface="DejaVu Sans"/>
                <a:ea typeface="DejaVu Sans"/>
                <a:cs typeface="DejaVu Sans"/>
              </a:defRPr>
            </a:pPr>
            <a:r>
              <a:rPr sz="1500" b="0">
                <a:solidFill>
                  <a:srgbClr val="F7F5FF"/>
                </a:solidFill>
                <a:latin typeface="DejaVu Sans"/>
                <a:ea typeface="DejaVu Sans"/>
                <a:cs typeface="DejaVu Sans"/>
              </a:rPr>
              <a:t>No</a:t>
            </a:r>
          </a:p>
        </p:txBody>
      </p:sp>
      <p:sp>
        <p:nvSpPr>
          <p:cNvPr id="20" name="Rectangle 19">
            <a:extLst>
              <a:ext uri="{FF2B5EF4-FFF2-40B4-BE49-F238E27FC236}">
                <a16:creationId xmlns:a16="http://schemas.microsoft.com/office/drawing/2014/main" id="{2662B44B-6F22-4DBE-A3CF-6C03121E1F8C}"/>
              </a:ext>
            </a:extLst>
          </p:cNvPr>
          <p:cNvSpPr>
            <a:spLocks noGrp="1"/>
          </p:cNvSpPr>
          <p:nvPr/>
        </p:nvSpPr>
        <p:spPr>
          <a:xfrm>
            <a:off x="571500" y="4953000"/>
            <a:ext cx="2190750" cy="609600"/>
          </a:xfrm>
          <a:prstGeom prst="rect">
            <a:avLst/>
          </a:prstGeom>
          <a:solidFill>
            <a:srgbClr val="262139"/>
          </a:solidFill>
          <a:ln w="19050">
            <a:solidFill>
              <a:srgbClr val="AA89ED"/>
            </a:solidFill>
          </a:ln>
        </p:spPr>
        <p:txBody>
          <a:bodyPr anchor="ctr">
            <a:noAutofit/>
          </a:bodyPr>
          <a:lstStyle/>
          <a:p>
            <a:pPr algn="ctr">
              <a:defRPr sz="1575">
                <a:solidFill>
                  <a:srgbClr val="F7F5FF"/>
                </a:solidFill>
                <a:latin typeface="DejaVu Sans"/>
                <a:ea typeface="DejaVu Sans"/>
                <a:cs typeface="DejaVu Sans"/>
              </a:defRPr>
            </a:pPr>
            <a:r>
              <a:rPr sz="1575">
                <a:solidFill>
                  <a:srgbClr val="F7F5FF"/>
                </a:solidFill>
                <a:latin typeface="DejaVu Sans"/>
                <a:ea typeface="DejaVu Sans"/>
                <a:cs typeface="DejaVu Sans"/>
              </a:rPr>
              <a:t>View all books</a:t>
            </a:r>
          </a:p>
        </p:txBody>
      </p:sp>
      <p:sp>
        <p:nvSpPr>
          <p:cNvPr id="21" name="Rectangle 20">
            <a:extLst>
              <a:ext uri="{FF2B5EF4-FFF2-40B4-BE49-F238E27FC236}">
                <a16:creationId xmlns:a16="http://schemas.microsoft.com/office/drawing/2014/main" id="{EA3B95CE-C970-4396-B109-B4C616650BBB}"/>
              </a:ext>
            </a:extLst>
          </p:cNvPr>
          <p:cNvSpPr>
            <a:spLocks noGrp="1"/>
          </p:cNvSpPr>
          <p:nvPr/>
        </p:nvSpPr>
        <p:spPr>
          <a:xfrm>
            <a:off x="3333750" y="4953000"/>
            <a:ext cx="2190750" cy="609600"/>
          </a:xfrm>
          <a:prstGeom prst="rect">
            <a:avLst/>
          </a:prstGeom>
          <a:solidFill>
            <a:srgbClr val="262139"/>
          </a:solidFill>
          <a:ln w="19050">
            <a:solidFill>
              <a:srgbClr val="AA89ED"/>
            </a:solidFill>
          </a:ln>
        </p:spPr>
        <p:txBody>
          <a:bodyPr anchor="ctr">
            <a:noAutofit/>
          </a:bodyPr>
          <a:lstStyle/>
          <a:p>
            <a:pPr algn="ctr">
              <a:defRPr sz="1575">
                <a:solidFill>
                  <a:srgbClr val="F7F5FF"/>
                </a:solidFill>
                <a:latin typeface="DejaVu Sans"/>
                <a:ea typeface="DejaVu Sans"/>
                <a:cs typeface="DejaVu Sans"/>
              </a:defRPr>
            </a:pPr>
            <a:r>
              <a:rPr sz="1575">
                <a:solidFill>
                  <a:srgbClr val="F7F5FF"/>
                </a:solidFill>
                <a:latin typeface="DejaVu Sans"/>
                <a:ea typeface="DejaVu Sans"/>
                <a:cs typeface="DejaVu Sans"/>
              </a:rPr>
              <a:t>Issue book</a:t>
            </a:r>
          </a:p>
        </p:txBody>
      </p:sp>
      <p:sp>
        <p:nvSpPr>
          <p:cNvPr id="22" name="Rectangle 21">
            <a:extLst>
              <a:ext uri="{FF2B5EF4-FFF2-40B4-BE49-F238E27FC236}">
                <a16:creationId xmlns:a16="http://schemas.microsoft.com/office/drawing/2014/main" id="{573F577C-13A7-4BA6-9D74-65B3426330A3}"/>
              </a:ext>
            </a:extLst>
          </p:cNvPr>
          <p:cNvSpPr>
            <a:spLocks noGrp="1"/>
          </p:cNvSpPr>
          <p:nvPr/>
        </p:nvSpPr>
        <p:spPr>
          <a:xfrm>
            <a:off x="6096000" y="4953000"/>
            <a:ext cx="2000250" cy="609600"/>
          </a:xfrm>
          <a:prstGeom prst="rect">
            <a:avLst/>
          </a:prstGeom>
          <a:solidFill>
            <a:srgbClr val="262139"/>
          </a:solidFill>
          <a:ln w="19050">
            <a:solidFill>
              <a:srgbClr val="AA89ED"/>
            </a:solidFill>
          </a:ln>
        </p:spPr>
        <p:txBody>
          <a:bodyPr anchor="ctr">
            <a:noAutofit/>
          </a:bodyPr>
          <a:lstStyle/>
          <a:p>
            <a:pPr algn="ctr">
              <a:defRPr sz="1575">
                <a:solidFill>
                  <a:srgbClr val="F7F5FF"/>
                </a:solidFill>
                <a:latin typeface="DejaVu Sans"/>
                <a:ea typeface="DejaVu Sans"/>
                <a:cs typeface="DejaVu Sans"/>
              </a:defRPr>
            </a:pPr>
            <a:r>
              <a:rPr sz="1575">
                <a:solidFill>
                  <a:srgbClr val="F7F5FF"/>
                </a:solidFill>
                <a:latin typeface="DejaVu Sans"/>
                <a:ea typeface="DejaVu Sans"/>
                <a:cs typeface="DejaVu Sans"/>
              </a:rPr>
              <a:t>Return</a:t>
            </a:r>
          </a:p>
        </p:txBody>
      </p:sp>
      <p:cxnSp>
        <p:nvCxnSpPr>
          <p:cNvPr id="50" name="Connector: Elbow 49"/>
          <p:cNvCxnSpPr>
            <a:stCxn id="10" idx="2"/>
            <a:endCxn id="20" idx="0"/>
          </p:cNvCxnSpPr>
          <p:nvPr/>
        </p:nvCxnSpPr>
        <p:spPr>
          <a:xfrm flipH="1">
            <a:off x="1666875" y="4181475"/>
            <a:ext cx="4238625" cy="771525"/>
          </a:xfrm>
          <a:prstGeom prst="bentConnector4">
            <a:avLst>
              <a:gd name="adj1" fmla="val 0"/>
              <a:gd name="adj2" fmla="val 50000"/>
            </a:avLst>
          </a:prstGeom>
          <a:ln w="23813">
            <a:solidFill>
              <a:srgbClr val="D2F66C"/>
            </a:solidFill>
            <a:tailEnd type="triangle" w="med" len="med"/>
          </a:ln>
        </p:spPr>
      </p:cxnSp>
      <p:cxnSp>
        <p:nvCxnSpPr>
          <p:cNvPr id="51" name="Connector: Elbow 50"/>
          <p:cNvCxnSpPr>
            <a:stCxn id="10" idx="2"/>
            <a:endCxn id="21" idx="0"/>
          </p:cNvCxnSpPr>
          <p:nvPr/>
        </p:nvCxnSpPr>
        <p:spPr>
          <a:xfrm flipH="1">
            <a:off x="4429125" y="4181475"/>
            <a:ext cx="1476375" cy="771525"/>
          </a:xfrm>
          <a:prstGeom prst="bentConnector4">
            <a:avLst>
              <a:gd name="adj1" fmla="val 0"/>
              <a:gd name="adj2" fmla="val 50000"/>
            </a:avLst>
          </a:prstGeom>
          <a:ln w="23813">
            <a:solidFill>
              <a:srgbClr val="D2F66C"/>
            </a:solidFill>
            <a:tailEnd type="triangle" w="med" len="med"/>
          </a:ln>
        </p:spPr>
      </p:cxnSp>
      <p:cxnSp>
        <p:nvCxnSpPr>
          <p:cNvPr id="52" name="Connector: Elbow 51"/>
          <p:cNvCxnSpPr>
            <a:stCxn id="10" idx="2"/>
            <a:endCxn id="22" idx="0"/>
          </p:cNvCxnSpPr>
          <p:nvPr/>
        </p:nvCxnSpPr>
        <p:spPr>
          <a:xfrm>
            <a:off x="5905500" y="4181475"/>
            <a:ext cx="1190625" cy="771525"/>
          </a:xfrm>
          <a:prstGeom prst="bentConnector4">
            <a:avLst>
              <a:gd name="adj1" fmla="val 0"/>
              <a:gd name="adj2" fmla="val 50000"/>
            </a:avLst>
          </a:prstGeom>
          <a:ln w="23813">
            <a:solidFill>
              <a:srgbClr val="D2F66C"/>
            </a:solidFill>
            <a:tailEnd type="triangle" w="med" len="med"/>
          </a:ln>
        </p:spPr>
      </p:cxnSp>
      <p:cxnSp>
        <p:nvCxnSpPr>
          <p:cNvPr id="53" name="Connector: Elbow 52"/>
          <p:cNvCxnSpPr>
            <a:stCxn id="22" idx="3"/>
            <a:endCxn id="11" idx="1"/>
          </p:cNvCxnSpPr>
          <p:nvPr/>
        </p:nvCxnSpPr>
        <p:spPr>
          <a:xfrm>
            <a:off x="8096250" y="5257800"/>
            <a:ext cx="762000" cy="138113"/>
          </a:xfrm>
          <a:prstGeom prst="bentConnector3">
            <a:avLst>
              <a:gd name="adj1" fmla="val 50000"/>
            </a:avLst>
          </a:prstGeom>
          <a:ln w="23813">
            <a:solidFill>
              <a:srgbClr val="D2F66C"/>
            </a:solidFill>
            <a:tailEnd type="triangle" w="med" len="med"/>
          </a:ln>
        </p:spPr>
      </p:cxnSp>
      <p:sp>
        <p:nvSpPr>
          <p:cNvPr id="27" name="Rectangle 26">
            <a:extLst>
              <a:ext uri="{FF2B5EF4-FFF2-40B4-BE49-F238E27FC236}">
                <a16:creationId xmlns:a16="http://schemas.microsoft.com/office/drawing/2014/main" id="{4C71146D-61B6-422F-884C-760169C0D9E5}"/>
              </a:ext>
            </a:extLst>
          </p:cNvPr>
          <p:cNvSpPr>
            <a:spLocks noGrp="1"/>
          </p:cNvSpPr>
          <p:nvPr/>
        </p:nvSpPr>
        <p:spPr>
          <a:xfrm>
            <a:off x="571500" y="5791200"/>
            <a:ext cx="10620375" cy="342900"/>
          </a:xfrm>
          <a:prstGeom prst="rect">
            <a:avLst/>
          </a:prstGeom>
          <a:noFill/>
          <a:ln w="0">
            <a:noFill/>
          </a:ln>
        </p:spPr>
        <p:txBody>
          <a:bodyPr>
            <a:noAutofit/>
          </a:bodyPr>
          <a:lstStyle/>
          <a:p>
            <a:pPr>
              <a:defRPr sz="1650" b="0">
                <a:solidFill>
                  <a:srgbClr val="C8C3D8"/>
                </a:solidFill>
                <a:latin typeface="DejaVu Sans"/>
                <a:ea typeface="DejaVu Sans"/>
                <a:cs typeface="DejaVu Sans"/>
              </a:defRPr>
            </a:pPr>
            <a:r>
              <a:rPr sz="1650" b="0">
                <a:solidFill>
                  <a:srgbClr val="C8C3D8"/>
                </a:solidFill>
                <a:latin typeface="DejaVu Sans"/>
                <a:ea typeface="DejaVu Sans"/>
                <a:cs typeface="DejaVu Sans"/>
              </a:rPr>
              <a:t>Every operation returns to the main menu. “Return” means menu navigation.</a:t>
            </a:r>
          </a:p>
        </p:txBody>
      </p:sp>
    </p:spTree>
    <p:extLst>
      <p:ext uri="{BB962C8B-B14F-4D97-AF65-F5344CB8AC3E}">
        <p14:creationId xmlns:p14="http://schemas.microsoft.com/office/powerpoint/2010/main" val="13055184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00F22"/>
        </a:solidFill>
        <a:effectLst/>
      </p:bgPr>
    </p:bg>
    <p:spTree>
      <p:nvGrpSpPr>
        <p:cNvPr id="1" name=""/>
        <p:cNvGrpSpPr/>
        <p:nvPr/>
      </p:nvGrpSpPr>
      <p:grpSpPr>
        <a:xfrm>
          <a:off x="0" y="0"/>
          <a:ext cx="0" cy="0"/>
          <a:chOff x="0" y="0"/>
          <a:chExt cx="0" cy="0"/>
        </a:xfrm>
      </p:grpSpPr>
      <p:pic>
        <p:nvPicPr>
          <p:cNvPr id="28" name="Picture 27"/>
          <p:cNvPicPr>
            <a:picLocks noChangeAspect="1"/>
          </p:cNvPicPr>
          <p:nvPr/>
        </p:nvPicPr>
        <p:blipFill>
          <a:blip r:embed="rId3"/>
          <a:stretch/>
        </p:blipFill>
        <p:spPr>
          <a:xfrm>
            <a:off x="3239" y="0"/>
            <a:ext cx="12185522" cy="6858000"/>
          </a:xfrm>
          <a:prstGeom prst="rect">
            <a:avLst/>
          </a:prstGeom>
        </p:spPr>
      </p:pic>
      <p:sp>
        <p:nvSpPr>
          <p:cNvPr id="2" name="Rectangle 1">
            <a:extLst>
              <a:ext uri="{FF2B5EF4-FFF2-40B4-BE49-F238E27FC236}">
                <a16:creationId xmlns:a16="http://schemas.microsoft.com/office/drawing/2014/main" id="{7CBBE5ED-5CFE-490E-A553-3B4134A746DC}"/>
              </a:ext>
            </a:extLst>
          </p:cNvPr>
          <p:cNvSpPr>
            <a:spLocks noGrp="1"/>
          </p:cNvSpPr>
          <p:nvPr/>
        </p:nvSpPr>
        <p:spPr>
          <a:xfrm>
            <a:off x="571500" y="400050"/>
            <a:ext cx="10953750" cy="762000"/>
          </a:xfrm>
          <a:prstGeom prst="rect">
            <a:avLst/>
          </a:prstGeom>
          <a:noFill/>
          <a:ln w="0">
            <a:noFill/>
          </a:ln>
        </p:spPr>
        <p:txBody>
          <a:bodyPr>
            <a:noAutofit/>
          </a:bodyPr>
          <a:lstStyle/>
          <a:p>
            <a:pPr>
              <a:defRPr sz="3150" b="1">
                <a:solidFill>
                  <a:srgbClr val="D5C2FF"/>
                </a:solidFill>
                <a:latin typeface="DejaVu Sans"/>
                <a:ea typeface="DejaVu Sans"/>
                <a:cs typeface="DejaVu Sans"/>
              </a:defRPr>
            </a:pPr>
            <a:r>
              <a:rPr sz="3150" b="1">
                <a:solidFill>
                  <a:srgbClr val="D5C2FF"/>
                </a:solidFill>
                <a:latin typeface="DejaVu Sans"/>
                <a:ea typeface="DejaVu Sans"/>
                <a:cs typeface="DejaVu Sans"/>
              </a:rPr>
              <a:t>Admin process flow</a:t>
            </a:r>
          </a:p>
        </p:txBody>
      </p:sp>
      <p:pic>
        <p:nvPicPr>
          <p:cNvPr id="30" name="Picture 29"/>
          <p:cNvPicPr>
            <a:picLocks noChangeAspect="1"/>
          </p:cNvPicPr>
          <p:nvPr/>
        </p:nvPicPr>
        <p:blipFill>
          <a:blip r:embed="rId4"/>
          <a:stretch/>
        </p:blipFill>
        <p:spPr>
          <a:xfrm>
            <a:off x="10477500" y="6153873"/>
            <a:ext cx="1143000" cy="570053"/>
          </a:xfrm>
          <a:prstGeom prst="rect">
            <a:avLst/>
          </a:prstGeom>
        </p:spPr>
      </p:pic>
      <p:sp>
        <p:nvSpPr>
          <p:cNvPr id="4" name="Rectangle 3">
            <a:extLst>
              <a:ext uri="{FF2B5EF4-FFF2-40B4-BE49-F238E27FC236}">
                <a16:creationId xmlns:a16="http://schemas.microsoft.com/office/drawing/2014/main" id="{77B95CB6-98A1-49A6-B1DC-A5BFAE79C830}"/>
              </a:ext>
            </a:extLst>
          </p:cNvPr>
          <p:cNvSpPr>
            <a:spLocks noGrp="1"/>
          </p:cNvSpPr>
          <p:nvPr/>
        </p:nvSpPr>
        <p:spPr>
          <a:xfrm>
            <a:off x="571500" y="6162675"/>
            <a:ext cx="857250" cy="457200"/>
          </a:xfrm>
          <a:prstGeom prst="rect">
            <a:avLst/>
          </a:prstGeom>
          <a:noFill/>
          <a:ln w="0">
            <a:noFill/>
          </a:ln>
        </p:spPr>
        <p:txBody>
          <a:bodyPr>
            <a:noAutofit/>
          </a:bodyPr>
          <a:lstStyle/>
          <a:p>
            <a:pPr>
              <a:defRPr sz="2175" b="1">
                <a:solidFill>
                  <a:srgbClr val="D2F66C"/>
                </a:solidFill>
                <a:latin typeface="DejaVu Sans"/>
                <a:ea typeface="DejaVu Sans"/>
                <a:cs typeface="DejaVu Sans"/>
              </a:defRPr>
            </a:pPr>
            <a:r>
              <a:rPr sz="2175" b="1">
                <a:solidFill>
                  <a:srgbClr val="D2F66C"/>
                </a:solidFill>
                <a:latin typeface="DejaVu Sans"/>
                <a:ea typeface="DejaVu Sans"/>
                <a:cs typeface="DejaVu Sans"/>
              </a:rPr>
              <a:t>11</a:t>
            </a:r>
          </a:p>
        </p:txBody>
      </p:sp>
      <p:sp>
        <p:nvSpPr>
          <p:cNvPr id="5" name="Rectangle: Rounded Corners 4">
            <a:extLst>
              <a:ext uri="{FF2B5EF4-FFF2-40B4-BE49-F238E27FC236}">
                <a16:creationId xmlns:a16="http://schemas.microsoft.com/office/drawing/2014/main" id="{380B1C62-F0E2-4F68-A4BE-51E3D70833DC}"/>
              </a:ext>
            </a:extLst>
          </p:cNvPr>
          <p:cNvSpPr>
            <a:spLocks noGrp="1"/>
          </p:cNvSpPr>
          <p:nvPr/>
        </p:nvSpPr>
        <p:spPr>
          <a:xfrm>
            <a:off x="666750" y="1524000"/>
            <a:ext cx="2952750" cy="619125"/>
          </a:xfrm>
          <a:prstGeom prst="roundRect">
            <a:avLst>
              <a:gd name="adj" fmla="val 12308"/>
            </a:avLst>
          </a:prstGeom>
          <a:solidFill>
            <a:srgbClr val="262139"/>
          </a:solidFill>
          <a:ln w="19050">
            <a:solidFill>
              <a:srgbClr val="AA89ED"/>
            </a:solidFill>
          </a:ln>
        </p:spPr>
        <p:txBody>
          <a:bodyPr anchor="ctr">
            <a:noAutofit/>
          </a:bodyPr>
          <a:lstStyle/>
          <a:p>
            <a:pPr algn="ctr">
              <a:defRPr sz="1575">
                <a:solidFill>
                  <a:srgbClr val="F7F5FF"/>
                </a:solidFill>
                <a:latin typeface="DejaVu Sans"/>
                <a:ea typeface="DejaVu Sans"/>
                <a:cs typeface="DejaVu Sans"/>
              </a:defRPr>
            </a:pPr>
            <a:r>
              <a:rPr sz="1575">
                <a:solidFill>
                  <a:srgbClr val="F7F5FF"/>
                </a:solidFill>
                <a:latin typeface="DejaVu Sans"/>
                <a:ea typeface="DejaVu Sans"/>
                <a:cs typeface="DejaVu Sans"/>
              </a:rPr>
              <a:t>Enter admin credentials</a:t>
            </a:r>
          </a:p>
        </p:txBody>
      </p:sp>
      <p:sp>
        <p:nvSpPr>
          <p:cNvPr id="6" name="Diamond 5">
            <a:extLst>
              <a:ext uri="{FF2B5EF4-FFF2-40B4-BE49-F238E27FC236}">
                <a16:creationId xmlns:a16="http://schemas.microsoft.com/office/drawing/2014/main" id="{5EC0D009-F939-48E6-80BB-3CB48F8AD3DA}"/>
              </a:ext>
            </a:extLst>
          </p:cNvPr>
          <p:cNvSpPr>
            <a:spLocks noGrp="1"/>
          </p:cNvSpPr>
          <p:nvPr/>
        </p:nvSpPr>
        <p:spPr>
          <a:xfrm>
            <a:off x="4762500" y="1476375"/>
            <a:ext cx="2714625" cy="800100"/>
          </a:xfrm>
          <a:prstGeom prst="diamond">
            <a:avLst/>
          </a:prstGeom>
          <a:solidFill>
            <a:srgbClr val="262139"/>
          </a:solidFill>
          <a:ln w="19050">
            <a:solidFill>
              <a:srgbClr val="AA89ED"/>
            </a:solidFill>
          </a:ln>
        </p:spPr>
        <p:txBody>
          <a:bodyPr anchor="ctr">
            <a:noAutofit/>
          </a:bodyPr>
          <a:lstStyle/>
          <a:p>
            <a:pPr algn="ctr">
              <a:defRPr sz="1575">
                <a:solidFill>
                  <a:srgbClr val="F7F5FF"/>
                </a:solidFill>
                <a:latin typeface="DejaVu Sans"/>
                <a:ea typeface="DejaVu Sans"/>
                <a:cs typeface="DejaVu Sans"/>
              </a:defRPr>
            </a:pPr>
            <a:r>
              <a:rPr sz="1575">
                <a:solidFill>
                  <a:srgbClr val="F7F5FF"/>
                </a:solidFill>
                <a:latin typeface="DejaVu Sans"/>
                <a:ea typeface="DejaVu Sans"/>
                <a:cs typeface="DejaVu Sans"/>
              </a:rPr>
              <a:t>Match admin.bin?</a:t>
            </a:r>
          </a:p>
        </p:txBody>
      </p:sp>
      <p:sp>
        <p:nvSpPr>
          <p:cNvPr id="7" name="Rectangle 6">
            <a:extLst>
              <a:ext uri="{FF2B5EF4-FFF2-40B4-BE49-F238E27FC236}">
                <a16:creationId xmlns:a16="http://schemas.microsoft.com/office/drawing/2014/main" id="{71271867-2F2A-4037-BE76-60F6A22E627D}"/>
              </a:ext>
            </a:extLst>
          </p:cNvPr>
          <p:cNvSpPr>
            <a:spLocks noGrp="1"/>
          </p:cNvSpPr>
          <p:nvPr/>
        </p:nvSpPr>
        <p:spPr>
          <a:xfrm>
            <a:off x="8715375" y="1524000"/>
            <a:ext cx="2762250" cy="619125"/>
          </a:xfrm>
          <a:prstGeom prst="rect">
            <a:avLst/>
          </a:prstGeom>
          <a:solidFill>
            <a:srgbClr val="262139"/>
          </a:solidFill>
          <a:ln w="19050">
            <a:solidFill>
              <a:srgbClr val="AA89ED"/>
            </a:solidFill>
          </a:ln>
        </p:spPr>
        <p:txBody>
          <a:bodyPr anchor="ctr">
            <a:noAutofit/>
          </a:bodyPr>
          <a:lstStyle/>
          <a:p>
            <a:pPr algn="ctr">
              <a:defRPr sz="1575">
                <a:solidFill>
                  <a:srgbClr val="F7F5FF"/>
                </a:solidFill>
                <a:latin typeface="DejaVu Sans"/>
                <a:ea typeface="DejaVu Sans"/>
                <a:cs typeface="DejaVu Sans"/>
              </a:defRPr>
            </a:pPr>
            <a:r>
              <a:rPr sz="1575">
                <a:solidFill>
                  <a:srgbClr val="F7F5FF"/>
                </a:solidFill>
                <a:latin typeface="DejaVu Sans"/>
                <a:ea typeface="DejaVu Sans"/>
                <a:cs typeface="DejaVu Sans"/>
              </a:rPr>
              <a:t>Admin menu</a:t>
            </a:r>
          </a:p>
        </p:txBody>
      </p:sp>
      <p:cxnSp>
        <p:nvCxnSpPr>
          <p:cNvPr id="35" name="Connector: Elbow 34"/>
          <p:cNvCxnSpPr>
            <a:stCxn id="5" idx="3"/>
            <a:endCxn id="6" idx="1"/>
          </p:cNvCxnSpPr>
          <p:nvPr/>
        </p:nvCxnSpPr>
        <p:spPr>
          <a:xfrm>
            <a:off x="3619500" y="1833563"/>
            <a:ext cx="1143000" cy="42863"/>
          </a:xfrm>
          <a:prstGeom prst="bentConnector3">
            <a:avLst>
              <a:gd name="adj1" fmla="val 50000"/>
            </a:avLst>
          </a:prstGeom>
          <a:ln w="23813">
            <a:solidFill>
              <a:srgbClr val="D2F66C"/>
            </a:solidFill>
            <a:tailEnd type="triangle" w="med" len="med"/>
          </a:ln>
        </p:spPr>
      </p:cxnSp>
      <p:cxnSp>
        <p:nvCxnSpPr>
          <p:cNvPr id="36" name="Connector: Elbow 35"/>
          <p:cNvCxnSpPr>
            <a:stCxn id="6" idx="3"/>
            <a:endCxn id="7" idx="1"/>
          </p:cNvCxnSpPr>
          <p:nvPr/>
        </p:nvCxnSpPr>
        <p:spPr>
          <a:xfrm flipV="1">
            <a:off x="7477125" y="1833563"/>
            <a:ext cx="1238250" cy="42863"/>
          </a:xfrm>
          <a:prstGeom prst="bentConnector3">
            <a:avLst>
              <a:gd name="adj1" fmla="val 50000"/>
            </a:avLst>
          </a:prstGeom>
          <a:ln w="23813">
            <a:solidFill>
              <a:srgbClr val="D2F66C"/>
            </a:solidFill>
            <a:tailEnd type="triangle" w="med" len="med"/>
          </a:ln>
        </p:spPr>
      </p:cxnSp>
      <p:sp>
        <p:nvSpPr>
          <p:cNvPr id="10" name="Rectangle 9">
            <a:extLst>
              <a:ext uri="{FF2B5EF4-FFF2-40B4-BE49-F238E27FC236}">
                <a16:creationId xmlns:a16="http://schemas.microsoft.com/office/drawing/2014/main" id="{7430588C-A113-4534-89F0-3D7A1E3FDE24}"/>
              </a:ext>
            </a:extLst>
          </p:cNvPr>
          <p:cNvSpPr>
            <a:spLocks noGrp="1"/>
          </p:cNvSpPr>
          <p:nvPr/>
        </p:nvSpPr>
        <p:spPr>
          <a:xfrm>
            <a:off x="7839075" y="1562100"/>
            <a:ext cx="762000" cy="333375"/>
          </a:xfrm>
          <a:prstGeom prst="rect">
            <a:avLst/>
          </a:prstGeom>
          <a:noFill/>
          <a:ln w="0">
            <a:noFill/>
          </a:ln>
        </p:spPr>
        <p:txBody>
          <a:bodyPr>
            <a:noAutofit/>
          </a:bodyPr>
          <a:lstStyle/>
          <a:p>
            <a:pPr>
              <a:defRPr sz="1500" b="0">
                <a:solidFill>
                  <a:srgbClr val="F7F5FF"/>
                </a:solidFill>
                <a:latin typeface="DejaVu Sans"/>
                <a:ea typeface="DejaVu Sans"/>
                <a:cs typeface="DejaVu Sans"/>
              </a:defRPr>
            </a:pPr>
            <a:r>
              <a:rPr sz="1500" b="0">
                <a:solidFill>
                  <a:srgbClr val="F7F5FF"/>
                </a:solidFill>
                <a:latin typeface="DejaVu Sans"/>
                <a:ea typeface="DejaVu Sans"/>
                <a:cs typeface="DejaVu Sans"/>
              </a:rPr>
              <a:t>Yes</a:t>
            </a:r>
          </a:p>
        </p:txBody>
      </p:sp>
      <p:cxnSp>
        <p:nvCxnSpPr>
          <p:cNvPr id="38" name="Connector: Elbow 37"/>
          <p:cNvCxnSpPr>
            <a:stCxn id="6" idx="0"/>
            <a:endCxn id="5" idx="0"/>
          </p:cNvCxnSpPr>
          <p:nvPr/>
        </p:nvCxnSpPr>
        <p:spPr>
          <a:xfrm flipH="1">
            <a:off x="2143125" y="1476375"/>
            <a:ext cx="3976688" cy="47625"/>
          </a:xfrm>
          <a:prstGeom prst="bentConnector4">
            <a:avLst>
              <a:gd name="adj1" fmla="val 0"/>
              <a:gd name="adj2" fmla="val 50000"/>
            </a:avLst>
          </a:prstGeom>
          <a:ln w="23813">
            <a:solidFill>
              <a:srgbClr val="D2F66C"/>
            </a:solidFill>
            <a:tailEnd type="triangle" w="med" len="med"/>
          </a:ln>
        </p:spPr>
      </p:cxnSp>
      <p:sp>
        <p:nvSpPr>
          <p:cNvPr id="12" name="Rectangle 11">
            <a:extLst>
              <a:ext uri="{FF2B5EF4-FFF2-40B4-BE49-F238E27FC236}">
                <a16:creationId xmlns:a16="http://schemas.microsoft.com/office/drawing/2014/main" id="{7018A743-86A5-4757-A1AF-351665C7E701}"/>
              </a:ext>
            </a:extLst>
          </p:cNvPr>
          <p:cNvSpPr>
            <a:spLocks noGrp="1"/>
          </p:cNvSpPr>
          <p:nvPr/>
        </p:nvSpPr>
        <p:spPr>
          <a:xfrm>
            <a:off x="3352800" y="1143000"/>
            <a:ext cx="1714500" cy="304800"/>
          </a:xfrm>
          <a:prstGeom prst="rect">
            <a:avLst/>
          </a:prstGeom>
          <a:noFill/>
          <a:ln w="0">
            <a:noFill/>
          </a:ln>
        </p:spPr>
        <p:txBody>
          <a:bodyPr>
            <a:noAutofit/>
          </a:bodyPr>
          <a:lstStyle/>
          <a:p>
            <a:pPr>
              <a:defRPr sz="1425" b="0">
                <a:solidFill>
                  <a:srgbClr val="C8C3D8"/>
                </a:solidFill>
                <a:latin typeface="DejaVu Sans"/>
                <a:ea typeface="DejaVu Sans"/>
                <a:cs typeface="DejaVu Sans"/>
              </a:defRPr>
            </a:pPr>
            <a:r>
              <a:rPr sz="1425" b="0">
                <a:solidFill>
                  <a:srgbClr val="C8C3D8"/>
                </a:solidFill>
                <a:latin typeface="DejaVu Sans"/>
                <a:ea typeface="DejaVu Sans"/>
                <a:cs typeface="DejaVu Sans"/>
              </a:rPr>
              <a:t>No: retry</a:t>
            </a:r>
          </a:p>
        </p:txBody>
      </p:sp>
      <p:sp>
        <p:nvSpPr>
          <p:cNvPr id="13" name="Rectangle 12">
            <a:extLst>
              <a:ext uri="{FF2B5EF4-FFF2-40B4-BE49-F238E27FC236}">
                <a16:creationId xmlns:a16="http://schemas.microsoft.com/office/drawing/2014/main" id="{A6D643E0-A9EE-4B1C-B7EB-1933B6ACA9AE}"/>
              </a:ext>
            </a:extLst>
          </p:cNvPr>
          <p:cNvSpPr>
            <a:spLocks noGrp="1"/>
          </p:cNvSpPr>
          <p:nvPr/>
        </p:nvSpPr>
        <p:spPr>
          <a:xfrm>
            <a:off x="666750" y="3238500"/>
            <a:ext cx="2381250" cy="647700"/>
          </a:xfrm>
          <a:prstGeom prst="rect">
            <a:avLst/>
          </a:prstGeom>
          <a:solidFill>
            <a:srgbClr val="262139"/>
          </a:solidFill>
          <a:ln w="19050">
            <a:solidFill>
              <a:srgbClr val="AA89ED"/>
            </a:solidFill>
          </a:ln>
        </p:spPr>
        <p:txBody>
          <a:bodyPr anchor="ctr">
            <a:noAutofit/>
          </a:bodyPr>
          <a:lstStyle/>
          <a:p>
            <a:pPr algn="ctr">
              <a:defRPr sz="1575">
                <a:solidFill>
                  <a:srgbClr val="F7F5FF"/>
                </a:solidFill>
                <a:latin typeface="DejaVu Sans"/>
                <a:ea typeface="DejaVu Sans"/>
                <a:cs typeface="DejaVu Sans"/>
              </a:defRPr>
            </a:pPr>
            <a:r>
              <a:rPr sz="1575">
                <a:solidFill>
                  <a:srgbClr val="F7F5FF"/>
                </a:solidFill>
                <a:latin typeface="DejaVu Sans"/>
                <a:ea typeface="DejaVu Sans"/>
                <a:cs typeface="DejaVu Sans"/>
              </a:rPr>
              <a:t>Add book</a:t>
            </a:r>
          </a:p>
        </p:txBody>
      </p:sp>
      <p:sp>
        <p:nvSpPr>
          <p:cNvPr id="14" name="Rectangle 13">
            <a:extLst>
              <a:ext uri="{FF2B5EF4-FFF2-40B4-BE49-F238E27FC236}">
                <a16:creationId xmlns:a16="http://schemas.microsoft.com/office/drawing/2014/main" id="{919DAF3E-73FE-48DE-B5A4-091C0889CBF2}"/>
              </a:ext>
            </a:extLst>
          </p:cNvPr>
          <p:cNvSpPr>
            <a:spLocks noGrp="1"/>
          </p:cNvSpPr>
          <p:nvPr/>
        </p:nvSpPr>
        <p:spPr>
          <a:xfrm>
            <a:off x="3476625" y="3238500"/>
            <a:ext cx="2381250" cy="647700"/>
          </a:xfrm>
          <a:prstGeom prst="rect">
            <a:avLst/>
          </a:prstGeom>
          <a:solidFill>
            <a:srgbClr val="262139"/>
          </a:solidFill>
          <a:ln w="19050">
            <a:solidFill>
              <a:srgbClr val="AA89ED"/>
            </a:solidFill>
          </a:ln>
        </p:spPr>
        <p:txBody>
          <a:bodyPr anchor="ctr">
            <a:noAutofit/>
          </a:bodyPr>
          <a:lstStyle/>
          <a:p>
            <a:pPr algn="ctr">
              <a:defRPr sz="1575">
                <a:solidFill>
                  <a:srgbClr val="F7F5FF"/>
                </a:solidFill>
                <a:latin typeface="DejaVu Sans"/>
                <a:ea typeface="DejaVu Sans"/>
                <a:cs typeface="DejaVu Sans"/>
              </a:defRPr>
            </a:pPr>
            <a:r>
              <a:rPr sz="1575">
                <a:solidFill>
                  <a:srgbClr val="F7F5FF"/>
                </a:solidFill>
                <a:latin typeface="DejaVu Sans"/>
                <a:ea typeface="DejaVu Sans"/>
                <a:cs typeface="DejaVu Sans"/>
              </a:rPr>
              <a:t>View all users</a:t>
            </a:r>
          </a:p>
        </p:txBody>
      </p:sp>
      <p:sp>
        <p:nvSpPr>
          <p:cNvPr id="15" name="Rectangle 14">
            <a:extLst>
              <a:ext uri="{FF2B5EF4-FFF2-40B4-BE49-F238E27FC236}">
                <a16:creationId xmlns:a16="http://schemas.microsoft.com/office/drawing/2014/main" id="{20CDA11A-AEB8-4B7C-A63B-0A3C908535DF}"/>
              </a:ext>
            </a:extLst>
          </p:cNvPr>
          <p:cNvSpPr>
            <a:spLocks noGrp="1"/>
          </p:cNvSpPr>
          <p:nvPr/>
        </p:nvSpPr>
        <p:spPr>
          <a:xfrm>
            <a:off x="6286500" y="3238500"/>
            <a:ext cx="2381250" cy="647700"/>
          </a:xfrm>
          <a:prstGeom prst="rect">
            <a:avLst/>
          </a:prstGeom>
          <a:solidFill>
            <a:srgbClr val="262139"/>
          </a:solidFill>
          <a:ln w="19050">
            <a:solidFill>
              <a:srgbClr val="AA89ED"/>
            </a:solidFill>
          </a:ln>
        </p:spPr>
        <p:txBody>
          <a:bodyPr anchor="ctr">
            <a:noAutofit/>
          </a:bodyPr>
          <a:lstStyle/>
          <a:p>
            <a:pPr algn="ctr">
              <a:defRPr sz="1575">
                <a:solidFill>
                  <a:srgbClr val="F7F5FF"/>
                </a:solidFill>
                <a:latin typeface="DejaVu Sans"/>
                <a:ea typeface="DejaVu Sans"/>
                <a:cs typeface="DejaVu Sans"/>
              </a:defRPr>
            </a:pPr>
            <a:r>
              <a:rPr sz="1575">
                <a:solidFill>
                  <a:srgbClr val="F7F5FF"/>
                </a:solidFill>
                <a:latin typeface="DejaVu Sans"/>
                <a:ea typeface="DejaVu Sans"/>
                <a:cs typeface="DejaVu Sans"/>
              </a:rPr>
              <a:t>Remove a user</a:t>
            </a:r>
          </a:p>
        </p:txBody>
      </p:sp>
      <p:sp>
        <p:nvSpPr>
          <p:cNvPr id="16" name="Rectangle 15">
            <a:extLst>
              <a:ext uri="{FF2B5EF4-FFF2-40B4-BE49-F238E27FC236}">
                <a16:creationId xmlns:a16="http://schemas.microsoft.com/office/drawing/2014/main" id="{73346322-FC4E-4C8D-B965-7660CCB71591}"/>
              </a:ext>
            </a:extLst>
          </p:cNvPr>
          <p:cNvSpPr>
            <a:spLocks noGrp="1"/>
          </p:cNvSpPr>
          <p:nvPr/>
        </p:nvSpPr>
        <p:spPr>
          <a:xfrm>
            <a:off x="9096375" y="3238500"/>
            <a:ext cx="2381250" cy="647700"/>
          </a:xfrm>
          <a:prstGeom prst="rect">
            <a:avLst/>
          </a:prstGeom>
          <a:solidFill>
            <a:srgbClr val="262139"/>
          </a:solidFill>
          <a:ln w="19050">
            <a:solidFill>
              <a:srgbClr val="AA89ED"/>
            </a:solidFill>
          </a:ln>
        </p:spPr>
        <p:txBody>
          <a:bodyPr anchor="ctr">
            <a:noAutofit/>
          </a:bodyPr>
          <a:lstStyle/>
          <a:p>
            <a:pPr algn="ctr">
              <a:defRPr sz="1575">
                <a:solidFill>
                  <a:srgbClr val="F7F5FF"/>
                </a:solidFill>
                <a:latin typeface="DejaVu Sans"/>
                <a:ea typeface="DejaVu Sans"/>
                <a:cs typeface="DejaVu Sans"/>
              </a:defRPr>
            </a:pPr>
            <a:r>
              <a:rPr sz="1575">
                <a:solidFill>
                  <a:srgbClr val="F7F5FF"/>
                </a:solidFill>
                <a:latin typeface="DejaVu Sans"/>
                <a:ea typeface="DejaVu Sans"/>
                <a:cs typeface="DejaVu Sans"/>
              </a:rPr>
              <a:t>Exit</a:t>
            </a:r>
          </a:p>
        </p:txBody>
      </p:sp>
      <p:cxnSp>
        <p:nvCxnSpPr>
          <p:cNvPr id="44" name="Connector: Elbow 43"/>
          <p:cNvCxnSpPr>
            <a:stCxn id="7" idx="2"/>
            <a:endCxn id="13" idx="0"/>
          </p:cNvCxnSpPr>
          <p:nvPr/>
        </p:nvCxnSpPr>
        <p:spPr>
          <a:xfrm flipH="1">
            <a:off x="1857375" y="2143125"/>
            <a:ext cx="8239125" cy="1095375"/>
          </a:xfrm>
          <a:prstGeom prst="bentConnector4">
            <a:avLst>
              <a:gd name="adj1" fmla="val 0"/>
              <a:gd name="adj2" fmla="val 50000"/>
            </a:avLst>
          </a:prstGeom>
          <a:ln w="23813">
            <a:solidFill>
              <a:srgbClr val="D2F66C"/>
            </a:solidFill>
            <a:tailEnd type="triangle" w="med" len="med"/>
          </a:ln>
        </p:spPr>
      </p:cxnSp>
      <p:cxnSp>
        <p:nvCxnSpPr>
          <p:cNvPr id="45" name="Connector: Elbow 44"/>
          <p:cNvCxnSpPr>
            <a:stCxn id="7" idx="2"/>
            <a:endCxn id="14" idx="0"/>
          </p:cNvCxnSpPr>
          <p:nvPr/>
        </p:nvCxnSpPr>
        <p:spPr>
          <a:xfrm flipH="1">
            <a:off x="4667250" y="2143125"/>
            <a:ext cx="5429250" cy="1095375"/>
          </a:xfrm>
          <a:prstGeom prst="bentConnector4">
            <a:avLst>
              <a:gd name="adj1" fmla="val 0"/>
              <a:gd name="adj2" fmla="val 50000"/>
            </a:avLst>
          </a:prstGeom>
          <a:ln w="23813">
            <a:solidFill>
              <a:srgbClr val="D2F66C"/>
            </a:solidFill>
            <a:tailEnd type="triangle" w="med" len="med"/>
          </a:ln>
        </p:spPr>
      </p:cxnSp>
      <p:cxnSp>
        <p:nvCxnSpPr>
          <p:cNvPr id="46" name="Connector: Elbow 45"/>
          <p:cNvCxnSpPr>
            <a:stCxn id="7" idx="2"/>
            <a:endCxn id="15" idx="0"/>
          </p:cNvCxnSpPr>
          <p:nvPr/>
        </p:nvCxnSpPr>
        <p:spPr>
          <a:xfrm flipH="1">
            <a:off x="7477125" y="2143125"/>
            <a:ext cx="2619375" cy="1095375"/>
          </a:xfrm>
          <a:prstGeom prst="bentConnector4">
            <a:avLst>
              <a:gd name="adj1" fmla="val 0"/>
              <a:gd name="adj2" fmla="val 50000"/>
            </a:avLst>
          </a:prstGeom>
          <a:ln w="23813">
            <a:solidFill>
              <a:srgbClr val="D2F66C"/>
            </a:solidFill>
            <a:tailEnd type="triangle" w="med" len="med"/>
          </a:ln>
        </p:spPr>
      </p:cxnSp>
      <p:cxnSp>
        <p:nvCxnSpPr>
          <p:cNvPr id="47" name="Connector: Elbow 46"/>
          <p:cNvCxnSpPr>
            <a:stCxn id="7" idx="2"/>
            <a:endCxn id="16" idx="0"/>
          </p:cNvCxnSpPr>
          <p:nvPr/>
        </p:nvCxnSpPr>
        <p:spPr>
          <a:xfrm>
            <a:off x="10096500" y="2143125"/>
            <a:ext cx="190500" cy="1095375"/>
          </a:xfrm>
          <a:prstGeom prst="bentConnector4">
            <a:avLst>
              <a:gd name="adj1" fmla="val 0"/>
              <a:gd name="adj2" fmla="val 50000"/>
            </a:avLst>
          </a:prstGeom>
          <a:ln w="23813">
            <a:solidFill>
              <a:srgbClr val="D2F66C"/>
            </a:solidFill>
            <a:tailEnd type="triangle" w="med" len="med"/>
          </a:ln>
        </p:spPr>
      </p:cxnSp>
      <p:sp>
        <p:nvSpPr>
          <p:cNvPr id="21" name="Rectangle 20">
            <a:extLst>
              <a:ext uri="{FF2B5EF4-FFF2-40B4-BE49-F238E27FC236}">
                <a16:creationId xmlns:a16="http://schemas.microsoft.com/office/drawing/2014/main" id="{A34D6AA0-D56D-4E94-9C9B-EA369BBA8CB9}"/>
              </a:ext>
            </a:extLst>
          </p:cNvPr>
          <p:cNvSpPr>
            <a:spLocks noGrp="1"/>
          </p:cNvSpPr>
          <p:nvPr/>
        </p:nvSpPr>
        <p:spPr>
          <a:xfrm>
            <a:off x="571500" y="4600575"/>
            <a:ext cx="2857500" cy="857250"/>
          </a:xfrm>
          <a:prstGeom prst="rect">
            <a:avLst/>
          </a:prstGeom>
          <a:solidFill>
            <a:srgbClr val="262139"/>
          </a:solidFill>
          <a:ln w="19050">
            <a:solidFill>
              <a:srgbClr val="AA89ED"/>
            </a:solidFill>
          </a:ln>
        </p:spPr>
        <p:txBody>
          <a:bodyPr anchor="ctr">
            <a:noAutofit/>
          </a:bodyPr>
          <a:lstStyle/>
          <a:p>
            <a:pPr algn="ctr">
              <a:defRPr sz="1575">
                <a:solidFill>
                  <a:srgbClr val="F7F5FF"/>
                </a:solidFill>
                <a:latin typeface="DejaVu Sans"/>
                <a:ea typeface="DejaVu Sans"/>
                <a:cs typeface="DejaVu Sans"/>
              </a:defRPr>
            </a:pPr>
            <a:r>
              <a:rPr sz="1575">
                <a:solidFill>
                  <a:srgbClr val="F7F5FF"/>
                </a:solidFill>
                <a:latin typeface="DejaVu Sans"/>
                <a:ea typeface="DejaVu Sans"/>
                <a:cs typeface="DejaVu Sans"/>
              </a:rPr>
              <a:t>Append bookdetails.txt</a:t>
            </a:r>
          </a:p>
          <a:p>
            <a:pPr algn="ctr">
              <a:defRPr sz="1575">
                <a:solidFill>
                  <a:srgbClr val="F7F5FF"/>
                </a:solidFill>
                <a:latin typeface="DejaVu Sans"/>
                <a:ea typeface="DejaVu Sans"/>
                <a:cs typeface="DejaVu Sans"/>
              </a:defRPr>
            </a:pPr>
            <a:r>
              <a:rPr sz="1575">
                <a:solidFill>
                  <a:srgbClr val="F7F5FF"/>
                </a:solidFill>
                <a:latin typeface="DejaVu Sans"/>
                <a:ea typeface="DejaVu Sans"/>
                <a:cs typeface="DejaVu Sans"/>
              </a:rPr>
              <a:t>Call admin menu again</a:t>
            </a:r>
          </a:p>
        </p:txBody>
      </p:sp>
      <p:sp>
        <p:nvSpPr>
          <p:cNvPr id="22" name="Rectangle: Rounded Corners 21">
            <a:extLst>
              <a:ext uri="{FF2B5EF4-FFF2-40B4-BE49-F238E27FC236}">
                <a16:creationId xmlns:a16="http://schemas.microsoft.com/office/drawing/2014/main" id="{945F8390-FBC1-4313-9F1C-A3F94083E761}"/>
              </a:ext>
            </a:extLst>
          </p:cNvPr>
          <p:cNvSpPr>
            <a:spLocks noGrp="1"/>
          </p:cNvSpPr>
          <p:nvPr/>
        </p:nvSpPr>
        <p:spPr>
          <a:xfrm>
            <a:off x="6238875" y="4600575"/>
            <a:ext cx="4238625" cy="857250"/>
          </a:xfrm>
          <a:prstGeom prst="roundRect">
            <a:avLst>
              <a:gd name="adj" fmla="val 8889"/>
            </a:avLst>
          </a:prstGeom>
          <a:solidFill>
            <a:srgbClr val="262139"/>
          </a:solidFill>
          <a:ln w="19050">
            <a:solidFill>
              <a:srgbClr val="AA89ED"/>
            </a:solidFill>
          </a:ln>
        </p:spPr>
        <p:txBody>
          <a:bodyPr anchor="ctr">
            <a:noAutofit/>
          </a:bodyPr>
          <a:lstStyle/>
          <a:p>
            <a:pPr algn="ctr">
              <a:defRPr sz="1575">
                <a:solidFill>
                  <a:srgbClr val="F7F5FF"/>
                </a:solidFill>
                <a:latin typeface="DejaVu Sans"/>
                <a:ea typeface="DejaVu Sans"/>
                <a:cs typeface="DejaVu Sans"/>
              </a:defRPr>
            </a:pPr>
            <a:r>
              <a:rPr sz="1575">
                <a:solidFill>
                  <a:srgbClr val="F7F5FF"/>
                </a:solidFill>
                <a:latin typeface="DejaVu Sans"/>
                <a:ea typeface="DejaVu Sans"/>
                <a:cs typeface="DejaVu Sans"/>
              </a:rPr>
              <a:t>Return through calls</a:t>
            </a:r>
          </a:p>
          <a:p>
            <a:pPr algn="ctr">
              <a:defRPr sz="1575">
                <a:solidFill>
                  <a:srgbClr val="F7F5FF"/>
                </a:solidFill>
                <a:latin typeface="DejaVu Sans"/>
                <a:ea typeface="DejaVu Sans"/>
                <a:cs typeface="DejaVu Sans"/>
              </a:defRPr>
            </a:pPr>
            <a:r>
              <a:rPr sz="1575">
                <a:solidFill>
                  <a:srgbClr val="F7F5FF"/>
                </a:solidFill>
                <a:latin typeface="DejaVu Sans"/>
                <a:ea typeface="DejaVu Sans"/>
                <a:cs typeface="DejaVu Sans"/>
              </a:rPr>
              <a:t>to the main menu</a:t>
            </a:r>
          </a:p>
        </p:txBody>
      </p:sp>
      <p:cxnSp>
        <p:nvCxnSpPr>
          <p:cNvPr id="50" name="Connector: Elbow 49"/>
          <p:cNvCxnSpPr>
            <a:stCxn id="13" idx="2"/>
            <a:endCxn id="21" idx="0"/>
          </p:cNvCxnSpPr>
          <p:nvPr/>
        </p:nvCxnSpPr>
        <p:spPr>
          <a:xfrm>
            <a:off x="1857375" y="3886200"/>
            <a:ext cx="142875" cy="714375"/>
          </a:xfrm>
          <a:prstGeom prst="bentConnector4">
            <a:avLst>
              <a:gd name="adj1" fmla="val 0"/>
              <a:gd name="adj2" fmla="val 50000"/>
            </a:avLst>
          </a:prstGeom>
          <a:ln w="23813">
            <a:solidFill>
              <a:srgbClr val="D2F66C"/>
            </a:solidFill>
            <a:tailEnd type="triangle" w="med" len="med"/>
          </a:ln>
        </p:spPr>
      </p:cxnSp>
      <p:cxnSp>
        <p:nvCxnSpPr>
          <p:cNvPr id="51" name="Connector: Elbow 50"/>
          <p:cNvCxnSpPr>
            <a:stCxn id="14" idx="2"/>
            <a:endCxn id="22" idx="0"/>
          </p:cNvCxnSpPr>
          <p:nvPr/>
        </p:nvCxnSpPr>
        <p:spPr>
          <a:xfrm>
            <a:off x="4667250" y="3886200"/>
            <a:ext cx="3690938" cy="714375"/>
          </a:xfrm>
          <a:prstGeom prst="bentConnector4">
            <a:avLst>
              <a:gd name="adj1" fmla="val 0"/>
              <a:gd name="adj2" fmla="val 50000"/>
            </a:avLst>
          </a:prstGeom>
          <a:ln w="23813">
            <a:solidFill>
              <a:srgbClr val="D2F66C"/>
            </a:solidFill>
            <a:tailEnd type="triangle" w="med" len="med"/>
          </a:ln>
        </p:spPr>
      </p:cxnSp>
      <p:cxnSp>
        <p:nvCxnSpPr>
          <p:cNvPr id="52" name="Connector: Elbow 51"/>
          <p:cNvCxnSpPr>
            <a:stCxn id="15" idx="2"/>
            <a:endCxn id="22" idx="0"/>
          </p:cNvCxnSpPr>
          <p:nvPr/>
        </p:nvCxnSpPr>
        <p:spPr>
          <a:xfrm>
            <a:off x="7477125" y="3886200"/>
            <a:ext cx="881063" cy="714375"/>
          </a:xfrm>
          <a:prstGeom prst="bentConnector4">
            <a:avLst>
              <a:gd name="adj1" fmla="val 0"/>
              <a:gd name="adj2" fmla="val 50000"/>
            </a:avLst>
          </a:prstGeom>
          <a:ln w="23813">
            <a:solidFill>
              <a:srgbClr val="D2F66C"/>
            </a:solidFill>
            <a:tailEnd type="triangle" w="med" len="med"/>
          </a:ln>
        </p:spPr>
      </p:cxnSp>
      <p:cxnSp>
        <p:nvCxnSpPr>
          <p:cNvPr id="53" name="Connector: Elbow 52"/>
          <p:cNvCxnSpPr>
            <a:stCxn id="16" idx="2"/>
            <a:endCxn id="22" idx="0"/>
          </p:cNvCxnSpPr>
          <p:nvPr/>
        </p:nvCxnSpPr>
        <p:spPr>
          <a:xfrm flipH="1">
            <a:off x="8358188" y="3886200"/>
            <a:ext cx="1928813" cy="714375"/>
          </a:xfrm>
          <a:prstGeom prst="bentConnector4">
            <a:avLst>
              <a:gd name="adj1" fmla="val 0"/>
              <a:gd name="adj2" fmla="val 50000"/>
            </a:avLst>
          </a:prstGeom>
          <a:ln w="23813">
            <a:solidFill>
              <a:srgbClr val="D2F66C"/>
            </a:solidFill>
            <a:tailEnd type="triangle" w="med" len="med"/>
          </a:ln>
        </p:spPr>
      </p:cxnSp>
      <p:sp>
        <p:nvSpPr>
          <p:cNvPr id="27" name="Rectangle 26">
            <a:extLst>
              <a:ext uri="{FF2B5EF4-FFF2-40B4-BE49-F238E27FC236}">
                <a16:creationId xmlns:a16="http://schemas.microsoft.com/office/drawing/2014/main" id="{CDE57E0B-83AE-431C-98E2-D175B3861C51}"/>
              </a:ext>
            </a:extLst>
          </p:cNvPr>
          <p:cNvSpPr>
            <a:spLocks noGrp="1"/>
          </p:cNvSpPr>
          <p:nvPr/>
        </p:nvSpPr>
        <p:spPr>
          <a:xfrm>
            <a:off x="590550" y="5753100"/>
            <a:ext cx="10858500" cy="352425"/>
          </a:xfrm>
          <a:prstGeom prst="rect">
            <a:avLst/>
          </a:prstGeom>
          <a:noFill/>
          <a:ln w="0">
            <a:noFill/>
          </a:ln>
        </p:spPr>
        <p:txBody>
          <a:bodyPr>
            <a:noAutofit/>
          </a:bodyPr>
          <a:lstStyle/>
          <a:p>
            <a:pPr>
              <a:defRPr sz="1650" b="0">
                <a:solidFill>
                  <a:srgbClr val="C8C3D8"/>
                </a:solidFill>
                <a:latin typeface="DejaVu Sans"/>
                <a:ea typeface="DejaVu Sans"/>
                <a:cs typeface="DejaVu Sans"/>
              </a:defRPr>
            </a:pPr>
            <a:r>
              <a:rPr sz="1650" b="0">
                <a:solidFill>
                  <a:srgbClr val="C8C3D8"/>
                </a:solidFill>
                <a:latin typeface="DejaVu Sans"/>
                <a:ea typeface="DejaVu Sans"/>
                <a:cs typeface="DejaVu Sans"/>
              </a:rPr>
              <a:t>Missing admin.bin also leads to repeated prompts in the current implementation.</a:t>
            </a:r>
          </a:p>
        </p:txBody>
      </p:sp>
    </p:spTree>
    <p:extLst>
      <p:ext uri="{BB962C8B-B14F-4D97-AF65-F5344CB8AC3E}">
        <p14:creationId xmlns:p14="http://schemas.microsoft.com/office/powerpoint/2010/main" val="16895018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00F22"/>
        </a:solidFill>
        <a:effectLst/>
      </p:bgPr>
    </p:bg>
    <p:spTree>
      <p:nvGrpSpPr>
        <p:cNvPr id="1" name=""/>
        <p:cNvGrpSpPr/>
        <p:nvPr/>
      </p:nvGrpSpPr>
      <p:grpSpPr>
        <a:xfrm>
          <a:off x="0" y="0"/>
          <a:ext cx="0" cy="0"/>
          <a:chOff x="0" y="0"/>
          <a:chExt cx="0" cy="0"/>
        </a:xfrm>
      </p:grpSpPr>
      <p:pic>
        <p:nvPicPr>
          <p:cNvPr id="14" name="Picture 13"/>
          <p:cNvPicPr>
            <a:picLocks noChangeAspect="1"/>
          </p:cNvPicPr>
          <p:nvPr/>
        </p:nvPicPr>
        <p:blipFill>
          <a:blip r:embed="rId3"/>
          <a:stretch/>
        </p:blipFill>
        <p:spPr>
          <a:xfrm>
            <a:off x="3239" y="0"/>
            <a:ext cx="12185522" cy="6858000"/>
          </a:xfrm>
          <a:prstGeom prst="rect">
            <a:avLst/>
          </a:prstGeom>
        </p:spPr>
      </p:pic>
      <p:pic>
        <p:nvPicPr>
          <p:cNvPr id="15" name="Picture 14"/>
          <p:cNvPicPr>
            <a:picLocks noChangeAspect="1"/>
          </p:cNvPicPr>
          <p:nvPr/>
        </p:nvPicPr>
        <p:blipFill>
          <a:blip r:embed="rId4"/>
          <a:stretch/>
        </p:blipFill>
        <p:spPr>
          <a:xfrm>
            <a:off x="4000561" y="1504950"/>
            <a:ext cx="8191379" cy="4610100"/>
          </a:xfrm>
          <a:prstGeom prst="rect">
            <a:avLst/>
          </a:prstGeom>
        </p:spPr>
      </p:pic>
      <p:sp>
        <p:nvSpPr>
          <p:cNvPr id="3" name="Rectangle 2">
            <a:extLst>
              <a:ext uri="{FF2B5EF4-FFF2-40B4-BE49-F238E27FC236}">
                <a16:creationId xmlns:a16="http://schemas.microsoft.com/office/drawing/2014/main" id="{1A875F11-D48B-416A-9F49-EF5CDA672B14}"/>
              </a:ext>
            </a:extLst>
          </p:cNvPr>
          <p:cNvSpPr>
            <a:spLocks noGrp="1"/>
          </p:cNvSpPr>
          <p:nvPr/>
        </p:nvSpPr>
        <p:spPr>
          <a:xfrm>
            <a:off x="571500" y="400050"/>
            <a:ext cx="10953750" cy="762000"/>
          </a:xfrm>
          <a:prstGeom prst="rect">
            <a:avLst/>
          </a:prstGeom>
          <a:noFill/>
          <a:ln w="0">
            <a:noFill/>
          </a:ln>
        </p:spPr>
        <p:txBody>
          <a:bodyPr>
            <a:noAutofit/>
          </a:bodyPr>
          <a:lstStyle/>
          <a:p>
            <a:pPr>
              <a:defRPr sz="3150" b="1">
                <a:solidFill>
                  <a:srgbClr val="D5C2FF"/>
                </a:solidFill>
                <a:latin typeface="DejaVu Sans"/>
                <a:ea typeface="DejaVu Sans"/>
                <a:cs typeface="DejaVu Sans"/>
              </a:defRPr>
            </a:pPr>
            <a:r>
              <a:rPr sz="3150" b="1">
                <a:solidFill>
                  <a:srgbClr val="D5C2FF"/>
                </a:solidFill>
                <a:latin typeface="DejaVu Sans"/>
                <a:ea typeface="DejaVu Sans"/>
                <a:cs typeface="DejaVu Sans"/>
              </a:rPr>
              <a:t>Book issue process</a:t>
            </a:r>
          </a:p>
        </p:txBody>
      </p:sp>
      <p:pic>
        <p:nvPicPr>
          <p:cNvPr id="17" name="Picture 16"/>
          <p:cNvPicPr>
            <a:picLocks noChangeAspect="1"/>
          </p:cNvPicPr>
          <p:nvPr/>
        </p:nvPicPr>
        <p:blipFill>
          <a:blip r:embed="rId5"/>
          <a:stretch/>
        </p:blipFill>
        <p:spPr>
          <a:xfrm>
            <a:off x="10477500" y="6153873"/>
            <a:ext cx="1143000" cy="570053"/>
          </a:xfrm>
          <a:prstGeom prst="rect">
            <a:avLst/>
          </a:prstGeom>
        </p:spPr>
      </p:pic>
      <p:sp>
        <p:nvSpPr>
          <p:cNvPr id="5" name="Rectangle 4">
            <a:extLst>
              <a:ext uri="{FF2B5EF4-FFF2-40B4-BE49-F238E27FC236}">
                <a16:creationId xmlns:a16="http://schemas.microsoft.com/office/drawing/2014/main" id="{C008D962-3D3B-450D-AAEE-123A927D4098}"/>
              </a:ext>
            </a:extLst>
          </p:cNvPr>
          <p:cNvSpPr>
            <a:spLocks noGrp="1"/>
          </p:cNvSpPr>
          <p:nvPr/>
        </p:nvSpPr>
        <p:spPr>
          <a:xfrm>
            <a:off x="571500" y="6162675"/>
            <a:ext cx="857250" cy="457200"/>
          </a:xfrm>
          <a:prstGeom prst="rect">
            <a:avLst/>
          </a:prstGeom>
          <a:noFill/>
          <a:ln w="0">
            <a:noFill/>
          </a:ln>
        </p:spPr>
        <p:txBody>
          <a:bodyPr>
            <a:noAutofit/>
          </a:bodyPr>
          <a:lstStyle/>
          <a:p>
            <a:pPr>
              <a:defRPr sz="2175" b="1">
                <a:solidFill>
                  <a:srgbClr val="D2F66C"/>
                </a:solidFill>
                <a:latin typeface="DejaVu Sans"/>
                <a:ea typeface="DejaVu Sans"/>
                <a:cs typeface="DejaVu Sans"/>
              </a:defRPr>
            </a:pPr>
            <a:r>
              <a:rPr sz="2175" b="1">
                <a:solidFill>
                  <a:srgbClr val="D2F66C"/>
                </a:solidFill>
                <a:latin typeface="DejaVu Sans"/>
                <a:ea typeface="DejaVu Sans"/>
                <a:cs typeface="DejaVu Sans"/>
              </a:rPr>
              <a:t>12</a:t>
            </a:r>
          </a:p>
        </p:txBody>
      </p:sp>
      <p:sp>
        <p:nvSpPr>
          <p:cNvPr id="6" name="Rectangle 5">
            <a:extLst>
              <a:ext uri="{FF2B5EF4-FFF2-40B4-BE49-F238E27FC236}">
                <a16:creationId xmlns:a16="http://schemas.microsoft.com/office/drawing/2014/main" id="{C7DEDD9F-D5C5-49C3-AB9A-C35D5C20F2FB}"/>
              </a:ext>
            </a:extLst>
          </p:cNvPr>
          <p:cNvSpPr>
            <a:spLocks noGrp="1"/>
          </p:cNvSpPr>
          <p:nvPr/>
        </p:nvSpPr>
        <p:spPr>
          <a:xfrm>
            <a:off x="609600" y="1485900"/>
            <a:ext cx="7191375" cy="342900"/>
          </a:xfrm>
          <a:prstGeom prst="rect">
            <a:avLst/>
          </a:prstGeom>
          <a:noFill/>
          <a:ln w="0">
            <a:noFill/>
          </a:ln>
        </p:spPr>
        <p:txBody>
          <a:bodyPr>
            <a:noAutofit/>
          </a:bodyPr>
          <a:lstStyle/>
          <a:p>
            <a:pPr>
              <a:defRPr sz="1950" b="1">
                <a:solidFill>
                  <a:srgbClr val="D2F66C"/>
                </a:solidFill>
                <a:latin typeface="DejaVu Sans"/>
                <a:ea typeface="DejaVu Sans"/>
                <a:cs typeface="DejaVu Sans"/>
              </a:defRPr>
            </a:pPr>
            <a:r>
              <a:rPr sz="1950" b="1">
                <a:solidFill>
                  <a:srgbClr val="D2F66C"/>
                </a:solidFill>
                <a:latin typeface="DejaVu Sans"/>
                <a:ea typeface="DejaVu Sans"/>
                <a:cs typeface="DejaVu Sans"/>
              </a:rPr>
              <a:t>01   Enter details</a:t>
            </a:r>
          </a:p>
        </p:txBody>
      </p:sp>
      <p:sp>
        <p:nvSpPr>
          <p:cNvPr id="7" name="Rectangle 6">
            <a:extLst>
              <a:ext uri="{FF2B5EF4-FFF2-40B4-BE49-F238E27FC236}">
                <a16:creationId xmlns:a16="http://schemas.microsoft.com/office/drawing/2014/main" id="{41BA55B7-A6D8-4870-B3CE-54CD6E3F7A2E}"/>
              </a:ext>
            </a:extLst>
          </p:cNvPr>
          <p:cNvSpPr>
            <a:spLocks noGrp="1"/>
          </p:cNvSpPr>
          <p:nvPr/>
        </p:nvSpPr>
        <p:spPr>
          <a:xfrm>
            <a:off x="609600" y="1866900"/>
            <a:ext cx="7191375" cy="762000"/>
          </a:xfrm>
          <a:prstGeom prst="rect">
            <a:avLst/>
          </a:prstGeom>
          <a:noFill/>
          <a:ln w="0">
            <a:noFill/>
          </a:ln>
        </p:spPr>
        <p:txBody>
          <a:bodyPr>
            <a:noAutofit/>
          </a:bodyPr>
          <a:lstStyle/>
          <a:p>
            <a:pPr>
              <a:defRPr sz="1725" b="0">
                <a:solidFill>
                  <a:srgbClr val="C8C3D8"/>
                </a:solidFill>
                <a:latin typeface="DejaVu Sans"/>
                <a:ea typeface="DejaVu Sans"/>
                <a:cs typeface="DejaVu Sans"/>
              </a:defRPr>
            </a:pPr>
            <a:r>
              <a:rPr sz="1725" b="0">
                <a:solidFill>
                  <a:srgbClr val="C8C3D8"/>
                </a:solidFill>
                <a:latin typeface="DejaVu Sans"/>
                <a:ea typeface="DejaVu Sans"/>
                <a:cs typeface="DejaVu Sans"/>
              </a:rPr>
              <a:t>The user enters member ID, name, mobile number, book ID and book name.</a:t>
            </a:r>
          </a:p>
        </p:txBody>
      </p:sp>
      <p:sp>
        <p:nvSpPr>
          <p:cNvPr id="8" name="Rectangle 7">
            <a:extLst>
              <a:ext uri="{FF2B5EF4-FFF2-40B4-BE49-F238E27FC236}">
                <a16:creationId xmlns:a16="http://schemas.microsoft.com/office/drawing/2014/main" id="{D658599F-C2AC-44A4-8B39-62F6EAE078DE}"/>
              </a:ext>
            </a:extLst>
          </p:cNvPr>
          <p:cNvSpPr>
            <a:spLocks noGrp="1"/>
          </p:cNvSpPr>
          <p:nvPr/>
        </p:nvSpPr>
        <p:spPr>
          <a:xfrm>
            <a:off x="609600" y="2609850"/>
            <a:ext cx="7191375" cy="342900"/>
          </a:xfrm>
          <a:prstGeom prst="rect">
            <a:avLst/>
          </a:prstGeom>
          <a:noFill/>
          <a:ln w="0">
            <a:noFill/>
          </a:ln>
        </p:spPr>
        <p:txBody>
          <a:bodyPr>
            <a:noAutofit/>
          </a:bodyPr>
          <a:lstStyle/>
          <a:p>
            <a:pPr>
              <a:defRPr sz="1950" b="1">
                <a:solidFill>
                  <a:srgbClr val="D2F66C"/>
                </a:solidFill>
                <a:latin typeface="DejaVu Sans"/>
                <a:ea typeface="DejaVu Sans"/>
                <a:cs typeface="DejaVu Sans"/>
              </a:defRPr>
            </a:pPr>
            <a:r>
              <a:rPr sz="1950" b="1">
                <a:solidFill>
                  <a:srgbClr val="D2F66C"/>
                </a:solidFill>
                <a:latin typeface="DejaVu Sans"/>
                <a:ea typeface="DejaVu Sans"/>
                <a:cs typeface="DejaVu Sans"/>
              </a:rPr>
              <a:t>02   Create the issue date</a:t>
            </a:r>
          </a:p>
        </p:txBody>
      </p:sp>
      <p:sp>
        <p:nvSpPr>
          <p:cNvPr id="9" name="Rectangle 8">
            <a:extLst>
              <a:ext uri="{FF2B5EF4-FFF2-40B4-BE49-F238E27FC236}">
                <a16:creationId xmlns:a16="http://schemas.microsoft.com/office/drawing/2014/main" id="{A6C071C5-1F68-4E38-AEBA-4939C0CF2BFA}"/>
              </a:ext>
            </a:extLst>
          </p:cNvPr>
          <p:cNvSpPr>
            <a:spLocks noGrp="1"/>
          </p:cNvSpPr>
          <p:nvPr/>
        </p:nvSpPr>
        <p:spPr>
          <a:xfrm>
            <a:off x="609600" y="2990850"/>
            <a:ext cx="7191375" cy="762000"/>
          </a:xfrm>
          <a:prstGeom prst="rect">
            <a:avLst/>
          </a:prstGeom>
          <a:noFill/>
          <a:ln w="0">
            <a:noFill/>
          </a:ln>
        </p:spPr>
        <p:txBody>
          <a:bodyPr>
            <a:noAutofit/>
          </a:bodyPr>
          <a:lstStyle/>
          <a:p>
            <a:pPr>
              <a:defRPr sz="1725" b="0">
                <a:solidFill>
                  <a:srgbClr val="C8C3D8"/>
                </a:solidFill>
                <a:latin typeface="DejaVu Sans"/>
                <a:ea typeface="DejaVu Sans"/>
                <a:cs typeface="DejaVu Sans"/>
              </a:defRPr>
            </a:pPr>
            <a:r>
              <a:rPr sz="1725" b="0">
                <a:solidFill>
                  <a:srgbClr val="C8C3D8"/>
                </a:solidFill>
                <a:latin typeface="DejaVu Sans"/>
                <a:ea typeface="DejaVu Sans"/>
                <a:cs typeface="DejaVu Sans"/>
              </a:rPr>
              <a:t>time(0) and localtime() supply the date in day/month/year format.</a:t>
            </a:r>
          </a:p>
        </p:txBody>
      </p:sp>
      <p:sp>
        <p:nvSpPr>
          <p:cNvPr id="10" name="Rectangle 9">
            <a:extLst>
              <a:ext uri="{FF2B5EF4-FFF2-40B4-BE49-F238E27FC236}">
                <a16:creationId xmlns:a16="http://schemas.microsoft.com/office/drawing/2014/main" id="{86A766DE-41C5-416F-BEF3-F73FD2DADE07}"/>
              </a:ext>
            </a:extLst>
          </p:cNvPr>
          <p:cNvSpPr>
            <a:spLocks noGrp="1"/>
          </p:cNvSpPr>
          <p:nvPr/>
        </p:nvSpPr>
        <p:spPr>
          <a:xfrm>
            <a:off x="609600" y="3733800"/>
            <a:ext cx="7191375" cy="342900"/>
          </a:xfrm>
          <a:prstGeom prst="rect">
            <a:avLst/>
          </a:prstGeom>
          <a:noFill/>
          <a:ln w="0">
            <a:noFill/>
          </a:ln>
        </p:spPr>
        <p:txBody>
          <a:bodyPr>
            <a:noAutofit/>
          </a:bodyPr>
          <a:lstStyle/>
          <a:p>
            <a:pPr>
              <a:defRPr sz="1950" b="1">
                <a:solidFill>
                  <a:srgbClr val="D2F66C"/>
                </a:solidFill>
                <a:latin typeface="DejaVu Sans"/>
                <a:ea typeface="DejaVu Sans"/>
                <a:cs typeface="DejaVu Sans"/>
              </a:defRPr>
            </a:pPr>
            <a:r>
              <a:rPr sz="1950" b="1">
                <a:solidFill>
                  <a:srgbClr val="D2F66C"/>
                </a:solidFill>
                <a:latin typeface="DejaVu Sans"/>
                <a:ea typeface="DejaVu Sans"/>
                <a:cs typeface="DejaVu Sans"/>
              </a:rPr>
              <a:t>03   Save the issue record</a:t>
            </a:r>
          </a:p>
        </p:txBody>
      </p:sp>
      <p:sp>
        <p:nvSpPr>
          <p:cNvPr id="11" name="Rectangle 10">
            <a:extLst>
              <a:ext uri="{FF2B5EF4-FFF2-40B4-BE49-F238E27FC236}">
                <a16:creationId xmlns:a16="http://schemas.microsoft.com/office/drawing/2014/main" id="{DBE88965-FE82-4C64-87F0-4E0100601BC4}"/>
              </a:ext>
            </a:extLst>
          </p:cNvPr>
          <p:cNvSpPr>
            <a:spLocks noGrp="1"/>
          </p:cNvSpPr>
          <p:nvPr/>
        </p:nvSpPr>
        <p:spPr>
          <a:xfrm>
            <a:off x="609600" y="4114800"/>
            <a:ext cx="7191375" cy="762000"/>
          </a:xfrm>
          <a:prstGeom prst="rect">
            <a:avLst/>
          </a:prstGeom>
          <a:noFill/>
          <a:ln w="0">
            <a:noFill/>
          </a:ln>
        </p:spPr>
        <p:txBody>
          <a:bodyPr>
            <a:noAutofit/>
          </a:bodyPr>
          <a:lstStyle/>
          <a:p>
            <a:pPr>
              <a:defRPr sz="1725" b="0">
                <a:solidFill>
                  <a:srgbClr val="C8C3D8"/>
                </a:solidFill>
                <a:latin typeface="DejaVu Sans"/>
                <a:ea typeface="DejaVu Sans"/>
                <a:cs typeface="DejaVu Sans"/>
              </a:defRPr>
            </a:pPr>
            <a:r>
              <a:rPr sz="1725" b="0">
                <a:solidFill>
                  <a:srgbClr val="C8C3D8"/>
                </a:solidFill>
                <a:latin typeface="DejaVu Sans"/>
                <a:ea typeface="DejaVu Sans"/>
                <a:cs typeface="DejaVu Sans"/>
              </a:rPr>
              <a:t>issueBook() appends the entered values to issueddetails.txt.</a:t>
            </a:r>
          </a:p>
        </p:txBody>
      </p:sp>
      <p:sp>
        <p:nvSpPr>
          <p:cNvPr id="12" name="Rectangle 11">
            <a:extLst>
              <a:ext uri="{FF2B5EF4-FFF2-40B4-BE49-F238E27FC236}">
                <a16:creationId xmlns:a16="http://schemas.microsoft.com/office/drawing/2014/main" id="{F7BE634E-F758-41A9-9348-B2871290731B}"/>
              </a:ext>
            </a:extLst>
          </p:cNvPr>
          <p:cNvSpPr>
            <a:spLocks noGrp="1"/>
          </p:cNvSpPr>
          <p:nvPr/>
        </p:nvSpPr>
        <p:spPr>
          <a:xfrm>
            <a:off x="609600" y="4857750"/>
            <a:ext cx="7191375" cy="342900"/>
          </a:xfrm>
          <a:prstGeom prst="rect">
            <a:avLst/>
          </a:prstGeom>
          <a:noFill/>
          <a:ln w="0">
            <a:noFill/>
          </a:ln>
        </p:spPr>
        <p:txBody>
          <a:bodyPr>
            <a:noAutofit/>
          </a:bodyPr>
          <a:lstStyle/>
          <a:p>
            <a:pPr>
              <a:defRPr sz="1950" b="1">
                <a:solidFill>
                  <a:srgbClr val="D2F66C"/>
                </a:solidFill>
                <a:latin typeface="DejaVu Sans"/>
                <a:ea typeface="DejaVu Sans"/>
                <a:cs typeface="DejaVu Sans"/>
              </a:defRPr>
            </a:pPr>
            <a:r>
              <a:rPr sz="1950" b="1">
                <a:solidFill>
                  <a:srgbClr val="D2F66C"/>
                </a:solidFill>
                <a:latin typeface="DejaVu Sans"/>
                <a:ea typeface="DejaVu Sans"/>
                <a:cs typeface="DejaVu Sans"/>
              </a:rPr>
              <a:t>Current behavior</a:t>
            </a:r>
          </a:p>
        </p:txBody>
      </p:sp>
      <p:sp>
        <p:nvSpPr>
          <p:cNvPr id="13" name="Rectangle 12">
            <a:extLst>
              <a:ext uri="{FF2B5EF4-FFF2-40B4-BE49-F238E27FC236}">
                <a16:creationId xmlns:a16="http://schemas.microsoft.com/office/drawing/2014/main" id="{FFD1FDA6-8C4F-4518-890C-5C5F5340997D}"/>
              </a:ext>
            </a:extLst>
          </p:cNvPr>
          <p:cNvSpPr>
            <a:spLocks noGrp="1"/>
          </p:cNvSpPr>
          <p:nvPr/>
        </p:nvSpPr>
        <p:spPr>
          <a:xfrm>
            <a:off x="609600" y="5238750"/>
            <a:ext cx="7191375" cy="762000"/>
          </a:xfrm>
          <a:prstGeom prst="rect">
            <a:avLst/>
          </a:prstGeom>
          <a:noFill/>
          <a:ln w="0">
            <a:noFill/>
          </a:ln>
        </p:spPr>
        <p:txBody>
          <a:bodyPr>
            <a:noAutofit/>
          </a:bodyPr>
          <a:lstStyle/>
          <a:p>
            <a:pPr>
              <a:defRPr sz="1725" b="0">
                <a:solidFill>
                  <a:srgbClr val="C8C3D8"/>
                </a:solidFill>
                <a:latin typeface="DejaVu Sans"/>
                <a:ea typeface="DejaVu Sans"/>
                <a:cs typeface="DejaVu Sans"/>
              </a:defRPr>
            </a:pPr>
            <a:r>
              <a:rPr sz="1725" b="0">
                <a:solidFill>
                  <a:srgbClr val="C8C3D8"/>
                </a:solidFill>
                <a:latin typeface="DejaVu Sans"/>
                <a:ea typeface="DejaVu Sans"/>
                <a:cs typeface="DejaVu Sans"/>
              </a:rPr>
              <a:t>The function does not check IDs or availability, and does not update the book record.</a:t>
            </a:r>
          </a:p>
        </p:txBody>
      </p:sp>
    </p:spTree>
    <p:extLst>
      <p:ext uri="{BB962C8B-B14F-4D97-AF65-F5344CB8AC3E}">
        <p14:creationId xmlns:p14="http://schemas.microsoft.com/office/powerpoint/2010/main" val="6135245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D9CDF9"/>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04E3B14-27B2-40B3-88E2-98C7D298B287}"/>
              </a:ext>
            </a:extLst>
          </p:cNvPr>
          <p:cNvSpPr>
            <a:spLocks noGrp="1"/>
          </p:cNvSpPr>
          <p:nvPr/>
        </p:nvSpPr>
        <p:spPr>
          <a:xfrm>
            <a:off x="571500" y="400050"/>
            <a:ext cx="10953750" cy="762000"/>
          </a:xfrm>
          <a:prstGeom prst="rect">
            <a:avLst/>
          </a:prstGeom>
          <a:noFill/>
          <a:ln w="0">
            <a:noFill/>
          </a:ln>
        </p:spPr>
        <p:txBody>
          <a:bodyPr>
            <a:noAutofit/>
          </a:bodyPr>
          <a:lstStyle/>
          <a:p>
            <a:pPr>
              <a:defRPr sz="3150" b="1">
                <a:solidFill>
                  <a:srgbClr val="181427"/>
                </a:solidFill>
                <a:latin typeface="DejaVu Sans"/>
                <a:ea typeface="DejaVu Sans"/>
                <a:cs typeface="DejaVu Sans"/>
              </a:defRPr>
            </a:pPr>
            <a:r>
              <a:rPr sz="3150" b="1">
                <a:solidFill>
                  <a:srgbClr val="181427"/>
                </a:solidFill>
                <a:latin typeface="DejaVu Sans"/>
                <a:ea typeface="DejaVu Sans"/>
                <a:cs typeface="DejaVu Sans"/>
              </a:rPr>
              <a:t>C++ concepts in the implementation</a:t>
            </a:r>
          </a:p>
        </p:txBody>
      </p:sp>
      <p:pic>
        <p:nvPicPr>
          <p:cNvPr id="7" name="Picture 6"/>
          <p:cNvPicPr>
            <a:picLocks noChangeAspect="1"/>
          </p:cNvPicPr>
          <p:nvPr/>
        </p:nvPicPr>
        <p:blipFill>
          <a:blip r:embed="rId3"/>
          <a:stretch/>
        </p:blipFill>
        <p:spPr>
          <a:xfrm>
            <a:off x="10477500" y="6153873"/>
            <a:ext cx="1143000" cy="570053"/>
          </a:xfrm>
          <a:prstGeom prst="rect">
            <a:avLst/>
          </a:prstGeom>
        </p:spPr>
      </p:pic>
      <p:sp>
        <p:nvSpPr>
          <p:cNvPr id="3" name="Rectangle 2">
            <a:extLst>
              <a:ext uri="{FF2B5EF4-FFF2-40B4-BE49-F238E27FC236}">
                <a16:creationId xmlns:a16="http://schemas.microsoft.com/office/drawing/2014/main" id="{570039CE-4877-4C92-AF4D-1EA32170A246}"/>
              </a:ext>
            </a:extLst>
          </p:cNvPr>
          <p:cNvSpPr>
            <a:spLocks noGrp="1"/>
          </p:cNvSpPr>
          <p:nvPr/>
        </p:nvSpPr>
        <p:spPr>
          <a:xfrm>
            <a:off x="571500" y="6162675"/>
            <a:ext cx="857250" cy="457200"/>
          </a:xfrm>
          <a:prstGeom prst="rect">
            <a:avLst/>
          </a:prstGeom>
          <a:noFill/>
          <a:ln w="0">
            <a:noFill/>
          </a:ln>
        </p:spPr>
        <p:txBody>
          <a:bodyPr>
            <a:noAutofit/>
          </a:bodyPr>
          <a:lstStyle/>
          <a:p>
            <a:pPr>
              <a:defRPr sz="2175" b="1">
                <a:solidFill>
                  <a:srgbClr val="181427"/>
                </a:solidFill>
                <a:latin typeface="DejaVu Sans"/>
                <a:ea typeface="DejaVu Sans"/>
                <a:cs typeface="DejaVu Sans"/>
              </a:defRPr>
            </a:pPr>
            <a:r>
              <a:rPr sz="2175" b="1">
                <a:solidFill>
                  <a:srgbClr val="181427"/>
                </a:solidFill>
                <a:latin typeface="DejaVu Sans"/>
                <a:ea typeface="DejaVu Sans"/>
                <a:cs typeface="DejaVu Sans"/>
              </a:rPr>
              <a:t>13</a:t>
            </a:r>
          </a:p>
        </p:txBody>
      </p:sp>
      <p:graphicFrame>
        <p:nvGraphicFramePr>
          <p:cNvPr id="9" name="Table 8"/>
          <p:cNvGraphicFramePr/>
          <p:nvPr/>
        </p:nvGraphicFramePr>
        <p:xfrm>
          <a:off x="571500" y="1457325"/>
          <a:ext cx="11049000" cy="4143377"/>
        </p:xfrm>
        <a:graphic>
          <a:graphicData uri="http://schemas.openxmlformats.org/drawingml/2006/table">
            <a:tbl>
              <a:tblPr/>
              <a:tblGrid>
                <a:gridCol w="3476625">
                  <a:extLst>
                    <a:ext uri="{9D8B030D-6E8A-4147-A177-3AD203B41FA5}">
                      <a16:colId xmlns:a16="http://schemas.microsoft.com/office/drawing/2014/main" val="20000"/>
                    </a:ext>
                  </a:extLst>
                </a:gridCol>
                <a:gridCol w="7572375">
                  <a:extLst>
                    <a:ext uri="{9D8B030D-6E8A-4147-A177-3AD203B41FA5}">
                      <a16:colId xmlns:a16="http://schemas.microsoft.com/office/drawing/2014/main" val="20001"/>
                    </a:ext>
                  </a:extLst>
                </a:gridCol>
              </a:tblGrid>
              <a:tr h="591911">
                <a:tc>
                  <a:txBody>
                    <a:bodyPr/>
                    <a:lstStyle/>
                    <a:p>
                      <a:r>
                        <a:rPr sz="1650" b="1">
                          <a:solidFill>
                            <a:srgbClr val="FFFFFF"/>
                          </a:solidFill>
                          <a:latin typeface="DejaVu Sans"/>
                          <a:ea typeface="DejaVu Sans"/>
                          <a:cs typeface="DejaVu Sans"/>
                        </a:rPr>
                        <a:t>Concept</a:t>
                      </a:r>
                    </a:p>
                  </a:txBody>
                  <a:tcPr>
                    <a:solidFill>
                      <a:srgbClr val="241C3B"/>
                    </a:solidFill>
                  </a:tcPr>
                </a:tc>
                <a:tc>
                  <a:txBody>
                    <a:bodyPr/>
                    <a:lstStyle/>
                    <a:p>
                      <a:r>
                        <a:rPr sz="1650" b="1">
                          <a:solidFill>
                            <a:srgbClr val="FFFFFF"/>
                          </a:solidFill>
                          <a:latin typeface="DejaVu Sans"/>
                          <a:ea typeface="DejaVu Sans"/>
                          <a:cs typeface="DejaVu Sans"/>
                        </a:rPr>
                        <a:t>Example in the code</a:t>
                      </a:r>
                    </a:p>
                  </a:txBody>
                  <a:tcPr>
                    <a:solidFill>
                      <a:srgbClr val="241C3B"/>
                    </a:solidFill>
                  </a:tcPr>
                </a:tc>
                <a:extLst>
                  <a:ext uri="{0D108BD9-81ED-4DB2-BD59-A6C34878D82A}">
                    <a16:rowId xmlns:a16="http://schemas.microsoft.com/office/drawing/2014/main" val="10000"/>
                  </a:ext>
                </a:extLst>
              </a:tr>
              <a:tr h="591911">
                <a:tc>
                  <a:txBody>
                    <a:bodyPr/>
                    <a:lstStyle/>
                    <a:p>
                      <a:r>
                        <a:rPr sz="1650" b="0">
                          <a:solidFill>
                            <a:srgbClr val="241C3B"/>
                          </a:solidFill>
                          <a:latin typeface="DejaVu Sans"/>
                          <a:ea typeface="DejaVu Sans"/>
                          <a:cs typeface="DejaVu Sans"/>
                        </a:rPr>
                        <a:t>Classes and objects</a:t>
                      </a:r>
                    </a:p>
                  </a:txBody>
                  <a:tcPr>
                    <a:solidFill>
                      <a:srgbClr val="E9E0FC"/>
                    </a:solidFill>
                  </a:tcPr>
                </a:tc>
                <a:tc>
                  <a:txBody>
                    <a:bodyPr/>
                    <a:lstStyle/>
                    <a:p>
                      <a:r>
                        <a:rPr sz="1650" b="0">
                          <a:solidFill>
                            <a:srgbClr val="241C3B"/>
                          </a:solidFill>
                          <a:latin typeface="DejaVu Sans"/>
                          <a:ea typeface="DejaVu Sans"/>
                          <a:cs typeface="DejaVu Sans"/>
                        </a:rPr>
                        <a:t>Details emp; User user; Admin::AdminLogin adlogin;</a:t>
                      </a:r>
                    </a:p>
                  </a:txBody>
                  <a:tcPr>
                    <a:solidFill>
                      <a:srgbClr val="E9E0FC"/>
                    </a:solidFill>
                  </a:tcPr>
                </a:tc>
                <a:extLst>
                  <a:ext uri="{0D108BD9-81ED-4DB2-BD59-A6C34878D82A}">
                    <a16:rowId xmlns:a16="http://schemas.microsoft.com/office/drawing/2014/main" val="10001"/>
                  </a:ext>
                </a:extLst>
              </a:tr>
              <a:tr h="591911">
                <a:tc>
                  <a:txBody>
                    <a:bodyPr/>
                    <a:lstStyle/>
                    <a:p>
                      <a:r>
                        <a:rPr sz="1650" b="0">
                          <a:solidFill>
                            <a:srgbClr val="241C3B"/>
                          </a:solidFill>
                          <a:latin typeface="DejaVu Sans"/>
                          <a:ea typeface="DejaVu Sans"/>
                          <a:cs typeface="DejaVu Sans"/>
                        </a:rPr>
                        <a:t>Nested classes</a:t>
                      </a:r>
                    </a:p>
                  </a:txBody>
                  <a:tcPr>
                    <a:solidFill>
                      <a:srgbClr val="D9CDF9"/>
                    </a:solidFill>
                  </a:tcPr>
                </a:tc>
                <a:tc>
                  <a:txBody>
                    <a:bodyPr/>
                    <a:lstStyle/>
                    <a:p>
                      <a:r>
                        <a:rPr sz="1650" b="0">
                          <a:solidFill>
                            <a:srgbClr val="241C3B"/>
                          </a:solidFill>
                          <a:latin typeface="DejaVu Sans"/>
                          <a:ea typeface="DejaVu Sans"/>
                          <a:cs typeface="DejaVu Sans"/>
                        </a:rPr>
                        <a:t>UserRegister and UserLogin inside User</a:t>
                      </a:r>
                    </a:p>
                  </a:txBody>
                  <a:tcPr>
                    <a:solidFill>
                      <a:srgbClr val="D9CDF9"/>
                    </a:solidFill>
                  </a:tcPr>
                </a:tc>
                <a:extLst>
                  <a:ext uri="{0D108BD9-81ED-4DB2-BD59-A6C34878D82A}">
                    <a16:rowId xmlns:a16="http://schemas.microsoft.com/office/drawing/2014/main" val="10002"/>
                  </a:ext>
                </a:extLst>
              </a:tr>
              <a:tr h="591911">
                <a:tc>
                  <a:txBody>
                    <a:bodyPr/>
                    <a:lstStyle/>
                    <a:p>
                      <a:r>
                        <a:rPr sz="1650" b="0">
                          <a:solidFill>
                            <a:srgbClr val="241C3B"/>
                          </a:solidFill>
                          <a:latin typeface="DejaVu Sans"/>
                          <a:ea typeface="DejaVu Sans"/>
                          <a:cs typeface="DejaVu Sans"/>
                        </a:rPr>
                        <a:t>Access control</a:t>
                      </a:r>
                    </a:p>
                  </a:txBody>
                  <a:tcPr>
                    <a:solidFill>
                      <a:srgbClr val="E9E0FC"/>
                    </a:solidFill>
                  </a:tcPr>
                </a:tc>
                <a:tc>
                  <a:txBody>
                    <a:bodyPr/>
                    <a:lstStyle/>
                    <a:p>
                      <a:r>
                        <a:rPr sz="1650" b="0">
                          <a:solidFill>
                            <a:srgbClr val="241C3B"/>
                          </a:solidFill>
                          <a:latin typeface="DejaVu Sans"/>
                          <a:ea typeface="DejaVu Sans"/>
                          <a:cs typeface="DejaVu Sans"/>
                        </a:rPr>
                        <a:t>Private credential arrays in UserRegister</a:t>
                      </a:r>
                    </a:p>
                  </a:txBody>
                  <a:tcPr>
                    <a:solidFill>
                      <a:srgbClr val="E9E0FC"/>
                    </a:solidFill>
                  </a:tcPr>
                </a:tc>
                <a:extLst>
                  <a:ext uri="{0D108BD9-81ED-4DB2-BD59-A6C34878D82A}">
                    <a16:rowId xmlns:a16="http://schemas.microsoft.com/office/drawing/2014/main" val="10003"/>
                  </a:ext>
                </a:extLst>
              </a:tr>
              <a:tr h="591911">
                <a:tc>
                  <a:txBody>
                    <a:bodyPr/>
                    <a:lstStyle/>
                    <a:p>
                      <a:r>
                        <a:rPr sz="1650" b="0">
                          <a:solidFill>
                            <a:srgbClr val="241C3B"/>
                          </a:solidFill>
                          <a:latin typeface="DejaVu Sans"/>
                          <a:ea typeface="DejaVu Sans"/>
                          <a:cs typeface="DejaVu Sans"/>
                        </a:rPr>
                        <a:t>File handling</a:t>
                      </a:r>
                    </a:p>
                  </a:txBody>
                  <a:tcPr>
                    <a:solidFill>
                      <a:srgbClr val="D9CDF9"/>
                    </a:solidFill>
                  </a:tcPr>
                </a:tc>
                <a:tc>
                  <a:txBody>
                    <a:bodyPr/>
                    <a:lstStyle/>
                    <a:p>
                      <a:r>
                        <a:rPr sz="1650" b="0">
                          <a:solidFill>
                            <a:srgbClr val="241C3B"/>
                          </a:solidFill>
                          <a:latin typeface="DejaVu Sans"/>
                          <a:ea typeface="DejaVu Sans"/>
                          <a:cs typeface="DejaVu Sans"/>
                        </a:rPr>
                        <a:t>read(), write(), getline() and append/truncate modes</a:t>
                      </a:r>
                    </a:p>
                  </a:txBody>
                  <a:tcPr>
                    <a:solidFill>
                      <a:srgbClr val="D9CDF9"/>
                    </a:solidFill>
                  </a:tcPr>
                </a:tc>
                <a:extLst>
                  <a:ext uri="{0D108BD9-81ED-4DB2-BD59-A6C34878D82A}">
                    <a16:rowId xmlns:a16="http://schemas.microsoft.com/office/drawing/2014/main" val="10004"/>
                  </a:ext>
                </a:extLst>
              </a:tr>
              <a:tr h="591911">
                <a:tc>
                  <a:txBody>
                    <a:bodyPr/>
                    <a:lstStyle/>
                    <a:p>
                      <a:r>
                        <a:rPr sz="1650" b="0">
                          <a:solidFill>
                            <a:srgbClr val="241C3B"/>
                          </a:solidFill>
                          <a:latin typeface="DejaVu Sans"/>
                          <a:ea typeface="DejaVu Sans"/>
                          <a:cs typeface="DejaVu Sans"/>
                        </a:rPr>
                        <a:t>Date and string operations</a:t>
                      </a:r>
                    </a:p>
                  </a:txBody>
                  <a:tcPr>
                    <a:solidFill>
                      <a:srgbClr val="E9E0FC"/>
                    </a:solidFill>
                  </a:tcPr>
                </a:tc>
                <a:tc>
                  <a:txBody>
                    <a:bodyPr/>
                    <a:lstStyle/>
                    <a:p>
                      <a:r>
                        <a:rPr sz="1650" b="0">
                          <a:solidFill>
                            <a:srgbClr val="241C3B"/>
                          </a:solidFill>
                          <a:latin typeface="DejaVu Sans"/>
                          <a:ea typeface="DejaVu Sans"/>
                          <a:cs typeface="DejaVu Sans"/>
                        </a:rPr>
                        <a:t>localtime(), to_string(), strcmp(), find(), substr()</a:t>
                      </a:r>
                    </a:p>
                  </a:txBody>
                  <a:tcPr>
                    <a:solidFill>
                      <a:srgbClr val="E9E0FC"/>
                    </a:solidFill>
                  </a:tcPr>
                </a:tc>
                <a:extLst>
                  <a:ext uri="{0D108BD9-81ED-4DB2-BD59-A6C34878D82A}">
                    <a16:rowId xmlns:a16="http://schemas.microsoft.com/office/drawing/2014/main" val="10005"/>
                  </a:ext>
                </a:extLst>
              </a:tr>
              <a:tr h="591911">
                <a:tc>
                  <a:txBody>
                    <a:bodyPr/>
                    <a:lstStyle/>
                    <a:p>
                      <a:r>
                        <a:rPr sz="1650" b="0">
                          <a:solidFill>
                            <a:srgbClr val="241C3B"/>
                          </a:solidFill>
                          <a:latin typeface="DejaVu Sans"/>
                          <a:ea typeface="DejaVu Sans"/>
                          <a:cs typeface="DejaVu Sans"/>
                        </a:rPr>
                        <a:t>Exceptions and control flow</a:t>
                      </a:r>
                    </a:p>
                  </a:txBody>
                  <a:tcPr>
                    <a:solidFill>
                      <a:srgbClr val="D9CDF9"/>
                    </a:solidFill>
                  </a:tcPr>
                </a:tc>
                <a:tc>
                  <a:txBody>
                    <a:bodyPr/>
                    <a:lstStyle/>
                    <a:p>
                      <a:r>
                        <a:rPr sz="1650" b="0">
                          <a:solidFill>
                            <a:srgbClr val="241C3B"/>
                          </a:solidFill>
                          <a:latin typeface="DejaVu Sans"/>
                          <a:ea typeface="DejaVu Sans"/>
                          <a:cs typeface="DejaVu Sans"/>
                        </a:rPr>
                        <a:t>try/catch, if/else, loops and function returns</a:t>
                      </a:r>
                    </a:p>
                  </a:txBody>
                  <a:tcPr>
                    <a:solidFill>
                      <a:srgbClr val="D9CDF9"/>
                    </a:solidFill>
                  </a:tcPr>
                </a:tc>
                <a:extLst>
                  <a:ext uri="{0D108BD9-81ED-4DB2-BD59-A6C34878D82A}">
                    <a16:rowId xmlns:a16="http://schemas.microsoft.com/office/drawing/2014/main" val="10006"/>
                  </a:ext>
                </a:extLst>
              </a:tr>
            </a:tbl>
          </a:graphicData>
        </a:graphic>
      </p:graphicFrame>
      <p:sp>
        <p:nvSpPr>
          <p:cNvPr id="5" name="Rectangle 4">
            <a:extLst>
              <a:ext uri="{FF2B5EF4-FFF2-40B4-BE49-F238E27FC236}">
                <a16:creationId xmlns:a16="http://schemas.microsoft.com/office/drawing/2014/main" id="{2C92873F-9A83-45BA-98C5-E0928EB61D08}"/>
              </a:ext>
            </a:extLst>
          </p:cNvPr>
          <p:cNvSpPr>
            <a:spLocks noGrp="1"/>
          </p:cNvSpPr>
          <p:nvPr/>
        </p:nvSpPr>
        <p:spPr>
          <a:xfrm>
            <a:off x="590550" y="5762625"/>
            <a:ext cx="10668000" cy="333375"/>
          </a:xfrm>
          <a:prstGeom prst="rect">
            <a:avLst/>
          </a:prstGeom>
          <a:noFill/>
          <a:ln w="0">
            <a:noFill/>
          </a:ln>
        </p:spPr>
        <p:txBody>
          <a:bodyPr>
            <a:noAutofit/>
          </a:bodyPr>
          <a:lstStyle/>
          <a:p>
            <a:pPr>
              <a:defRPr sz="1725" b="0">
                <a:solidFill>
                  <a:srgbClr val="47405E"/>
                </a:solidFill>
                <a:latin typeface="DejaVu Sans"/>
                <a:ea typeface="DejaVu Sans"/>
                <a:cs typeface="DejaVu Sans"/>
              </a:defRPr>
            </a:pPr>
            <a:r>
              <a:rPr sz="1725" b="0">
                <a:solidFill>
                  <a:srgbClr val="47405E"/>
                </a:solidFill>
                <a:latin typeface="DejaVu Sans"/>
                <a:ea typeface="DejaVu Sans"/>
                <a:cs typeface="DejaVu Sans"/>
              </a:rPr>
              <a:t>Inheritance and runtime polymorphism are not used in this version.</a:t>
            </a:r>
          </a:p>
        </p:txBody>
      </p:sp>
    </p:spTree>
    <p:extLst>
      <p:ext uri="{BB962C8B-B14F-4D97-AF65-F5344CB8AC3E}">
        <p14:creationId xmlns:p14="http://schemas.microsoft.com/office/powerpoint/2010/main" val="20888318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00F22"/>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tretch/>
        </p:blipFill>
        <p:spPr>
          <a:xfrm>
            <a:off x="3239" y="0"/>
            <a:ext cx="12185522" cy="6858000"/>
          </a:xfrm>
          <a:prstGeom prst="rect">
            <a:avLst/>
          </a:prstGeom>
        </p:spPr>
      </p:pic>
      <p:sp>
        <p:nvSpPr>
          <p:cNvPr id="2" name="Rectangle 1">
            <a:extLst>
              <a:ext uri="{FF2B5EF4-FFF2-40B4-BE49-F238E27FC236}">
                <a16:creationId xmlns:a16="http://schemas.microsoft.com/office/drawing/2014/main" id="{FEE58B60-AA5F-4CCD-98B7-6CCB9AA97769}"/>
              </a:ext>
            </a:extLst>
          </p:cNvPr>
          <p:cNvSpPr>
            <a:spLocks noGrp="1"/>
          </p:cNvSpPr>
          <p:nvPr/>
        </p:nvSpPr>
        <p:spPr>
          <a:xfrm>
            <a:off x="571500" y="400050"/>
            <a:ext cx="10953750" cy="762000"/>
          </a:xfrm>
          <a:prstGeom prst="rect">
            <a:avLst/>
          </a:prstGeom>
          <a:noFill/>
          <a:ln w="0">
            <a:noFill/>
          </a:ln>
        </p:spPr>
        <p:txBody>
          <a:bodyPr>
            <a:noAutofit/>
          </a:bodyPr>
          <a:lstStyle/>
          <a:p>
            <a:pPr>
              <a:defRPr sz="3150" b="1">
                <a:solidFill>
                  <a:srgbClr val="D5C2FF"/>
                </a:solidFill>
                <a:latin typeface="DejaVu Sans"/>
                <a:ea typeface="DejaVu Sans"/>
                <a:cs typeface="DejaVu Sans"/>
              </a:defRPr>
            </a:pPr>
            <a:r>
              <a:rPr sz="3150" b="1">
                <a:solidFill>
                  <a:srgbClr val="D5C2FF"/>
                </a:solidFill>
                <a:latin typeface="DejaVu Sans"/>
                <a:ea typeface="DejaVu Sans"/>
                <a:cs typeface="DejaVu Sans"/>
              </a:rPr>
              <a:t>Testing plan</a:t>
            </a:r>
          </a:p>
        </p:txBody>
      </p:sp>
      <p:pic>
        <p:nvPicPr>
          <p:cNvPr id="9" name="Picture 8"/>
          <p:cNvPicPr>
            <a:picLocks noChangeAspect="1"/>
          </p:cNvPicPr>
          <p:nvPr/>
        </p:nvPicPr>
        <p:blipFill>
          <a:blip r:embed="rId4"/>
          <a:stretch/>
        </p:blipFill>
        <p:spPr>
          <a:xfrm>
            <a:off x="10477500" y="6153873"/>
            <a:ext cx="1143000" cy="570053"/>
          </a:xfrm>
          <a:prstGeom prst="rect">
            <a:avLst/>
          </a:prstGeom>
        </p:spPr>
      </p:pic>
      <p:sp>
        <p:nvSpPr>
          <p:cNvPr id="4" name="Rectangle 3">
            <a:extLst>
              <a:ext uri="{FF2B5EF4-FFF2-40B4-BE49-F238E27FC236}">
                <a16:creationId xmlns:a16="http://schemas.microsoft.com/office/drawing/2014/main" id="{E16C16EC-8FE8-40D3-A6E1-7406E1905115}"/>
              </a:ext>
            </a:extLst>
          </p:cNvPr>
          <p:cNvSpPr>
            <a:spLocks noGrp="1"/>
          </p:cNvSpPr>
          <p:nvPr/>
        </p:nvSpPr>
        <p:spPr>
          <a:xfrm>
            <a:off x="571500" y="6162675"/>
            <a:ext cx="857250" cy="457200"/>
          </a:xfrm>
          <a:prstGeom prst="rect">
            <a:avLst/>
          </a:prstGeom>
          <a:noFill/>
          <a:ln w="0">
            <a:noFill/>
          </a:ln>
        </p:spPr>
        <p:txBody>
          <a:bodyPr>
            <a:noAutofit/>
          </a:bodyPr>
          <a:lstStyle/>
          <a:p>
            <a:pPr>
              <a:defRPr sz="2175" b="1">
                <a:solidFill>
                  <a:srgbClr val="D2F66C"/>
                </a:solidFill>
                <a:latin typeface="DejaVu Sans"/>
                <a:ea typeface="DejaVu Sans"/>
                <a:cs typeface="DejaVu Sans"/>
              </a:defRPr>
            </a:pPr>
            <a:r>
              <a:rPr sz="2175" b="1">
                <a:solidFill>
                  <a:srgbClr val="D2F66C"/>
                </a:solidFill>
                <a:latin typeface="DejaVu Sans"/>
                <a:ea typeface="DejaVu Sans"/>
                <a:cs typeface="DejaVu Sans"/>
              </a:rPr>
              <a:t>14</a:t>
            </a:r>
          </a:p>
        </p:txBody>
      </p:sp>
      <p:graphicFrame>
        <p:nvGraphicFramePr>
          <p:cNvPr id="11" name="Table 10"/>
          <p:cNvGraphicFramePr/>
          <p:nvPr/>
        </p:nvGraphicFramePr>
        <p:xfrm>
          <a:off x="571500" y="1466850"/>
          <a:ext cx="11049000" cy="4190998"/>
        </p:xfrm>
        <a:graphic>
          <a:graphicData uri="http://schemas.openxmlformats.org/drawingml/2006/table">
            <a:tbl>
              <a:tblPr/>
              <a:tblGrid>
                <a:gridCol w="4048125">
                  <a:extLst>
                    <a:ext uri="{9D8B030D-6E8A-4147-A177-3AD203B41FA5}">
                      <a16:colId xmlns:a16="http://schemas.microsoft.com/office/drawing/2014/main" val="20000"/>
                    </a:ext>
                  </a:extLst>
                </a:gridCol>
                <a:gridCol w="7000875">
                  <a:extLst>
                    <a:ext uri="{9D8B030D-6E8A-4147-A177-3AD203B41FA5}">
                      <a16:colId xmlns:a16="http://schemas.microsoft.com/office/drawing/2014/main" val="20001"/>
                    </a:ext>
                  </a:extLst>
                </a:gridCol>
              </a:tblGrid>
              <a:tr h="598714">
                <a:tc>
                  <a:txBody>
                    <a:bodyPr/>
                    <a:lstStyle/>
                    <a:p>
                      <a:r>
                        <a:rPr sz="1650" b="1">
                          <a:solidFill>
                            <a:srgbClr val="1D1630"/>
                          </a:solidFill>
                          <a:latin typeface="DejaVu Sans"/>
                          <a:ea typeface="DejaVu Sans"/>
                          <a:cs typeface="DejaVu Sans"/>
                        </a:rPr>
                        <a:t>Scenario</a:t>
                      </a:r>
                    </a:p>
                  </a:txBody>
                  <a:tcPr>
                    <a:solidFill>
                      <a:srgbClr val="BFA2F2"/>
                    </a:solidFill>
                  </a:tcPr>
                </a:tc>
                <a:tc>
                  <a:txBody>
                    <a:bodyPr/>
                    <a:lstStyle/>
                    <a:p>
                      <a:r>
                        <a:rPr sz="1650" b="1">
                          <a:solidFill>
                            <a:srgbClr val="1D1630"/>
                          </a:solidFill>
                          <a:latin typeface="DejaVu Sans"/>
                          <a:ea typeface="DejaVu Sans"/>
                          <a:cs typeface="DejaVu Sans"/>
                        </a:rPr>
                        <a:t>Expected check</a:t>
                      </a:r>
                    </a:p>
                  </a:txBody>
                  <a:tcPr>
                    <a:solidFill>
                      <a:srgbClr val="BFA2F2"/>
                    </a:solidFill>
                  </a:tcPr>
                </a:tc>
                <a:extLst>
                  <a:ext uri="{0D108BD9-81ED-4DB2-BD59-A6C34878D82A}">
                    <a16:rowId xmlns:a16="http://schemas.microsoft.com/office/drawing/2014/main" val="10000"/>
                  </a:ext>
                </a:extLst>
              </a:tr>
              <a:tr h="598714">
                <a:tc>
                  <a:txBody>
                    <a:bodyPr/>
                    <a:lstStyle/>
                    <a:p>
                      <a:r>
                        <a:rPr sz="1650" b="0">
                          <a:solidFill>
                            <a:srgbClr val="F2EEFA"/>
                          </a:solidFill>
                          <a:latin typeface="DejaVu Sans"/>
                          <a:ea typeface="DejaVu Sans"/>
                          <a:cs typeface="DejaVu Sans"/>
                        </a:rPr>
                        <a:t>New user registration</a:t>
                      </a:r>
                    </a:p>
                  </a:txBody>
                  <a:tcPr>
                    <a:solidFill>
                      <a:srgbClr val="29213D"/>
                    </a:solidFill>
                  </a:tcPr>
                </a:tc>
                <a:tc>
                  <a:txBody>
                    <a:bodyPr/>
                    <a:lstStyle/>
                    <a:p>
                      <a:r>
                        <a:rPr sz="1650" b="0">
                          <a:solidFill>
                            <a:srgbClr val="F2EEFA"/>
                          </a:solidFill>
                          <a:latin typeface="DejaVu Sans"/>
                          <a:ea typeface="DejaVu Sans"/>
                          <a:cs typeface="DejaVu Sans"/>
                        </a:rPr>
                        <a:t>Credentials and profile persist in separate files</a:t>
                      </a:r>
                    </a:p>
                  </a:txBody>
                  <a:tcPr>
                    <a:solidFill>
                      <a:srgbClr val="29213D"/>
                    </a:solidFill>
                  </a:tcPr>
                </a:tc>
                <a:extLst>
                  <a:ext uri="{0D108BD9-81ED-4DB2-BD59-A6C34878D82A}">
                    <a16:rowId xmlns:a16="http://schemas.microsoft.com/office/drawing/2014/main" val="10001"/>
                  </a:ext>
                </a:extLst>
              </a:tr>
              <a:tr h="598714">
                <a:tc>
                  <a:txBody>
                    <a:bodyPr/>
                    <a:lstStyle/>
                    <a:p>
                      <a:r>
                        <a:rPr sz="1650" b="0">
                          <a:solidFill>
                            <a:srgbClr val="F2EEFA"/>
                          </a:solidFill>
                          <a:latin typeface="DejaVu Sans"/>
                          <a:ea typeface="DejaVu Sans"/>
                          <a:cs typeface="DejaVu Sans"/>
                        </a:rPr>
                        <a:t>Valid / invalid login</a:t>
                      </a:r>
                    </a:p>
                  </a:txBody>
                  <a:tcPr>
                    <a:solidFill>
                      <a:srgbClr val="171328"/>
                    </a:solidFill>
                  </a:tcPr>
                </a:tc>
                <a:tc>
                  <a:txBody>
                    <a:bodyPr/>
                    <a:lstStyle/>
                    <a:p>
                      <a:r>
                        <a:rPr sz="1650" b="0">
                          <a:solidFill>
                            <a:srgbClr val="F2EEFA"/>
                          </a:solidFill>
                          <a:latin typeface="DejaVu Sans"/>
                          <a:ea typeface="DejaVu Sans"/>
                          <a:cs typeface="DejaVu Sans"/>
                        </a:rPr>
                        <a:t>Correct credentials open the menu, invalid ones fail or retry</a:t>
                      </a:r>
                    </a:p>
                  </a:txBody>
                  <a:tcPr>
                    <a:solidFill>
                      <a:srgbClr val="171328"/>
                    </a:solidFill>
                  </a:tcPr>
                </a:tc>
                <a:extLst>
                  <a:ext uri="{0D108BD9-81ED-4DB2-BD59-A6C34878D82A}">
                    <a16:rowId xmlns:a16="http://schemas.microsoft.com/office/drawing/2014/main" val="10002"/>
                  </a:ext>
                </a:extLst>
              </a:tr>
              <a:tr h="598714">
                <a:tc>
                  <a:txBody>
                    <a:bodyPr/>
                    <a:lstStyle/>
                    <a:p>
                      <a:r>
                        <a:rPr sz="1650" b="0">
                          <a:solidFill>
                            <a:srgbClr val="F2EEFA"/>
                          </a:solidFill>
                          <a:latin typeface="DejaVu Sans"/>
                          <a:ea typeface="DejaVu Sans"/>
                          <a:cs typeface="DejaVu Sans"/>
                        </a:rPr>
                        <a:t>Add and view books</a:t>
                      </a:r>
                    </a:p>
                  </a:txBody>
                  <a:tcPr>
                    <a:solidFill>
                      <a:srgbClr val="29213D"/>
                    </a:solidFill>
                  </a:tcPr>
                </a:tc>
                <a:tc>
                  <a:txBody>
                    <a:bodyPr/>
                    <a:lstStyle/>
                    <a:p>
                      <a:r>
                        <a:rPr sz="1650" b="0">
                          <a:solidFill>
                            <a:srgbClr val="F2EEFA"/>
                          </a:solidFill>
                          <a:latin typeface="DejaVu Sans"/>
                          <a:ea typeface="DejaVu Sans"/>
                          <a:cs typeface="DejaVu Sans"/>
                        </a:rPr>
                        <a:t>Stored book details appear when a user views books</a:t>
                      </a:r>
                    </a:p>
                  </a:txBody>
                  <a:tcPr>
                    <a:solidFill>
                      <a:srgbClr val="29213D"/>
                    </a:solidFill>
                  </a:tcPr>
                </a:tc>
                <a:extLst>
                  <a:ext uri="{0D108BD9-81ED-4DB2-BD59-A6C34878D82A}">
                    <a16:rowId xmlns:a16="http://schemas.microsoft.com/office/drawing/2014/main" val="10003"/>
                  </a:ext>
                </a:extLst>
              </a:tr>
              <a:tr h="598714">
                <a:tc>
                  <a:txBody>
                    <a:bodyPr/>
                    <a:lstStyle/>
                    <a:p>
                      <a:r>
                        <a:rPr sz="1650" b="0">
                          <a:solidFill>
                            <a:srgbClr val="F2EEFA"/>
                          </a:solidFill>
                          <a:latin typeface="DejaVu Sans"/>
                          <a:ea typeface="DejaVu Sans"/>
                          <a:cs typeface="DejaVu Sans"/>
                        </a:rPr>
                        <a:t>Issue a book</a:t>
                      </a:r>
                    </a:p>
                  </a:txBody>
                  <a:tcPr>
                    <a:solidFill>
                      <a:srgbClr val="171328"/>
                    </a:solidFill>
                  </a:tcPr>
                </a:tc>
                <a:tc>
                  <a:txBody>
                    <a:bodyPr/>
                    <a:lstStyle/>
                    <a:p>
                      <a:r>
                        <a:rPr sz="1650" b="0">
                          <a:solidFill>
                            <a:srgbClr val="F2EEFA"/>
                          </a:solidFill>
                          <a:latin typeface="DejaVu Sans"/>
                          <a:ea typeface="DejaVu Sans"/>
                          <a:cs typeface="DejaVu Sans"/>
                        </a:rPr>
                        <a:t>An issue row includes entered values and the current date</a:t>
                      </a:r>
                    </a:p>
                  </a:txBody>
                  <a:tcPr>
                    <a:solidFill>
                      <a:srgbClr val="171328"/>
                    </a:solidFill>
                  </a:tcPr>
                </a:tc>
                <a:extLst>
                  <a:ext uri="{0D108BD9-81ED-4DB2-BD59-A6C34878D82A}">
                    <a16:rowId xmlns:a16="http://schemas.microsoft.com/office/drawing/2014/main" val="10004"/>
                  </a:ext>
                </a:extLst>
              </a:tr>
              <a:tr h="598714">
                <a:tc>
                  <a:txBody>
                    <a:bodyPr/>
                    <a:lstStyle/>
                    <a:p>
                      <a:r>
                        <a:rPr sz="1650" b="0">
                          <a:solidFill>
                            <a:srgbClr val="F2EEFA"/>
                          </a:solidFill>
                          <a:latin typeface="DejaVu Sans"/>
                          <a:ea typeface="DejaVu Sans"/>
                          <a:cs typeface="DejaVu Sans"/>
                        </a:rPr>
                        <a:t>Remove existing / unknown ID</a:t>
                      </a:r>
                    </a:p>
                  </a:txBody>
                  <a:tcPr>
                    <a:solidFill>
                      <a:srgbClr val="29213D"/>
                    </a:solidFill>
                  </a:tcPr>
                </a:tc>
                <a:tc>
                  <a:txBody>
                    <a:bodyPr/>
                    <a:lstStyle/>
                    <a:p>
                      <a:r>
                        <a:rPr sz="1650" b="0">
                          <a:solidFill>
                            <a:srgbClr val="F2EEFA"/>
                          </a:solidFill>
                          <a:latin typeface="DejaVu Sans"/>
                          <a:ea typeface="DejaVu Sans"/>
                          <a:cs typeface="DejaVu Sans"/>
                        </a:rPr>
                        <a:t>Matching profile is removed, unknown ID shows a message</a:t>
                      </a:r>
                    </a:p>
                  </a:txBody>
                  <a:tcPr>
                    <a:solidFill>
                      <a:srgbClr val="29213D"/>
                    </a:solidFill>
                  </a:tcPr>
                </a:tc>
                <a:extLst>
                  <a:ext uri="{0D108BD9-81ED-4DB2-BD59-A6C34878D82A}">
                    <a16:rowId xmlns:a16="http://schemas.microsoft.com/office/drawing/2014/main" val="10005"/>
                  </a:ext>
                </a:extLst>
              </a:tr>
              <a:tr h="598714">
                <a:tc>
                  <a:txBody>
                    <a:bodyPr/>
                    <a:lstStyle/>
                    <a:p>
                      <a:r>
                        <a:rPr sz="1650" b="0">
                          <a:solidFill>
                            <a:srgbClr val="F2EEFA"/>
                          </a:solidFill>
                          <a:latin typeface="DejaVu Sans"/>
                          <a:ea typeface="DejaVu Sans"/>
                          <a:cs typeface="DejaVu Sans"/>
                        </a:rPr>
                        <a:t>Missing files and invalid input</a:t>
                      </a:r>
                    </a:p>
                  </a:txBody>
                  <a:tcPr>
                    <a:solidFill>
                      <a:srgbClr val="171328"/>
                    </a:solidFill>
                  </a:tcPr>
                </a:tc>
                <a:tc>
                  <a:txBody>
                    <a:bodyPr/>
                    <a:lstStyle/>
                    <a:p>
                      <a:r>
                        <a:rPr sz="1650" b="0">
                          <a:solidFill>
                            <a:srgbClr val="F2EEFA"/>
                          </a:solidFill>
                          <a:latin typeface="DejaVu Sans"/>
                          <a:ea typeface="DejaVu Sans"/>
                          <a:cs typeface="DejaVu Sans"/>
                        </a:rPr>
                        <a:t>Check error handling and whether execution stops safely</a:t>
                      </a:r>
                    </a:p>
                  </a:txBody>
                  <a:tcPr>
                    <a:solidFill>
                      <a:srgbClr val="171328"/>
                    </a:solidFill>
                  </a:tcPr>
                </a:tc>
                <a:extLst>
                  <a:ext uri="{0D108BD9-81ED-4DB2-BD59-A6C34878D82A}">
                    <a16:rowId xmlns:a16="http://schemas.microsoft.com/office/drawing/2014/main" val="10006"/>
                  </a:ext>
                </a:extLst>
              </a:tr>
            </a:tbl>
          </a:graphicData>
        </a:graphic>
      </p:graphicFrame>
      <p:sp>
        <p:nvSpPr>
          <p:cNvPr id="6" name="Rectangle 5">
            <a:extLst>
              <a:ext uri="{FF2B5EF4-FFF2-40B4-BE49-F238E27FC236}">
                <a16:creationId xmlns:a16="http://schemas.microsoft.com/office/drawing/2014/main" id="{0B29D03F-E0F7-4482-9E98-EDF93D4E9ED0}"/>
              </a:ext>
            </a:extLst>
          </p:cNvPr>
          <p:cNvSpPr>
            <a:spLocks noGrp="1"/>
          </p:cNvSpPr>
          <p:nvPr/>
        </p:nvSpPr>
        <p:spPr>
          <a:xfrm>
            <a:off x="590550" y="5762625"/>
            <a:ext cx="10763250" cy="342900"/>
          </a:xfrm>
          <a:prstGeom prst="rect">
            <a:avLst/>
          </a:prstGeom>
          <a:noFill/>
          <a:ln w="0">
            <a:noFill/>
          </a:ln>
        </p:spPr>
        <p:txBody>
          <a:bodyPr>
            <a:noAutofit/>
          </a:bodyPr>
          <a:lstStyle/>
          <a:p>
            <a:pPr>
              <a:defRPr sz="1725" b="0">
                <a:solidFill>
                  <a:srgbClr val="C8C3D8"/>
                </a:solidFill>
                <a:latin typeface="DejaVu Sans"/>
                <a:ea typeface="DejaVu Sans"/>
                <a:cs typeface="DejaVu Sans"/>
              </a:defRPr>
            </a:pPr>
            <a:r>
              <a:rPr sz="1725" b="0">
                <a:solidFill>
                  <a:srgbClr val="C8C3D8"/>
                </a:solidFill>
                <a:latin typeface="DejaVu Sans"/>
                <a:ea typeface="DejaVu Sans"/>
                <a:cs typeface="DejaVu Sans"/>
              </a:rPr>
              <a:t>Planned scenarios. Add execution results after running the program.</a:t>
            </a:r>
          </a:p>
        </p:txBody>
      </p:sp>
    </p:spTree>
    <p:extLst>
      <p:ext uri="{BB962C8B-B14F-4D97-AF65-F5344CB8AC3E}">
        <p14:creationId xmlns:p14="http://schemas.microsoft.com/office/powerpoint/2010/main" val="8321929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00F22"/>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tretch/>
        </p:blipFill>
        <p:spPr>
          <a:xfrm>
            <a:off x="3239" y="0"/>
            <a:ext cx="12185522" cy="6858000"/>
          </a:xfrm>
          <a:prstGeom prst="rect">
            <a:avLst/>
          </a:prstGeom>
        </p:spPr>
      </p:pic>
      <p:sp>
        <p:nvSpPr>
          <p:cNvPr id="2" name="Rectangle 1">
            <a:extLst>
              <a:ext uri="{FF2B5EF4-FFF2-40B4-BE49-F238E27FC236}">
                <a16:creationId xmlns:a16="http://schemas.microsoft.com/office/drawing/2014/main" id="{FAD08040-BB83-435A-81E3-5725953AF136}"/>
              </a:ext>
            </a:extLst>
          </p:cNvPr>
          <p:cNvSpPr>
            <a:spLocks noGrp="1"/>
          </p:cNvSpPr>
          <p:nvPr/>
        </p:nvSpPr>
        <p:spPr>
          <a:xfrm>
            <a:off x="571500" y="400050"/>
            <a:ext cx="10953750" cy="762000"/>
          </a:xfrm>
          <a:prstGeom prst="rect">
            <a:avLst/>
          </a:prstGeom>
          <a:noFill/>
          <a:ln w="0">
            <a:noFill/>
          </a:ln>
        </p:spPr>
        <p:txBody>
          <a:bodyPr>
            <a:noAutofit/>
          </a:bodyPr>
          <a:lstStyle/>
          <a:p>
            <a:pPr>
              <a:defRPr sz="3150" b="1">
                <a:solidFill>
                  <a:srgbClr val="D5C2FF"/>
                </a:solidFill>
                <a:latin typeface="DejaVu Sans"/>
                <a:ea typeface="DejaVu Sans"/>
                <a:cs typeface="DejaVu Sans"/>
              </a:defRPr>
            </a:pPr>
            <a:r>
              <a:rPr sz="3150" b="1">
                <a:solidFill>
                  <a:srgbClr val="D5C2FF"/>
                </a:solidFill>
                <a:latin typeface="DejaVu Sans"/>
                <a:ea typeface="DejaVu Sans"/>
                <a:cs typeface="DejaVu Sans"/>
              </a:rPr>
              <a:t>Program output: main menu and login</a:t>
            </a:r>
          </a:p>
        </p:txBody>
      </p:sp>
      <p:pic>
        <p:nvPicPr>
          <p:cNvPr id="9" name="Picture 8"/>
          <p:cNvPicPr>
            <a:picLocks noChangeAspect="1"/>
          </p:cNvPicPr>
          <p:nvPr/>
        </p:nvPicPr>
        <p:blipFill>
          <a:blip r:embed="rId4"/>
          <a:stretch/>
        </p:blipFill>
        <p:spPr>
          <a:xfrm>
            <a:off x="10477500" y="6153873"/>
            <a:ext cx="1143000" cy="570053"/>
          </a:xfrm>
          <a:prstGeom prst="rect">
            <a:avLst/>
          </a:prstGeom>
        </p:spPr>
      </p:pic>
      <p:sp>
        <p:nvSpPr>
          <p:cNvPr id="4" name="Rectangle 3">
            <a:extLst>
              <a:ext uri="{FF2B5EF4-FFF2-40B4-BE49-F238E27FC236}">
                <a16:creationId xmlns:a16="http://schemas.microsoft.com/office/drawing/2014/main" id="{0606A7E6-11BD-462A-8395-6D94C7D57B72}"/>
              </a:ext>
            </a:extLst>
          </p:cNvPr>
          <p:cNvSpPr>
            <a:spLocks noGrp="1"/>
          </p:cNvSpPr>
          <p:nvPr/>
        </p:nvSpPr>
        <p:spPr>
          <a:xfrm>
            <a:off x="571500" y="6162675"/>
            <a:ext cx="857250" cy="457200"/>
          </a:xfrm>
          <a:prstGeom prst="rect">
            <a:avLst/>
          </a:prstGeom>
          <a:noFill/>
          <a:ln w="0">
            <a:noFill/>
          </a:ln>
        </p:spPr>
        <p:txBody>
          <a:bodyPr>
            <a:noAutofit/>
          </a:bodyPr>
          <a:lstStyle/>
          <a:p>
            <a:pPr>
              <a:defRPr sz="2175" b="1">
                <a:solidFill>
                  <a:srgbClr val="D2F66C"/>
                </a:solidFill>
                <a:latin typeface="DejaVu Sans"/>
                <a:ea typeface="DejaVu Sans"/>
                <a:cs typeface="DejaVu Sans"/>
              </a:defRPr>
            </a:pPr>
            <a:r>
              <a:rPr sz="2175" b="1">
                <a:solidFill>
                  <a:srgbClr val="D2F66C"/>
                </a:solidFill>
                <a:latin typeface="DejaVu Sans"/>
                <a:ea typeface="DejaVu Sans"/>
                <a:cs typeface="DejaVu Sans"/>
              </a:rPr>
              <a:t>15</a:t>
            </a:r>
          </a:p>
        </p:txBody>
      </p:sp>
      <p:sp>
        <p:nvSpPr>
          <p:cNvPr id="5" name="Rectangle 4">
            <a:extLst>
              <a:ext uri="{FF2B5EF4-FFF2-40B4-BE49-F238E27FC236}">
                <a16:creationId xmlns:a16="http://schemas.microsoft.com/office/drawing/2014/main" id="{8CA84762-5EE2-4C5E-9B6E-29E12144B544}"/>
              </a:ext>
            </a:extLst>
          </p:cNvPr>
          <p:cNvSpPr>
            <a:spLocks noGrp="1"/>
          </p:cNvSpPr>
          <p:nvPr/>
        </p:nvSpPr>
        <p:spPr>
          <a:xfrm>
            <a:off x="590550" y="1285875"/>
            <a:ext cx="10953750" cy="476250"/>
          </a:xfrm>
          <a:prstGeom prst="rect">
            <a:avLst/>
          </a:prstGeom>
          <a:noFill/>
          <a:ln w="0">
            <a:noFill/>
          </a:ln>
        </p:spPr>
        <p:txBody>
          <a:bodyPr>
            <a:noAutofit/>
          </a:bodyPr>
          <a:lstStyle/>
          <a:p>
            <a:pPr>
              <a:defRPr sz="1875" b="0">
                <a:solidFill>
                  <a:srgbClr val="C8C3D8"/>
                </a:solidFill>
                <a:latin typeface="DejaVu Sans"/>
                <a:ea typeface="DejaVu Sans"/>
                <a:cs typeface="DejaVu Sans"/>
              </a:defRPr>
            </a:pPr>
            <a:r>
              <a:rPr sz="1875" b="0">
                <a:solidFill>
                  <a:srgbClr val="C8C3D8"/>
                </a:solidFill>
                <a:latin typeface="DejaVu Sans"/>
                <a:ea typeface="DejaVu Sans"/>
                <a:cs typeface="DejaVu Sans"/>
              </a:rPr>
              <a:t>Suggested capture: welcome screen, role selection and a successful login.</a:t>
            </a:r>
          </a:p>
        </p:txBody>
      </p:sp>
      <p:sp>
        <p:nvSpPr>
          <p:cNvPr id="6" name="Rectangle 5">
            <a:extLst>
              <a:ext uri="{FF2B5EF4-FFF2-40B4-BE49-F238E27FC236}">
                <a16:creationId xmlns:a16="http://schemas.microsoft.com/office/drawing/2014/main" id="{096BCF7F-56FF-40FC-914E-CB6B9E2AFCF1}"/>
              </a:ext>
            </a:extLst>
          </p:cNvPr>
          <p:cNvSpPr>
            <a:spLocks noGrp="1"/>
          </p:cNvSpPr>
          <p:nvPr/>
        </p:nvSpPr>
        <p:spPr>
          <a:xfrm>
            <a:off x="609600" y="1952625"/>
            <a:ext cx="10972800" cy="3743325"/>
          </a:xfrm>
          <a:prstGeom prst="rect">
            <a:avLst/>
          </a:prstGeom>
          <a:solidFill>
            <a:srgbClr val="1B162D"/>
          </a:solidFill>
          <a:ln w="19050">
            <a:solidFill>
              <a:srgbClr val="B89BEF"/>
            </a:solidFill>
            <a:prstDash val="dash"/>
          </a:ln>
        </p:spPr>
        <p:txBody>
          <a:bodyPr anchor="ctr">
            <a:noAutofit/>
          </a:bodyPr>
          <a:lstStyle/>
          <a:p>
            <a:pPr algn="ctr">
              <a:defRPr sz="2025">
                <a:solidFill>
                  <a:srgbClr val="C6B4EB"/>
                </a:solidFill>
                <a:latin typeface="DejaVu Sans"/>
                <a:ea typeface="DejaVu Sans"/>
                <a:cs typeface="DejaVu Sans"/>
              </a:defRPr>
            </a:pPr>
            <a:r>
              <a:rPr sz="2025">
                <a:solidFill>
                  <a:srgbClr val="C6B4EB"/>
                </a:solidFill>
                <a:latin typeface="DejaVu Sans"/>
                <a:ea typeface="DejaVu Sans"/>
                <a:cs typeface="DejaVu Sans"/>
              </a:rPr>
              <a:t>Insert program output screenshot here</a:t>
            </a:r>
          </a:p>
        </p:txBody>
      </p:sp>
      <p:pic>
        <p:nvPicPr>
          <p:cNvPr id="8" name="Picture 7">
            <a:extLst>
              <a:ext uri="{FF2B5EF4-FFF2-40B4-BE49-F238E27FC236}">
                <a16:creationId xmlns:a16="http://schemas.microsoft.com/office/drawing/2014/main" id="{8EEB8E8D-5835-BEB8-9D77-7F73B326B47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9601" y="1952626"/>
            <a:ext cx="10915650" cy="3743324"/>
          </a:xfrm>
          <a:prstGeom prst="rect">
            <a:avLst/>
          </a:prstGeom>
        </p:spPr>
      </p:pic>
    </p:spTree>
    <p:extLst>
      <p:ext uri="{BB962C8B-B14F-4D97-AF65-F5344CB8AC3E}">
        <p14:creationId xmlns:p14="http://schemas.microsoft.com/office/powerpoint/2010/main" val="3867043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00F22"/>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tretch/>
        </p:blipFill>
        <p:spPr>
          <a:xfrm>
            <a:off x="3239" y="0"/>
            <a:ext cx="12185522" cy="6858000"/>
          </a:xfrm>
          <a:prstGeom prst="rect">
            <a:avLst/>
          </a:prstGeom>
        </p:spPr>
      </p:pic>
      <p:sp>
        <p:nvSpPr>
          <p:cNvPr id="2" name="Rectangle 1">
            <a:extLst>
              <a:ext uri="{FF2B5EF4-FFF2-40B4-BE49-F238E27FC236}">
                <a16:creationId xmlns:a16="http://schemas.microsoft.com/office/drawing/2014/main" id="{7A4AF868-D153-4EE2-A5C3-EC02532718F2}"/>
              </a:ext>
            </a:extLst>
          </p:cNvPr>
          <p:cNvSpPr>
            <a:spLocks noGrp="1"/>
          </p:cNvSpPr>
          <p:nvPr/>
        </p:nvSpPr>
        <p:spPr>
          <a:xfrm>
            <a:off x="571500" y="400050"/>
            <a:ext cx="10953750" cy="762000"/>
          </a:xfrm>
          <a:prstGeom prst="rect">
            <a:avLst/>
          </a:prstGeom>
          <a:noFill/>
          <a:ln w="0">
            <a:noFill/>
          </a:ln>
        </p:spPr>
        <p:txBody>
          <a:bodyPr>
            <a:noAutofit/>
          </a:bodyPr>
          <a:lstStyle/>
          <a:p>
            <a:pPr>
              <a:defRPr sz="3150" b="1">
                <a:solidFill>
                  <a:srgbClr val="D5C2FF"/>
                </a:solidFill>
                <a:latin typeface="DejaVu Sans"/>
                <a:ea typeface="DejaVu Sans"/>
                <a:cs typeface="DejaVu Sans"/>
              </a:defRPr>
            </a:pPr>
            <a:r>
              <a:rPr sz="3150" b="1">
                <a:solidFill>
                  <a:srgbClr val="D5C2FF"/>
                </a:solidFill>
                <a:latin typeface="DejaVu Sans"/>
                <a:ea typeface="DejaVu Sans"/>
                <a:cs typeface="DejaVu Sans"/>
              </a:rPr>
              <a:t>Program output: user registration</a:t>
            </a:r>
          </a:p>
        </p:txBody>
      </p:sp>
      <p:pic>
        <p:nvPicPr>
          <p:cNvPr id="9" name="Picture 8"/>
          <p:cNvPicPr>
            <a:picLocks noChangeAspect="1"/>
          </p:cNvPicPr>
          <p:nvPr/>
        </p:nvPicPr>
        <p:blipFill>
          <a:blip r:embed="rId4"/>
          <a:stretch/>
        </p:blipFill>
        <p:spPr>
          <a:xfrm>
            <a:off x="10477500" y="6153873"/>
            <a:ext cx="1143000" cy="570053"/>
          </a:xfrm>
          <a:prstGeom prst="rect">
            <a:avLst/>
          </a:prstGeom>
        </p:spPr>
      </p:pic>
      <p:sp>
        <p:nvSpPr>
          <p:cNvPr id="4" name="Rectangle 3">
            <a:extLst>
              <a:ext uri="{FF2B5EF4-FFF2-40B4-BE49-F238E27FC236}">
                <a16:creationId xmlns:a16="http://schemas.microsoft.com/office/drawing/2014/main" id="{8DE6C7F7-ECCE-47AD-84C8-86216098AC79}"/>
              </a:ext>
            </a:extLst>
          </p:cNvPr>
          <p:cNvSpPr>
            <a:spLocks noGrp="1"/>
          </p:cNvSpPr>
          <p:nvPr/>
        </p:nvSpPr>
        <p:spPr>
          <a:xfrm>
            <a:off x="571500" y="6162675"/>
            <a:ext cx="857250" cy="457200"/>
          </a:xfrm>
          <a:prstGeom prst="rect">
            <a:avLst/>
          </a:prstGeom>
          <a:noFill/>
          <a:ln w="0">
            <a:noFill/>
          </a:ln>
        </p:spPr>
        <p:txBody>
          <a:bodyPr>
            <a:noAutofit/>
          </a:bodyPr>
          <a:lstStyle/>
          <a:p>
            <a:pPr>
              <a:defRPr sz="2175" b="1">
                <a:solidFill>
                  <a:srgbClr val="D2F66C"/>
                </a:solidFill>
                <a:latin typeface="DejaVu Sans"/>
                <a:ea typeface="DejaVu Sans"/>
                <a:cs typeface="DejaVu Sans"/>
              </a:defRPr>
            </a:pPr>
            <a:r>
              <a:rPr sz="2175" b="1">
                <a:solidFill>
                  <a:srgbClr val="D2F66C"/>
                </a:solidFill>
                <a:latin typeface="DejaVu Sans"/>
                <a:ea typeface="DejaVu Sans"/>
                <a:cs typeface="DejaVu Sans"/>
              </a:rPr>
              <a:t>16</a:t>
            </a:r>
          </a:p>
        </p:txBody>
      </p:sp>
      <p:sp>
        <p:nvSpPr>
          <p:cNvPr id="5" name="Rectangle 4">
            <a:extLst>
              <a:ext uri="{FF2B5EF4-FFF2-40B4-BE49-F238E27FC236}">
                <a16:creationId xmlns:a16="http://schemas.microsoft.com/office/drawing/2014/main" id="{72510A3A-5895-4E14-ABA0-ADB2EBB86803}"/>
              </a:ext>
            </a:extLst>
          </p:cNvPr>
          <p:cNvSpPr>
            <a:spLocks noGrp="1"/>
          </p:cNvSpPr>
          <p:nvPr/>
        </p:nvSpPr>
        <p:spPr>
          <a:xfrm>
            <a:off x="590550" y="1285875"/>
            <a:ext cx="10953750" cy="476250"/>
          </a:xfrm>
          <a:prstGeom prst="rect">
            <a:avLst/>
          </a:prstGeom>
          <a:noFill/>
          <a:ln w="0">
            <a:noFill/>
          </a:ln>
        </p:spPr>
        <p:txBody>
          <a:bodyPr>
            <a:noAutofit/>
          </a:bodyPr>
          <a:lstStyle/>
          <a:p>
            <a:pPr>
              <a:defRPr sz="1875" b="0">
                <a:solidFill>
                  <a:srgbClr val="C8C3D8"/>
                </a:solidFill>
                <a:latin typeface="DejaVu Sans"/>
                <a:ea typeface="DejaVu Sans"/>
                <a:cs typeface="DejaVu Sans"/>
              </a:defRPr>
            </a:pPr>
            <a:r>
              <a:rPr sz="1875" b="0">
                <a:solidFill>
                  <a:srgbClr val="C8C3D8"/>
                </a:solidFill>
                <a:latin typeface="DejaVu Sans"/>
                <a:ea typeface="DejaVu Sans"/>
                <a:cs typeface="DejaVu Sans"/>
              </a:rPr>
              <a:t>Suggested capture: account creation and saved member details.</a:t>
            </a:r>
          </a:p>
        </p:txBody>
      </p:sp>
      <p:sp>
        <p:nvSpPr>
          <p:cNvPr id="6" name="Rectangle 5">
            <a:extLst>
              <a:ext uri="{FF2B5EF4-FFF2-40B4-BE49-F238E27FC236}">
                <a16:creationId xmlns:a16="http://schemas.microsoft.com/office/drawing/2014/main" id="{7AF28044-18A9-472C-964F-9012A49FF9ED}"/>
              </a:ext>
            </a:extLst>
          </p:cNvPr>
          <p:cNvSpPr>
            <a:spLocks noGrp="1"/>
          </p:cNvSpPr>
          <p:nvPr/>
        </p:nvSpPr>
        <p:spPr>
          <a:xfrm>
            <a:off x="609600" y="1952625"/>
            <a:ext cx="10972800" cy="3743325"/>
          </a:xfrm>
          <a:prstGeom prst="rect">
            <a:avLst/>
          </a:prstGeom>
          <a:solidFill>
            <a:srgbClr val="1B162D"/>
          </a:solidFill>
          <a:ln w="19050">
            <a:solidFill>
              <a:srgbClr val="B89BEF"/>
            </a:solidFill>
            <a:prstDash val="dash"/>
          </a:ln>
        </p:spPr>
        <p:txBody>
          <a:bodyPr anchor="ctr">
            <a:noAutofit/>
          </a:bodyPr>
          <a:lstStyle/>
          <a:p>
            <a:pPr algn="ctr">
              <a:defRPr sz="2025">
                <a:solidFill>
                  <a:srgbClr val="C6B4EB"/>
                </a:solidFill>
                <a:latin typeface="DejaVu Sans"/>
                <a:ea typeface="DejaVu Sans"/>
                <a:cs typeface="DejaVu Sans"/>
              </a:defRPr>
            </a:pPr>
            <a:r>
              <a:rPr sz="2025">
                <a:solidFill>
                  <a:srgbClr val="C6B4EB"/>
                </a:solidFill>
                <a:latin typeface="DejaVu Sans"/>
                <a:ea typeface="DejaVu Sans"/>
                <a:cs typeface="DejaVu Sans"/>
              </a:rPr>
              <a:t>Insert program output screenshot here</a:t>
            </a:r>
          </a:p>
        </p:txBody>
      </p:sp>
      <p:pic>
        <p:nvPicPr>
          <p:cNvPr id="8" name="Picture 7">
            <a:extLst>
              <a:ext uri="{FF2B5EF4-FFF2-40B4-BE49-F238E27FC236}">
                <a16:creationId xmlns:a16="http://schemas.microsoft.com/office/drawing/2014/main" id="{EB91F84F-29D4-50C2-90E4-C8A585333EA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1500" y="1929125"/>
            <a:ext cx="11049001" cy="3848220"/>
          </a:xfrm>
          <a:prstGeom prst="rect">
            <a:avLst/>
          </a:prstGeom>
        </p:spPr>
      </p:pic>
    </p:spTree>
    <p:extLst>
      <p:ext uri="{BB962C8B-B14F-4D97-AF65-F5344CB8AC3E}">
        <p14:creationId xmlns:p14="http://schemas.microsoft.com/office/powerpoint/2010/main" val="8381468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00F22"/>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tretch/>
        </p:blipFill>
        <p:spPr>
          <a:xfrm>
            <a:off x="3239" y="0"/>
            <a:ext cx="12185522" cy="6858000"/>
          </a:xfrm>
          <a:prstGeom prst="rect">
            <a:avLst/>
          </a:prstGeom>
        </p:spPr>
      </p:pic>
      <p:sp>
        <p:nvSpPr>
          <p:cNvPr id="2" name="Rectangle 1">
            <a:extLst>
              <a:ext uri="{FF2B5EF4-FFF2-40B4-BE49-F238E27FC236}">
                <a16:creationId xmlns:a16="http://schemas.microsoft.com/office/drawing/2014/main" id="{BEAE8CAC-C6B3-427F-BC97-3D655F0A7ADB}"/>
              </a:ext>
            </a:extLst>
          </p:cNvPr>
          <p:cNvSpPr>
            <a:spLocks noGrp="1"/>
          </p:cNvSpPr>
          <p:nvPr/>
        </p:nvSpPr>
        <p:spPr>
          <a:xfrm>
            <a:off x="571500" y="400050"/>
            <a:ext cx="10953750" cy="762000"/>
          </a:xfrm>
          <a:prstGeom prst="rect">
            <a:avLst/>
          </a:prstGeom>
          <a:noFill/>
          <a:ln w="0">
            <a:noFill/>
          </a:ln>
        </p:spPr>
        <p:txBody>
          <a:bodyPr>
            <a:noAutofit/>
          </a:bodyPr>
          <a:lstStyle/>
          <a:p>
            <a:pPr>
              <a:defRPr sz="3150" b="1">
                <a:solidFill>
                  <a:srgbClr val="D5C2FF"/>
                </a:solidFill>
                <a:latin typeface="DejaVu Sans"/>
                <a:ea typeface="DejaVu Sans"/>
                <a:cs typeface="DejaVu Sans"/>
              </a:defRPr>
            </a:pPr>
            <a:r>
              <a:rPr sz="3150" b="1">
                <a:solidFill>
                  <a:srgbClr val="D5C2FF"/>
                </a:solidFill>
                <a:latin typeface="DejaVu Sans"/>
                <a:ea typeface="DejaVu Sans"/>
                <a:cs typeface="DejaVu Sans"/>
              </a:rPr>
              <a:t>Program output: admin operations</a:t>
            </a:r>
          </a:p>
        </p:txBody>
      </p:sp>
      <p:pic>
        <p:nvPicPr>
          <p:cNvPr id="9" name="Picture 8"/>
          <p:cNvPicPr>
            <a:picLocks noChangeAspect="1"/>
          </p:cNvPicPr>
          <p:nvPr/>
        </p:nvPicPr>
        <p:blipFill>
          <a:blip r:embed="rId4"/>
          <a:stretch/>
        </p:blipFill>
        <p:spPr>
          <a:xfrm>
            <a:off x="10477500" y="6153873"/>
            <a:ext cx="1143000" cy="570053"/>
          </a:xfrm>
          <a:prstGeom prst="rect">
            <a:avLst/>
          </a:prstGeom>
        </p:spPr>
      </p:pic>
      <p:sp>
        <p:nvSpPr>
          <p:cNvPr id="4" name="Rectangle 3">
            <a:extLst>
              <a:ext uri="{FF2B5EF4-FFF2-40B4-BE49-F238E27FC236}">
                <a16:creationId xmlns:a16="http://schemas.microsoft.com/office/drawing/2014/main" id="{68FD7331-7006-4EE8-9EEA-FD839FADB0C0}"/>
              </a:ext>
            </a:extLst>
          </p:cNvPr>
          <p:cNvSpPr>
            <a:spLocks noGrp="1"/>
          </p:cNvSpPr>
          <p:nvPr/>
        </p:nvSpPr>
        <p:spPr>
          <a:xfrm>
            <a:off x="571500" y="6162675"/>
            <a:ext cx="857250" cy="457200"/>
          </a:xfrm>
          <a:prstGeom prst="rect">
            <a:avLst/>
          </a:prstGeom>
          <a:noFill/>
          <a:ln w="0">
            <a:noFill/>
          </a:ln>
        </p:spPr>
        <p:txBody>
          <a:bodyPr>
            <a:noAutofit/>
          </a:bodyPr>
          <a:lstStyle/>
          <a:p>
            <a:pPr>
              <a:defRPr sz="2175" b="1">
                <a:solidFill>
                  <a:srgbClr val="D2F66C"/>
                </a:solidFill>
                <a:latin typeface="DejaVu Sans"/>
                <a:ea typeface="DejaVu Sans"/>
                <a:cs typeface="DejaVu Sans"/>
              </a:defRPr>
            </a:pPr>
            <a:r>
              <a:rPr sz="2175" b="1">
                <a:solidFill>
                  <a:srgbClr val="D2F66C"/>
                </a:solidFill>
                <a:latin typeface="DejaVu Sans"/>
                <a:ea typeface="DejaVu Sans"/>
                <a:cs typeface="DejaVu Sans"/>
              </a:rPr>
              <a:t>17</a:t>
            </a:r>
          </a:p>
        </p:txBody>
      </p:sp>
      <p:sp>
        <p:nvSpPr>
          <p:cNvPr id="5" name="Rectangle 4">
            <a:extLst>
              <a:ext uri="{FF2B5EF4-FFF2-40B4-BE49-F238E27FC236}">
                <a16:creationId xmlns:a16="http://schemas.microsoft.com/office/drawing/2014/main" id="{899476CA-89DA-4928-BAF0-A75B7C6A3BA2}"/>
              </a:ext>
            </a:extLst>
          </p:cNvPr>
          <p:cNvSpPr>
            <a:spLocks noGrp="1"/>
          </p:cNvSpPr>
          <p:nvPr/>
        </p:nvSpPr>
        <p:spPr>
          <a:xfrm>
            <a:off x="590550" y="1285875"/>
            <a:ext cx="10953750" cy="476250"/>
          </a:xfrm>
          <a:prstGeom prst="rect">
            <a:avLst/>
          </a:prstGeom>
          <a:noFill/>
          <a:ln w="0">
            <a:noFill/>
          </a:ln>
        </p:spPr>
        <p:txBody>
          <a:bodyPr>
            <a:noAutofit/>
          </a:bodyPr>
          <a:lstStyle/>
          <a:p>
            <a:pPr>
              <a:defRPr sz="1875" b="0">
                <a:solidFill>
                  <a:srgbClr val="C8C3D8"/>
                </a:solidFill>
                <a:latin typeface="DejaVu Sans"/>
                <a:ea typeface="DejaVu Sans"/>
                <a:cs typeface="DejaVu Sans"/>
              </a:defRPr>
            </a:pPr>
            <a:r>
              <a:rPr sz="1875" b="0">
                <a:solidFill>
                  <a:srgbClr val="C8C3D8"/>
                </a:solidFill>
                <a:latin typeface="DejaVu Sans"/>
                <a:ea typeface="DejaVu Sans"/>
                <a:cs typeface="DejaVu Sans"/>
              </a:rPr>
              <a:t>Suggested capture: adding a book, viewing users or deleting a user record.</a:t>
            </a:r>
          </a:p>
        </p:txBody>
      </p:sp>
      <p:sp>
        <p:nvSpPr>
          <p:cNvPr id="6" name="Rectangle 5">
            <a:extLst>
              <a:ext uri="{FF2B5EF4-FFF2-40B4-BE49-F238E27FC236}">
                <a16:creationId xmlns:a16="http://schemas.microsoft.com/office/drawing/2014/main" id="{9DCDE3B0-E27F-4F06-B100-74CC5D58F7CA}"/>
              </a:ext>
            </a:extLst>
          </p:cNvPr>
          <p:cNvSpPr>
            <a:spLocks noGrp="1"/>
          </p:cNvSpPr>
          <p:nvPr/>
        </p:nvSpPr>
        <p:spPr>
          <a:xfrm>
            <a:off x="609600" y="1952625"/>
            <a:ext cx="10972800" cy="3743325"/>
          </a:xfrm>
          <a:prstGeom prst="rect">
            <a:avLst/>
          </a:prstGeom>
          <a:solidFill>
            <a:srgbClr val="1B162D"/>
          </a:solidFill>
          <a:ln w="19050">
            <a:solidFill>
              <a:srgbClr val="B89BEF"/>
            </a:solidFill>
            <a:prstDash val="dash"/>
          </a:ln>
        </p:spPr>
        <p:txBody>
          <a:bodyPr anchor="ctr">
            <a:noAutofit/>
          </a:bodyPr>
          <a:lstStyle/>
          <a:p>
            <a:pPr algn="ctr">
              <a:defRPr sz="2025">
                <a:solidFill>
                  <a:srgbClr val="C6B4EB"/>
                </a:solidFill>
                <a:latin typeface="DejaVu Sans"/>
                <a:ea typeface="DejaVu Sans"/>
                <a:cs typeface="DejaVu Sans"/>
              </a:defRPr>
            </a:pPr>
            <a:r>
              <a:rPr sz="2025">
                <a:solidFill>
                  <a:srgbClr val="C6B4EB"/>
                </a:solidFill>
                <a:latin typeface="DejaVu Sans"/>
                <a:ea typeface="DejaVu Sans"/>
                <a:cs typeface="DejaVu Sans"/>
              </a:rPr>
              <a:t>Insert program output screenshot here</a:t>
            </a:r>
          </a:p>
        </p:txBody>
      </p:sp>
      <p:pic>
        <p:nvPicPr>
          <p:cNvPr id="8" name="Picture 7">
            <a:extLst>
              <a:ext uri="{FF2B5EF4-FFF2-40B4-BE49-F238E27FC236}">
                <a16:creationId xmlns:a16="http://schemas.microsoft.com/office/drawing/2014/main" id="{44142024-8124-273C-936D-1E9FE60622B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9600" y="1952625"/>
            <a:ext cx="10972800" cy="3743325"/>
          </a:xfrm>
          <a:prstGeom prst="rect">
            <a:avLst/>
          </a:prstGeom>
        </p:spPr>
      </p:pic>
    </p:spTree>
    <p:extLst>
      <p:ext uri="{BB962C8B-B14F-4D97-AF65-F5344CB8AC3E}">
        <p14:creationId xmlns:p14="http://schemas.microsoft.com/office/powerpoint/2010/main" val="13302175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00F22"/>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tretch/>
        </p:blipFill>
        <p:spPr>
          <a:xfrm>
            <a:off x="3239" y="0"/>
            <a:ext cx="12185522" cy="6858000"/>
          </a:xfrm>
          <a:prstGeom prst="rect">
            <a:avLst/>
          </a:prstGeom>
        </p:spPr>
      </p:pic>
      <p:sp>
        <p:nvSpPr>
          <p:cNvPr id="2" name="Rectangle 1">
            <a:extLst>
              <a:ext uri="{FF2B5EF4-FFF2-40B4-BE49-F238E27FC236}">
                <a16:creationId xmlns:a16="http://schemas.microsoft.com/office/drawing/2014/main" id="{42862C2A-9A3F-47E1-B0E1-BC85A8DD1B3A}"/>
              </a:ext>
            </a:extLst>
          </p:cNvPr>
          <p:cNvSpPr>
            <a:spLocks noGrp="1"/>
          </p:cNvSpPr>
          <p:nvPr/>
        </p:nvSpPr>
        <p:spPr>
          <a:xfrm>
            <a:off x="571500" y="400050"/>
            <a:ext cx="10953750" cy="762000"/>
          </a:xfrm>
          <a:prstGeom prst="rect">
            <a:avLst/>
          </a:prstGeom>
          <a:noFill/>
          <a:ln w="0">
            <a:noFill/>
          </a:ln>
        </p:spPr>
        <p:txBody>
          <a:bodyPr>
            <a:noAutofit/>
          </a:bodyPr>
          <a:lstStyle/>
          <a:p>
            <a:pPr>
              <a:defRPr sz="3150" b="1">
                <a:solidFill>
                  <a:srgbClr val="D5C2FF"/>
                </a:solidFill>
                <a:latin typeface="DejaVu Sans"/>
                <a:ea typeface="DejaVu Sans"/>
                <a:cs typeface="DejaVu Sans"/>
              </a:defRPr>
            </a:pPr>
            <a:r>
              <a:rPr sz="3150" b="1">
                <a:solidFill>
                  <a:srgbClr val="D5C2FF"/>
                </a:solidFill>
                <a:latin typeface="DejaVu Sans"/>
                <a:ea typeface="DejaVu Sans"/>
                <a:cs typeface="DejaVu Sans"/>
              </a:rPr>
              <a:t>Program output: books and issuing</a:t>
            </a:r>
          </a:p>
        </p:txBody>
      </p:sp>
      <p:pic>
        <p:nvPicPr>
          <p:cNvPr id="9" name="Picture 8"/>
          <p:cNvPicPr>
            <a:picLocks noChangeAspect="1"/>
          </p:cNvPicPr>
          <p:nvPr/>
        </p:nvPicPr>
        <p:blipFill>
          <a:blip r:embed="rId4"/>
          <a:stretch/>
        </p:blipFill>
        <p:spPr>
          <a:xfrm>
            <a:off x="10477500" y="6153873"/>
            <a:ext cx="1143000" cy="570053"/>
          </a:xfrm>
          <a:prstGeom prst="rect">
            <a:avLst/>
          </a:prstGeom>
        </p:spPr>
      </p:pic>
      <p:sp>
        <p:nvSpPr>
          <p:cNvPr id="4" name="Rectangle 3">
            <a:extLst>
              <a:ext uri="{FF2B5EF4-FFF2-40B4-BE49-F238E27FC236}">
                <a16:creationId xmlns:a16="http://schemas.microsoft.com/office/drawing/2014/main" id="{E0C72536-33A8-4721-9DF8-271EFC4A792A}"/>
              </a:ext>
            </a:extLst>
          </p:cNvPr>
          <p:cNvSpPr>
            <a:spLocks noGrp="1"/>
          </p:cNvSpPr>
          <p:nvPr/>
        </p:nvSpPr>
        <p:spPr>
          <a:xfrm>
            <a:off x="571500" y="6162675"/>
            <a:ext cx="857250" cy="457200"/>
          </a:xfrm>
          <a:prstGeom prst="rect">
            <a:avLst/>
          </a:prstGeom>
          <a:noFill/>
          <a:ln w="0">
            <a:noFill/>
          </a:ln>
        </p:spPr>
        <p:txBody>
          <a:bodyPr>
            <a:noAutofit/>
          </a:bodyPr>
          <a:lstStyle/>
          <a:p>
            <a:pPr>
              <a:defRPr sz="2175" b="1">
                <a:solidFill>
                  <a:srgbClr val="D2F66C"/>
                </a:solidFill>
                <a:latin typeface="DejaVu Sans"/>
                <a:ea typeface="DejaVu Sans"/>
                <a:cs typeface="DejaVu Sans"/>
              </a:defRPr>
            </a:pPr>
            <a:r>
              <a:rPr sz="2175" b="1">
                <a:solidFill>
                  <a:srgbClr val="D2F66C"/>
                </a:solidFill>
                <a:latin typeface="DejaVu Sans"/>
                <a:ea typeface="DejaVu Sans"/>
                <a:cs typeface="DejaVu Sans"/>
              </a:rPr>
              <a:t>18</a:t>
            </a:r>
          </a:p>
        </p:txBody>
      </p:sp>
      <p:sp>
        <p:nvSpPr>
          <p:cNvPr id="5" name="Rectangle 4">
            <a:extLst>
              <a:ext uri="{FF2B5EF4-FFF2-40B4-BE49-F238E27FC236}">
                <a16:creationId xmlns:a16="http://schemas.microsoft.com/office/drawing/2014/main" id="{C9BEA1B0-0A33-44BE-A70E-89640361AB7E}"/>
              </a:ext>
            </a:extLst>
          </p:cNvPr>
          <p:cNvSpPr>
            <a:spLocks noGrp="1"/>
          </p:cNvSpPr>
          <p:nvPr/>
        </p:nvSpPr>
        <p:spPr>
          <a:xfrm>
            <a:off x="590550" y="1285875"/>
            <a:ext cx="10953750" cy="476250"/>
          </a:xfrm>
          <a:prstGeom prst="rect">
            <a:avLst/>
          </a:prstGeom>
          <a:noFill/>
          <a:ln w="0">
            <a:noFill/>
          </a:ln>
        </p:spPr>
        <p:txBody>
          <a:bodyPr>
            <a:noAutofit/>
          </a:bodyPr>
          <a:lstStyle/>
          <a:p>
            <a:pPr>
              <a:defRPr sz="1875" b="0">
                <a:solidFill>
                  <a:srgbClr val="C8C3D8"/>
                </a:solidFill>
                <a:latin typeface="DejaVu Sans"/>
                <a:ea typeface="DejaVu Sans"/>
                <a:cs typeface="DejaVu Sans"/>
              </a:defRPr>
            </a:pPr>
            <a:r>
              <a:rPr sz="1875" b="0">
                <a:solidFill>
                  <a:srgbClr val="C8C3D8"/>
                </a:solidFill>
                <a:latin typeface="DejaVu Sans"/>
                <a:ea typeface="DejaVu Sans"/>
                <a:cs typeface="DejaVu Sans"/>
              </a:rPr>
              <a:t>Suggested capture: book listing and the book issue confirmation.</a:t>
            </a:r>
          </a:p>
        </p:txBody>
      </p:sp>
      <p:sp>
        <p:nvSpPr>
          <p:cNvPr id="6" name="Rectangle 5">
            <a:extLst>
              <a:ext uri="{FF2B5EF4-FFF2-40B4-BE49-F238E27FC236}">
                <a16:creationId xmlns:a16="http://schemas.microsoft.com/office/drawing/2014/main" id="{5395817C-32ED-4D94-8A0D-FF0D73B45DCC}"/>
              </a:ext>
            </a:extLst>
          </p:cNvPr>
          <p:cNvSpPr>
            <a:spLocks noGrp="1"/>
          </p:cNvSpPr>
          <p:nvPr/>
        </p:nvSpPr>
        <p:spPr>
          <a:xfrm>
            <a:off x="609600" y="1952625"/>
            <a:ext cx="10972800" cy="3743325"/>
          </a:xfrm>
          <a:prstGeom prst="rect">
            <a:avLst/>
          </a:prstGeom>
          <a:solidFill>
            <a:srgbClr val="1B162D"/>
          </a:solidFill>
          <a:ln w="19050">
            <a:solidFill>
              <a:srgbClr val="B89BEF"/>
            </a:solidFill>
            <a:prstDash val="dash"/>
          </a:ln>
        </p:spPr>
        <p:txBody>
          <a:bodyPr anchor="ctr">
            <a:noAutofit/>
          </a:bodyPr>
          <a:lstStyle/>
          <a:p>
            <a:pPr algn="ctr">
              <a:defRPr sz="2025">
                <a:solidFill>
                  <a:srgbClr val="C6B4EB"/>
                </a:solidFill>
                <a:latin typeface="DejaVu Sans"/>
                <a:ea typeface="DejaVu Sans"/>
                <a:cs typeface="DejaVu Sans"/>
              </a:defRPr>
            </a:pPr>
            <a:r>
              <a:rPr sz="2025">
                <a:solidFill>
                  <a:srgbClr val="C6B4EB"/>
                </a:solidFill>
                <a:latin typeface="DejaVu Sans"/>
                <a:ea typeface="DejaVu Sans"/>
                <a:cs typeface="DejaVu Sans"/>
              </a:rPr>
              <a:t>Insert program output screenshot here</a:t>
            </a:r>
          </a:p>
        </p:txBody>
      </p:sp>
      <p:pic>
        <p:nvPicPr>
          <p:cNvPr id="11" name="Picture 10">
            <a:extLst>
              <a:ext uri="{FF2B5EF4-FFF2-40B4-BE49-F238E27FC236}">
                <a16:creationId xmlns:a16="http://schemas.microsoft.com/office/drawing/2014/main" id="{6EB1CA1D-A620-8886-C814-97B0435BE26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9600" y="1952626"/>
            <a:ext cx="10972800" cy="3743324"/>
          </a:xfrm>
          <a:prstGeom prst="rect">
            <a:avLst/>
          </a:prstGeom>
        </p:spPr>
      </p:pic>
    </p:spTree>
    <p:extLst>
      <p:ext uri="{BB962C8B-B14F-4D97-AF65-F5344CB8AC3E}">
        <p14:creationId xmlns:p14="http://schemas.microsoft.com/office/powerpoint/2010/main" val="10779324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00F22"/>
        </a:solidFill>
        <a:effectLst/>
      </p:bgPr>
    </p:bg>
    <p:spTree>
      <p:nvGrpSpPr>
        <p:cNvPr id="1" name=""/>
        <p:cNvGrpSpPr/>
        <p:nvPr/>
      </p:nvGrpSpPr>
      <p:grpSpPr>
        <a:xfrm>
          <a:off x="0" y="0"/>
          <a:ext cx="0" cy="0"/>
          <a:chOff x="0" y="0"/>
          <a:chExt cx="0" cy="0"/>
        </a:xfrm>
      </p:grpSpPr>
      <p:pic>
        <p:nvPicPr>
          <p:cNvPr id="14" name="Picture 13"/>
          <p:cNvPicPr>
            <a:picLocks noChangeAspect="1"/>
          </p:cNvPicPr>
          <p:nvPr/>
        </p:nvPicPr>
        <p:blipFill>
          <a:blip r:embed="rId3"/>
          <a:stretch/>
        </p:blipFill>
        <p:spPr>
          <a:xfrm>
            <a:off x="3239" y="0"/>
            <a:ext cx="12185522" cy="6858000"/>
          </a:xfrm>
          <a:prstGeom prst="rect">
            <a:avLst/>
          </a:prstGeom>
        </p:spPr>
      </p:pic>
      <p:pic>
        <p:nvPicPr>
          <p:cNvPr id="15" name="Picture 14"/>
          <p:cNvPicPr>
            <a:picLocks noChangeAspect="1"/>
          </p:cNvPicPr>
          <p:nvPr/>
        </p:nvPicPr>
        <p:blipFill>
          <a:blip r:embed="rId4"/>
          <a:stretch/>
        </p:blipFill>
        <p:spPr>
          <a:xfrm>
            <a:off x="4000561" y="1504950"/>
            <a:ext cx="8191379" cy="4610100"/>
          </a:xfrm>
          <a:prstGeom prst="rect">
            <a:avLst/>
          </a:prstGeom>
        </p:spPr>
      </p:pic>
      <p:sp>
        <p:nvSpPr>
          <p:cNvPr id="3" name="Rectangle 2">
            <a:extLst>
              <a:ext uri="{FF2B5EF4-FFF2-40B4-BE49-F238E27FC236}">
                <a16:creationId xmlns:a16="http://schemas.microsoft.com/office/drawing/2014/main" id="{FF5B94C5-B685-495B-8752-2F09FB6C29D4}"/>
              </a:ext>
            </a:extLst>
          </p:cNvPr>
          <p:cNvSpPr>
            <a:spLocks noGrp="1"/>
          </p:cNvSpPr>
          <p:nvPr/>
        </p:nvSpPr>
        <p:spPr>
          <a:xfrm>
            <a:off x="571500" y="400050"/>
            <a:ext cx="10953750" cy="762000"/>
          </a:xfrm>
          <a:prstGeom prst="rect">
            <a:avLst/>
          </a:prstGeom>
          <a:noFill/>
          <a:ln w="0">
            <a:noFill/>
          </a:ln>
        </p:spPr>
        <p:txBody>
          <a:bodyPr>
            <a:noAutofit/>
          </a:bodyPr>
          <a:lstStyle/>
          <a:p>
            <a:pPr>
              <a:defRPr sz="3150" b="1">
                <a:solidFill>
                  <a:srgbClr val="D5C2FF"/>
                </a:solidFill>
                <a:latin typeface="DejaVu Sans"/>
                <a:ea typeface="DejaVu Sans"/>
                <a:cs typeface="DejaVu Sans"/>
              </a:defRPr>
            </a:pPr>
            <a:r>
              <a:rPr sz="3150" b="1">
                <a:solidFill>
                  <a:srgbClr val="D5C2FF"/>
                </a:solidFill>
                <a:latin typeface="DejaVu Sans"/>
                <a:ea typeface="DejaVu Sans"/>
                <a:cs typeface="DejaVu Sans"/>
              </a:rPr>
              <a:t>Current limitations</a:t>
            </a:r>
          </a:p>
        </p:txBody>
      </p:sp>
      <p:pic>
        <p:nvPicPr>
          <p:cNvPr id="17" name="Picture 16"/>
          <p:cNvPicPr>
            <a:picLocks noChangeAspect="1"/>
          </p:cNvPicPr>
          <p:nvPr/>
        </p:nvPicPr>
        <p:blipFill>
          <a:blip r:embed="rId5"/>
          <a:stretch/>
        </p:blipFill>
        <p:spPr>
          <a:xfrm>
            <a:off x="10477500" y="6153873"/>
            <a:ext cx="1143000" cy="570053"/>
          </a:xfrm>
          <a:prstGeom prst="rect">
            <a:avLst/>
          </a:prstGeom>
        </p:spPr>
      </p:pic>
      <p:sp>
        <p:nvSpPr>
          <p:cNvPr id="5" name="Rectangle 4">
            <a:extLst>
              <a:ext uri="{FF2B5EF4-FFF2-40B4-BE49-F238E27FC236}">
                <a16:creationId xmlns:a16="http://schemas.microsoft.com/office/drawing/2014/main" id="{EBF05A10-56DD-4519-ADA7-3254CA42A32F}"/>
              </a:ext>
            </a:extLst>
          </p:cNvPr>
          <p:cNvSpPr>
            <a:spLocks noGrp="1"/>
          </p:cNvSpPr>
          <p:nvPr/>
        </p:nvSpPr>
        <p:spPr>
          <a:xfrm>
            <a:off x="571500" y="6162675"/>
            <a:ext cx="857250" cy="457200"/>
          </a:xfrm>
          <a:prstGeom prst="rect">
            <a:avLst/>
          </a:prstGeom>
          <a:noFill/>
          <a:ln w="0">
            <a:noFill/>
          </a:ln>
        </p:spPr>
        <p:txBody>
          <a:bodyPr>
            <a:noAutofit/>
          </a:bodyPr>
          <a:lstStyle/>
          <a:p>
            <a:pPr>
              <a:defRPr sz="2175" b="1">
                <a:solidFill>
                  <a:srgbClr val="D2F66C"/>
                </a:solidFill>
                <a:latin typeface="DejaVu Sans"/>
                <a:ea typeface="DejaVu Sans"/>
                <a:cs typeface="DejaVu Sans"/>
              </a:defRPr>
            </a:pPr>
            <a:r>
              <a:rPr sz="2175" b="1">
                <a:solidFill>
                  <a:srgbClr val="D2F66C"/>
                </a:solidFill>
                <a:latin typeface="DejaVu Sans"/>
                <a:ea typeface="DejaVu Sans"/>
                <a:cs typeface="DejaVu Sans"/>
              </a:rPr>
              <a:t>19</a:t>
            </a:r>
          </a:p>
        </p:txBody>
      </p:sp>
      <p:sp>
        <p:nvSpPr>
          <p:cNvPr id="6" name="Rectangle 5">
            <a:extLst>
              <a:ext uri="{FF2B5EF4-FFF2-40B4-BE49-F238E27FC236}">
                <a16:creationId xmlns:a16="http://schemas.microsoft.com/office/drawing/2014/main" id="{0CAA4ACD-F074-4AE4-A041-2B81F26E5AFD}"/>
              </a:ext>
            </a:extLst>
          </p:cNvPr>
          <p:cNvSpPr>
            <a:spLocks noGrp="1"/>
          </p:cNvSpPr>
          <p:nvPr/>
        </p:nvSpPr>
        <p:spPr>
          <a:xfrm>
            <a:off x="609600" y="1485900"/>
            <a:ext cx="7191375" cy="342900"/>
          </a:xfrm>
          <a:prstGeom prst="rect">
            <a:avLst/>
          </a:prstGeom>
          <a:noFill/>
          <a:ln w="0">
            <a:noFill/>
          </a:ln>
        </p:spPr>
        <p:txBody>
          <a:bodyPr>
            <a:noAutofit/>
          </a:bodyPr>
          <a:lstStyle/>
          <a:p>
            <a:pPr>
              <a:defRPr sz="1950" b="1">
                <a:solidFill>
                  <a:srgbClr val="D2F66C"/>
                </a:solidFill>
                <a:latin typeface="DejaVu Sans"/>
                <a:ea typeface="DejaVu Sans"/>
                <a:cs typeface="DejaVu Sans"/>
              </a:defRPr>
            </a:pPr>
            <a:r>
              <a:rPr sz="1950" b="1">
                <a:solidFill>
                  <a:srgbClr val="D2F66C"/>
                </a:solidFill>
                <a:latin typeface="DejaVu Sans"/>
                <a:ea typeface="DejaVu Sans"/>
                <a:cs typeface="DejaVu Sans"/>
              </a:rPr>
              <a:t>Data consistency</a:t>
            </a:r>
          </a:p>
        </p:txBody>
      </p:sp>
      <p:sp>
        <p:nvSpPr>
          <p:cNvPr id="7" name="Rectangle 6">
            <a:extLst>
              <a:ext uri="{FF2B5EF4-FFF2-40B4-BE49-F238E27FC236}">
                <a16:creationId xmlns:a16="http://schemas.microsoft.com/office/drawing/2014/main" id="{E9CA47F7-C671-42F5-99FD-39B47C26A8C8}"/>
              </a:ext>
            </a:extLst>
          </p:cNvPr>
          <p:cNvSpPr>
            <a:spLocks noGrp="1"/>
          </p:cNvSpPr>
          <p:nvPr/>
        </p:nvSpPr>
        <p:spPr>
          <a:xfrm>
            <a:off x="609600" y="1866900"/>
            <a:ext cx="7191375" cy="762000"/>
          </a:xfrm>
          <a:prstGeom prst="rect">
            <a:avLst/>
          </a:prstGeom>
          <a:noFill/>
          <a:ln w="0">
            <a:noFill/>
          </a:ln>
        </p:spPr>
        <p:txBody>
          <a:bodyPr>
            <a:noAutofit/>
          </a:bodyPr>
          <a:lstStyle/>
          <a:p>
            <a:pPr>
              <a:defRPr sz="1725" b="0">
                <a:solidFill>
                  <a:srgbClr val="C8C3D8"/>
                </a:solidFill>
                <a:latin typeface="DejaVu Sans"/>
                <a:ea typeface="DejaVu Sans"/>
                <a:cs typeface="DejaVu Sans"/>
              </a:defRPr>
            </a:pPr>
            <a:r>
              <a:rPr sz="1725" b="0">
                <a:solidFill>
                  <a:srgbClr val="C8C3D8"/>
                </a:solidFill>
                <a:latin typeface="DejaVu Sans"/>
                <a:ea typeface="DejaVu Sans"/>
                <a:cs typeface="DejaVu Sans"/>
              </a:rPr>
              <a:t>Duplicate IDs are possible. Book issues do not validate records or change availability.</a:t>
            </a:r>
          </a:p>
        </p:txBody>
      </p:sp>
      <p:sp>
        <p:nvSpPr>
          <p:cNvPr id="8" name="Rectangle 7">
            <a:extLst>
              <a:ext uri="{FF2B5EF4-FFF2-40B4-BE49-F238E27FC236}">
                <a16:creationId xmlns:a16="http://schemas.microsoft.com/office/drawing/2014/main" id="{B1816AEE-636B-4B2A-86F6-D0240F36D561}"/>
              </a:ext>
            </a:extLst>
          </p:cNvPr>
          <p:cNvSpPr>
            <a:spLocks noGrp="1"/>
          </p:cNvSpPr>
          <p:nvPr/>
        </p:nvSpPr>
        <p:spPr>
          <a:xfrm>
            <a:off x="609600" y="2609850"/>
            <a:ext cx="7191375" cy="342900"/>
          </a:xfrm>
          <a:prstGeom prst="rect">
            <a:avLst/>
          </a:prstGeom>
          <a:noFill/>
          <a:ln w="0">
            <a:noFill/>
          </a:ln>
        </p:spPr>
        <p:txBody>
          <a:bodyPr>
            <a:noAutofit/>
          </a:bodyPr>
          <a:lstStyle/>
          <a:p>
            <a:pPr>
              <a:defRPr sz="1950" b="1">
                <a:solidFill>
                  <a:srgbClr val="D2F66C"/>
                </a:solidFill>
                <a:latin typeface="DejaVu Sans"/>
                <a:ea typeface="DejaVu Sans"/>
                <a:cs typeface="DejaVu Sans"/>
              </a:defRPr>
            </a:pPr>
            <a:r>
              <a:rPr sz="1950" b="1">
                <a:solidFill>
                  <a:srgbClr val="D2F66C"/>
                </a:solidFill>
                <a:latin typeface="DejaVu Sans"/>
                <a:ea typeface="DejaVu Sans"/>
                <a:cs typeface="DejaVu Sans"/>
              </a:rPr>
              <a:t>Account integrity</a:t>
            </a:r>
          </a:p>
        </p:txBody>
      </p:sp>
      <p:sp>
        <p:nvSpPr>
          <p:cNvPr id="9" name="Rectangle 8">
            <a:extLst>
              <a:ext uri="{FF2B5EF4-FFF2-40B4-BE49-F238E27FC236}">
                <a16:creationId xmlns:a16="http://schemas.microsoft.com/office/drawing/2014/main" id="{FB598A1F-19C7-48BD-90B1-820F518C0D2A}"/>
              </a:ext>
            </a:extLst>
          </p:cNvPr>
          <p:cNvSpPr>
            <a:spLocks noGrp="1"/>
          </p:cNvSpPr>
          <p:nvPr/>
        </p:nvSpPr>
        <p:spPr>
          <a:xfrm>
            <a:off x="609600" y="2990850"/>
            <a:ext cx="7191375" cy="762000"/>
          </a:xfrm>
          <a:prstGeom prst="rect">
            <a:avLst/>
          </a:prstGeom>
          <a:noFill/>
          <a:ln w="0">
            <a:noFill/>
          </a:ln>
        </p:spPr>
        <p:txBody>
          <a:bodyPr>
            <a:noAutofit/>
          </a:bodyPr>
          <a:lstStyle/>
          <a:p>
            <a:pPr>
              <a:defRPr sz="1725" b="0">
                <a:solidFill>
                  <a:srgbClr val="C8C3D8"/>
                </a:solidFill>
                <a:latin typeface="DejaVu Sans"/>
                <a:ea typeface="DejaVu Sans"/>
                <a:cs typeface="DejaVu Sans"/>
              </a:defRPr>
            </a:pPr>
            <a:r>
              <a:rPr sz="1725" b="0">
                <a:solidFill>
                  <a:srgbClr val="C8C3D8"/>
                </a:solidFill>
                <a:latin typeface="DejaVu Sans"/>
                <a:ea typeface="DejaVu Sans"/>
                <a:cs typeface="DejaVu Sans"/>
              </a:rPr>
              <a:t>Deleting user details leaves credentials and previous issue records intact.</a:t>
            </a:r>
          </a:p>
        </p:txBody>
      </p:sp>
      <p:sp>
        <p:nvSpPr>
          <p:cNvPr id="10" name="Rectangle 9">
            <a:extLst>
              <a:ext uri="{FF2B5EF4-FFF2-40B4-BE49-F238E27FC236}">
                <a16:creationId xmlns:a16="http://schemas.microsoft.com/office/drawing/2014/main" id="{02B359D0-30D3-46B5-9C33-C82ED502D7CF}"/>
              </a:ext>
            </a:extLst>
          </p:cNvPr>
          <p:cNvSpPr>
            <a:spLocks noGrp="1"/>
          </p:cNvSpPr>
          <p:nvPr/>
        </p:nvSpPr>
        <p:spPr>
          <a:xfrm>
            <a:off x="609600" y="3733800"/>
            <a:ext cx="7191375" cy="342900"/>
          </a:xfrm>
          <a:prstGeom prst="rect">
            <a:avLst/>
          </a:prstGeom>
          <a:noFill/>
          <a:ln w="0">
            <a:noFill/>
          </a:ln>
        </p:spPr>
        <p:txBody>
          <a:bodyPr>
            <a:noAutofit/>
          </a:bodyPr>
          <a:lstStyle/>
          <a:p>
            <a:pPr>
              <a:defRPr sz="1950" b="1">
                <a:solidFill>
                  <a:srgbClr val="D2F66C"/>
                </a:solidFill>
                <a:latin typeface="DejaVu Sans"/>
                <a:ea typeface="DejaVu Sans"/>
                <a:cs typeface="DejaVu Sans"/>
              </a:defRPr>
            </a:pPr>
            <a:r>
              <a:rPr sz="1950" b="1">
                <a:solidFill>
                  <a:srgbClr val="D2F66C"/>
                </a:solidFill>
                <a:latin typeface="DejaVu Sans"/>
                <a:ea typeface="DejaVu Sans"/>
                <a:cs typeface="DejaVu Sans"/>
              </a:rPr>
              <a:t>Authentication</a:t>
            </a:r>
          </a:p>
        </p:txBody>
      </p:sp>
      <p:sp>
        <p:nvSpPr>
          <p:cNvPr id="11" name="Rectangle 10">
            <a:extLst>
              <a:ext uri="{FF2B5EF4-FFF2-40B4-BE49-F238E27FC236}">
                <a16:creationId xmlns:a16="http://schemas.microsoft.com/office/drawing/2014/main" id="{51432AAF-0657-4ED1-A5CA-5601ACDBD2A6}"/>
              </a:ext>
            </a:extLst>
          </p:cNvPr>
          <p:cNvSpPr>
            <a:spLocks noGrp="1"/>
          </p:cNvSpPr>
          <p:nvPr/>
        </p:nvSpPr>
        <p:spPr>
          <a:xfrm>
            <a:off x="609600" y="4114800"/>
            <a:ext cx="7191375" cy="762000"/>
          </a:xfrm>
          <a:prstGeom prst="rect">
            <a:avLst/>
          </a:prstGeom>
          <a:noFill/>
          <a:ln w="0">
            <a:noFill/>
          </a:ln>
        </p:spPr>
        <p:txBody>
          <a:bodyPr>
            <a:noAutofit/>
          </a:bodyPr>
          <a:lstStyle/>
          <a:p>
            <a:pPr>
              <a:defRPr sz="1725" b="0">
                <a:solidFill>
                  <a:srgbClr val="C8C3D8"/>
                </a:solidFill>
                <a:latin typeface="DejaVu Sans"/>
                <a:ea typeface="DejaVu Sans"/>
                <a:cs typeface="DejaVu Sans"/>
              </a:defRPr>
            </a:pPr>
            <a:r>
              <a:rPr sz="1725" b="0">
                <a:solidFill>
                  <a:srgbClr val="C8C3D8"/>
                </a:solidFill>
                <a:latin typeface="DejaVu Sans"/>
                <a:ea typeface="DejaVu Sans"/>
                <a:cs typeface="DejaVu Sans"/>
              </a:rPr>
              <a:t>Passwords remain readable in binary files. The program has no password hashing.</a:t>
            </a:r>
          </a:p>
        </p:txBody>
      </p:sp>
      <p:sp>
        <p:nvSpPr>
          <p:cNvPr id="12" name="Rectangle 11">
            <a:extLst>
              <a:ext uri="{FF2B5EF4-FFF2-40B4-BE49-F238E27FC236}">
                <a16:creationId xmlns:a16="http://schemas.microsoft.com/office/drawing/2014/main" id="{DC64FA15-FF95-4B5B-8C86-276749DD453F}"/>
              </a:ext>
            </a:extLst>
          </p:cNvPr>
          <p:cNvSpPr>
            <a:spLocks noGrp="1"/>
          </p:cNvSpPr>
          <p:nvPr/>
        </p:nvSpPr>
        <p:spPr>
          <a:xfrm>
            <a:off x="609600" y="4857750"/>
            <a:ext cx="7191375" cy="342900"/>
          </a:xfrm>
          <a:prstGeom prst="rect">
            <a:avLst/>
          </a:prstGeom>
          <a:noFill/>
          <a:ln w="0">
            <a:noFill/>
          </a:ln>
        </p:spPr>
        <p:txBody>
          <a:bodyPr>
            <a:noAutofit/>
          </a:bodyPr>
          <a:lstStyle/>
          <a:p>
            <a:pPr>
              <a:defRPr sz="1950" b="1">
                <a:solidFill>
                  <a:srgbClr val="D2F66C"/>
                </a:solidFill>
                <a:latin typeface="DejaVu Sans"/>
                <a:ea typeface="DejaVu Sans"/>
                <a:cs typeface="DejaVu Sans"/>
              </a:defRPr>
            </a:pPr>
            <a:r>
              <a:rPr sz="1950" b="1">
                <a:solidFill>
                  <a:srgbClr val="D2F66C"/>
                </a:solidFill>
                <a:latin typeface="DejaVu Sans"/>
                <a:ea typeface="DejaVu Sans"/>
                <a:cs typeface="DejaVu Sans"/>
              </a:rPr>
              <a:t>Error and menu handling</a:t>
            </a:r>
          </a:p>
        </p:txBody>
      </p:sp>
      <p:sp>
        <p:nvSpPr>
          <p:cNvPr id="13" name="Rectangle 12">
            <a:extLst>
              <a:ext uri="{FF2B5EF4-FFF2-40B4-BE49-F238E27FC236}">
                <a16:creationId xmlns:a16="http://schemas.microsoft.com/office/drawing/2014/main" id="{DE4BBEC7-A7E2-4A08-957A-6B49BE2C36B9}"/>
              </a:ext>
            </a:extLst>
          </p:cNvPr>
          <p:cNvSpPr>
            <a:spLocks noGrp="1"/>
          </p:cNvSpPr>
          <p:nvPr/>
        </p:nvSpPr>
        <p:spPr>
          <a:xfrm>
            <a:off x="609600" y="5238750"/>
            <a:ext cx="7191375" cy="762000"/>
          </a:xfrm>
          <a:prstGeom prst="rect">
            <a:avLst/>
          </a:prstGeom>
          <a:noFill/>
          <a:ln w="0">
            <a:noFill/>
          </a:ln>
        </p:spPr>
        <p:txBody>
          <a:bodyPr>
            <a:noAutofit/>
          </a:bodyPr>
          <a:lstStyle/>
          <a:p>
            <a:pPr>
              <a:defRPr sz="1725" b="0">
                <a:solidFill>
                  <a:srgbClr val="C8C3D8"/>
                </a:solidFill>
                <a:latin typeface="DejaVu Sans"/>
                <a:ea typeface="DejaVu Sans"/>
                <a:cs typeface="DejaVu Sans"/>
              </a:defRPr>
            </a:pPr>
            <a:r>
              <a:rPr sz="1725" b="0">
                <a:solidFill>
                  <a:srgbClr val="C8C3D8"/>
                </a:solidFill>
                <a:latin typeface="DejaVu Sans"/>
                <a:ea typeface="DejaVu Sans"/>
                <a:cs typeface="DejaVu Sans"/>
              </a:rPr>
              <a:t>Statements after throw are unreachable. Some catches continue after failure, and Add Book uses recursion.</a:t>
            </a:r>
          </a:p>
        </p:txBody>
      </p:sp>
    </p:spTree>
    <p:extLst>
      <p:ext uri="{BB962C8B-B14F-4D97-AF65-F5344CB8AC3E}">
        <p14:creationId xmlns:p14="http://schemas.microsoft.com/office/powerpoint/2010/main" val="17917413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D9CDF9"/>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ABA805D-9C19-456C-A1F8-52D04B2D6C95}"/>
              </a:ext>
            </a:extLst>
          </p:cNvPr>
          <p:cNvSpPr>
            <a:spLocks noGrp="1"/>
          </p:cNvSpPr>
          <p:nvPr/>
        </p:nvSpPr>
        <p:spPr>
          <a:xfrm>
            <a:off x="571500" y="400050"/>
            <a:ext cx="10953750" cy="762000"/>
          </a:xfrm>
          <a:prstGeom prst="rect">
            <a:avLst/>
          </a:prstGeom>
          <a:noFill/>
          <a:ln w="0">
            <a:noFill/>
          </a:ln>
        </p:spPr>
        <p:txBody>
          <a:bodyPr>
            <a:noAutofit/>
          </a:bodyPr>
          <a:lstStyle/>
          <a:p>
            <a:pPr>
              <a:defRPr sz="3150" b="1">
                <a:solidFill>
                  <a:srgbClr val="181427"/>
                </a:solidFill>
                <a:latin typeface="DejaVu Sans"/>
                <a:ea typeface="DejaVu Sans"/>
                <a:cs typeface="DejaVu Sans"/>
              </a:defRPr>
            </a:pPr>
            <a:r>
              <a:rPr sz="3150" b="1">
                <a:solidFill>
                  <a:srgbClr val="181427"/>
                </a:solidFill>
                <a:latin typeface="DejaVu Sans"/>
                <a:ea typeface="DejaVu Sans"/>
                <a:cs typeface="DejaVu Sans"/>
              </a:rPr>
              <a:t>Future improvements</a:t>
            </a:r>
          </a:p>
        </p:txBody>
      </p:sp>
      <p:pic>
        <p:nvPicPr>
          <p:cNvPr id="13" name="Picture 12"/>
          <p:cNvPicPr>
            <a:picLocks noChangeAspect="1"/>
          </p:cNvPicPr>
          <p:nvPr/>
        </p:nvPicPr>
        <p:blipFill>
          <a:blip r:embed="rId3"/>
          <a:stretch/>
        </p:blipFill>
        <p:spPr>
          <a:xfrm>
            <a:off x="10477500" y="6153873"/>
            <a:ext cx="1143000" cy="570053"/>
          </a:xfrm>
          <a:prstGeom prst="rect">
            <a:avLst/>
          </a:prstGeom>
        </p:spPr>
      </p:pic>
      <p:sp>
        <p:nvSpPr>
          <p:cNvPr id="3" name="Rectangle 2">
            <a:extLst>
              <a:ext uri="{FF2B5EF4-FFF2-40B4-BE49-F238E27FC236}">
                <a16:creationId xmlns:a16="http://schemas.microsoft.com/office/drawing/2014/main" id="{C45E12C7-9D10-4BB1-ABB0-4E8EAE467267}"/>
              </a:ext>
            </a:extLst>
          </p:cNvPr>
          <p:cNvSpPr>
            <a:spLocks noGrp="1"/>
          </p:cNvSpPr>
          <p:nvPr/>
        </p:nvSpPr>
        <p:spPr>
          <a:xfrm>
            <a:off x="571500" y="6162675"/>
            <a:ext cx="857250" cy="457200"/>
          </a:xfrm>
          <a:prstGeom prst="rect">
            <a:avLst/>
          </a:prstGeom>
          <a:noFill/>
          <a:ln w="0">
            <a:noFill/>
          </a:ln>
        </p:spPr>
        <p:txBody>
          <a:bodyPr>
            <a:noAutofit/>
          </a:bodyPr>
          <a:lstStyle/>
          <a:p>
            <a:pPr>
              <a:defRPr sz="2175" b="1">
                <a:solidFill>
                  <a:srgbClr val="181427"/>
                </a:solidFill>
                <a:latin typeface="DejaVu Sans"/>
                <a:ea typeface="DejaVu Sans"/>
                <a:cs typeface="DejaVu Sans"/>
              </a:defRPr>
            </a:pPr>
            <a:r>
              <a:rPr sz="2175" b="1">
                <a:solidFill>
                  <a:srgbClr val="181427"/>
                </a:solidFill>
                <a:latin typeface="DejaVu Sans"/>
                <a:ea typeface="DejaVu Sans"/>
                <a:cs typeface="DejaVu Sans"/>
              </a:rPr>
              <a:t>20</a:t>
            </a:r>
          </a:p>
        </p:txBody>
      </p:sp>
      <p:sp>
        <p:nvSpPr>
          <p:cNvPr id="4" name="Rectangle 3">
            <a:extLst>
              <a:ext uri="{FF2B5EF4-FFF2-40B4-BE49-F238E27FC236}">
                <a16:creationId xmlns:a16="http://schemas.microsoft.com/office/drawing/2014/main" id="{425794C1-BAB7-4BD4-9957-0CA84804E0B5}"/>
              </a:ext>
            </a:extLst>
          </p:cNvPr>
          <p:cNvSpPr>
            <a:spLocks noGrp="1"/>
          </p:cNvSpPr>
          <p:nvPr/>
        </p:nvSpPr>
        <p:spPr>
          <a:xfrm>
            <a:off x="590550" y="1590675"/>
            <a:ext cx="5191125" cy="590550"/>
          </a:xfrm>
          <a:prstGeom prst="rect">
            <a:avLst/>
          </a:prstGeom>
          <a:noFill/>
          <a:ln w="0">
            <a:noFill/>
          </a:ln>
        </p:spPr>
        <p:txBody>
          <a:bodyPr>
            <a:noAutofit/>
          </a:bodyPr>
          <a:lstStyle/>
          <a:p>
            <a:pPr>
              <a:defRPr sz="2175" b="1">
                <a:solidFill>
                  <a:srgbClr val="181427"/>
                </a:solidFill>
                <a:latin typeface="DejaVu Sans"/>
                <a:ea typeface="DejaVu Sans"/>
                <a:cs typeface="DejaVu Sans"/>
              </a:defRPr>
            </a:pPr>
            <a:r>
              <a:rPr sz="2175" b="1">
                <a:solidFill>
                  <a:srgbClr val="181427"/>
                </a:solidFill>
                <a:latin typeface="DejaVu Sans"/>
                <a:ea typeface="DejaVu Sans"/>
                <a:cs typeface="DejaVu Sans"/>
              </a:rPr>
              <a:t>Reliable borrowing</a:t>
            </a:r>
          </a:p>
        </p:txBody>
      </p:sp>
      <p:sp>
        <p:nvSpPr>
          <p:cNvPr id="5" name="Rectangle 4">
            <a:extLst>
              <a:ext uri="{FF2B5EF4-FFF2-40B4-BE49-F238E27FC236}">
                <a16:creationId xmlns:a16="http://schemas.microsoft.com/office/drawing/2014/main" id="{903A6AD1-EC57-48EE-B6BA-15310B86350F}"/>
              </a:ext>
            </a:extLst>
          </p:cNvPr>
          <p:cNvSpPr>
            <a:spLocks noGrp="1"/>
          </p:cNvSpPr>
          <p:nvPr/>
        </p:nvSpPr>
        <p:spPr>
          <a:xfrm>
            <a:off x="590550" y="2276475"/>
            <a:ext cx="5095875" cy="1304925"/>
          </a:xfrm>
          <a:prstGeom prst="rect">
            <a:avLst/>
          </a:prstGeom>
          <a:noFill/>
          <a:ln w="0">
            <a:noFill/>
          </a:ln>
        </p:spPr>
        <p:txBody>
          <a:bodyPr>
            <a:noAutofit/>
          </a:bodyPr>
          <a:lstStyle/>
          <a:p>
            <a:pPr>
              <a:defRPr sz="1875" b="0">
                <a:solidFill>
                  <a:srgbClr val="47405E"/>
                </a:solidFill>
                <a:latin typeface="DejaVu Sans"/>
                <a:ea typeface="DejaVu Sans"/>
                <a:cs typeface="DejaVu Sans"/>
              </a:defRPr>
            </a:pPr>
            <a:r>
              <a:rPr sz="1875" b="0">
                <a:solidFill>
                  <a:srgbClr val="47405E"/>
                </a:solidFill>
                <a:latin typeface="DejaVu Sans"/>
                <a:ea typeface="DejaVu Sans"/>
                <a:cs typeface="DejaVu Sans"/>
              </a:rPr>
              <a:t>Validate user and book IDs, update availability and add a genuine book-return operation.</a:t>
            </a:r>
          </a:p>
        </p:txBody>
      </p:sp>
      <p:sp>
        <p:nvSpPr>
          <p:cNvPr id="6" name="Rectangle 5">
            <a:extLst>
              <a:ext uri="{FF2B5EF4-FFF2-40B4-BE49-F238E27FC236}">
                <a16:creationId xmlns:a16="http://schemas.microsoft.com/office/drawing/2014/main" id="{D874C2E2-11A8-437E-B755-7D1D92EE91DE}"/>
              </a:ext>
            </a:extLst>
          </p:cNvPr>
          <p:cNvSpPr>
            <a:spLocks noGrp="1"/>
          </p:cNvSpPr>
          <p:nvPr/>
        </p:nvSpPr>
        <p:spPr>
          <a:xfrm>
            <a:off x="6353175" y="1590675"/>
            <a:ext cx="5191125" cy="590550"/>
          </a:xfrm>
          <a:prstGeom prst="rect">
            <a:avLst/>
          </a:prstGeom>
          <a:noFill/>
          <a:ln w="0">
            <a:noFill/>
          </a:ln>
        </p:spPr>
        <p:txBody>
          <a:bodyPr>
            <a:noAutofit/>
          </a:bodyPr>
          <a:lstStyle/>
          <a:p>
            <a:pPr>
              <a:defRPr sz="2175" b="1">
                <a:solidFill>
                  <a:srgbClr val="181427"/>
                </a:solidFill>
                <a:latin typeface="DejaVu Sans"/>
                <a:ea typeface="DejaVu Sans"/>
                <a:cs typeface="DejaVu Sans"/>
              </a:defRPr>
            </a:pPr>
            <a:r>
              <a:rPr sz="2175" b="1">
                <a:solidFill>
                  <a:srgbClr val="181427"/>
                </a:solidFill>
                <a:latin typeface="DejaVu Sans"/>
                <a:ea typeface="DejaVu Sans"/>
                <a:cs typeface="DejaVu Sans"/>
              </a:rPr>
              <a:t>Connected records</a:t>
            </a:r>
          </a:p>
        </p:txBody>
      </p:sp>
      <p:sp>
        <p:nvSpPr>
          <p:cNvPr id="7" name="Rectangle 6">
            <a:extLst>
              <a:ext uri="{FF2B5EF4-FFF2-40B4-BE49-F238E27FC236}">
                <a16:creationId xmlns:a16="http://schemas.microsoft.com/office/drawing/2014/main" id="{52F6DB30-47A6-4A38-AFD8-08670EED16D3}"/>
              </a:ext>
            </a:extLst>
          </p:cNvPr>
          <p:cNvSpPr>
            <a:spLocks noGrp="1"/>
          </p:cNvSpPr>
          <p:nvPr/>
        </p:nvSpPr>
        <p:spPr>
          <a:xfrm>
            <a:off x="6353175" y="2276475"/>
            <a:ext cx="5095875" cy="1304925"/>
          </a:xfrm>
          <a:prstGeom prst="rect">
            <a:avLst/>
          </a:prstGeom>
          <a:noFill/>
          <a:ln w="0">
            <a:noFill/>
          </a:ln>
        </p:spPr>
        <p:txBody>
          <a:bodyPr>
            <a:noAutofit/>
          </a:bodyPr>
          <a:lstStyle/>
          <a:p>
            <a:pPr>
              <a:defRPr sz="1875" b="0">
                <a:solidFill>
                  <a:srgbClr val="47405E"/>
                </a:solidFill>
                <a:latin typeface="DejaVu Sans"/>
                <a:ea typeface="DejaVu Sans"/>
                <a:cs typeface="DejaVu Sans"/>
              </a:defRPr>
            </a:pPr>
            <a:r>
              <a:rPr sz="1875" b="0">
                <a:solidFill>
                  <a:srgbClr val="47405E"/>
                </a:solidFill>
                <a:latin typeface="DejaVu Sans"/>
                <a:ea typeface="DejaVu Sans"/>
                <a:cs typeface="DejaVu Sans"/>
              </a:rPr>
              <a:t>Link each account to a member ID and give each issue a unique identifier.</a:t>
            </a:r>
          </a:p>
        </p:txBody>
      </p:sp>
      <p:sp>
        <p:nvSpPr>
          <p:cNvPr id="8" name="Rectangle 7">
            <a:extLst>
              <a:ext uri="{FF2B5EF4-FFF2-40B4-BE49-F238E27FC236}">
                <a16:creationId xmlns:a16="http://schemas.microsoft.com/office/drawing/2014/main" id="{88D73981-CB87-434C-B9F0-5A9C59C97422}"/>
              </a:ext>
            </a:extLst>
          </p:cNvPr>
          <p:cNvSpPr>
            <a:spLocks noGrp="1"/>
          </p:cNvSpPr>
          <p:nvPr/>
        </p:nvSpPr>
        <p:spPr>
          <a:xfrm>
            <a:off x="590550" y="3743325"/>
            <a:ext cx="5191125" cy="590550"/>
          </a:xfrm>
          <a:prstGeom prst="rect">
            <a:avLst/>
          </a:prstGeom>
          <a:noFill/>
          <a:ln w="0">
            <a:noFill/>
          </a:ln>
        </p:spPr>
        <p:txBody>
          <a:bodyPr>
            <a:noAutofit/>
          </a:bodyPr>
          <a:lstStyle/>
          <a:p>
            <a:pPr>
              <a:defRPr sz="2175" b="1">
                <a:solidFill>
                  <a:srgbClr val="181427"/>
                </a:solidFill>
                <a:latin typeface="DejaVu Sans"/>
                <a:ea typeface="DejaVu Sans"/>
                <a:cs typeface="DejaVu Sans"/>
              </a:defRPr>
            </a:pPr>
            <a:r>
              <a:rPr sz="2175" b="1">
                <a:solidFill>
                  <a:srgbClr val="181427"/>
                </a:solidFill>
                <a:latin typeface="DejaVu Sans"/>
                <a:ea typeface="DejaVu Sans"/>
                <a:cs typeface="DejaVu Sans"/>
              </a:rPr>
              <a:t>Safer persistence</a:t>
            </a:r>
          </a:p>
        </p:txBody>
      </p:sp>
      <p:sp>
        <p:nvSpPr>
          <p:cNvPr id="9" name="Rectangle 8">
            <a:extLst>
              <a:ext uri="{FF2B5EF4-FFF2-40B4-BE49-F238E27FC236}">
                <a16:creationId xmlns:a16="http://schemas.microsoft.com/office/drawing/2014/main" id="{C4B52FA2-BBC8-4239-B6F2-A79EA3CF3654}"/>
              </a:ext>
            </a:extLst>
          </p:cNvPr>
          <p:cNvSpPr>
            <a:spLocks noGrp="1"/>
          </p:cNvSpPr>
          <p:nvPr/>
        </p:nvSpPr>
        <p:spPr>
          <a:xfrm>
            <a:off x="590550" y="4429125"/>
            <a:ext cx="5095875" cy="1304925"/>
          </a:xfrm>
          <a:prstGeom prst="rect">
            <a:avLst/>
          </a:prstGeom>
          <a:noFill/>
          <a:ln w="0">
            <a:noFill/>
          </a:ln>
        </p:spPr>
        <p:txBody>
          <a:bodyPr>
            <a:noAutofit/>
          </a:bodyPr>
          <a:lstStyle/>
          <a:p>
            <a:pPr>
              <a:defRPr sz="1875" b="0">
                <a:solidFill>
                  <a:srgbClr val="47405E"/>
                </a:solidFill>
                <a:latin typeface="DejaVu Sans"/>
                <a:ea typeface="DejaVu Sans"/>
                <a:cs typeface="DejaVu Sans"/>
              </a:defRPr>
            </a:pPr>
            <a:r>
              <a:rPr sz="1875" b="0">
                <a:solidFill>
                  <a:srgbClr val="47405E"/>
                </a:solidFill>
                <a:latin typeface="DejaVu Sans"/>
                <a:ea typeface="DejaVu Sans"/>
                <a:cs typeface="DejaVu Sans"/>
              </a:rPr>
              <a:t>Hash passwords, validate input lengths and check every file write or replacement.</a:t>
            </a:r>
          </a:p>
        </p:txBody>
      </p:sp>
      <p:sp>
        <p:nvSpPr>
          <p:cNvPr id="10" name="Rectangle 9">
            <a:extLst>
              <a:ext uri="{FF2B5EF4-FFF2-40B4-BE49-F238E27FC236}">
                <a16:creationId xmlns:a16="http://schemas.microsoft.com/office/drawing/2014/main" id="{B5459B4D-458F-413D-AE29-F3E752815630}"/>
              </a:ext>
            </a:extLst>
          </p:cNvPr>
          <p:cNvSpPr>
            <a:spLocks noGrp="1"/>
          </p:cNvSpPr>
          <p:nvPr/>
        </p:nvSpPr>
        <p:spPr>
          <a:xfrm>
            <a:off x="6353175" y="3743325"/>
            <a:ext cx="5191125" cy="590550"/>
          </a:xfrm>
          <a:prstGeom prst="rect">
            <a:avLst/>
          </a:prstGeom>
          <a:noFill/>
          <a:ln w="0">
            <a:noFill/>
          </a:ln>
        </p:spPr>
        <p:txBody>
          <a:bodyPr>
            <a:noAutofit/>
          </a:bodyPr>
          <a:lstStyle/>
          <a:p>
            <a:pPr>
              <a:defRPr sz="2175" b="1">
                <a:solidFill>
                  <a:srgbClr val="181427"/>
                </a:solidFill>
                <a:latin typeface="DejaVu Sans"/>
                <a:ea typeface="DejaVu Sans"/>
                <a:cs typeface="DejaVu Sans"/>
              </a:defRPr>
            </a:pPr>
            <a:r>
              <a:rPr sz="2175" b="1">
                <a:solidFill>
                  <a:srgbClr val="181427"/>
                </a:solidFill>
                <a:latin typeface="DejaVu Sans"/>
                <a:ea typeface="DejaVu Sans"/>
                <a:cs typeface="DejaVu Sans"/>
              </a:rPr>
              <a:t>Simpler navigation</a:t>
            </a:r>
          </a:p>
        </p:txBody>
      </p:sp>
      <p:sp>
        <p:nvSpPr>
          <p:cNvPr id="11" name="Rectangle 10">
            <a:extLst>
              <a:ext uri="{FF2B5EF4-FFF2-40B4-BE49-F238E27FC236}">
                <a16:creationId xmlns:a16="http://schemas.microsoft.com/office/drawing/2014/main" id="{7B4409CC-A517-4181-9CAE-6D6DDF1E3B08}"/>
              </a:ext>
            </a:extLst>
          </p:cNvPr>
          <p:cNvSpPr>
            <a:spLocks noGrp="1"/>
          </p:cNvSpPr>
          <p:nvPr/>
        </p:nvSpPr>
        <p:spPr>
          <a:xfrm>
            <a:off x="6353175" y="4429125"/>
            <a:ext cx="5095875" cy="1304925"/>
          </a:xfrm>
          <a:prstGeom prst="rect">
            <a:avLst/>
          </a:prstGeom>
          <a:noFill/>
          <a:ln w="0">
            <a:noFill/>
          </a:ln>
        </p:spPr>
        <p:txBody>
          <a:bodyPr>
            <a:noAutofit/>
          </a:bodyPr>
          <a:lstStyle/>
          <a:p>
            <a:pPr>
              <a:defRPr sz="1875" b="0">
                <a:solidFill>
                  <a:srgbClr val="47405E"/>
                </a:solidFill>
                <a:latin typeface="DejaVu Sans"/>
                <a:ea typeface="DejaVu Sans"/>
                <a:cs typeface="DejaVu Sans"/>
              </a:defRPr>
            </a:pPr>
            <a:r>
              <a:rPr sz="1875" b="0">
                <a:solidFill>
                  <a:srgbClr val="47405E"/>
                </a:solidFill>
                <a:latin typeface="DejaVu Sans"/>
                <a:ea typeface="DejaVu Sans"/>
                <a:cs typeface="DejaVu Sans"/>
              </a:rPr>
              <a:t>Use menu loops, handle invalid options and stop the operation after a file error.</a:t>
            </a:r>
          </a:p>
        </p:txBody>
      </p:sp>
    </p:spTree>
    <p:extLst>
      <p:ext uri="{BB962C8B-B14F-4D97-AF65-F5344CB8AC3E}">
        <p14:creationId xmlns:p14="http://schemas.microsoft.com/office/powerpoint/2010/main" val="19769865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00F22"/>
        </a:solidFill>
        <a:effectLst/>
      </p:bgPr>
    </p:bg>
    <p:spTree>
      <p:nvGrpSpPr>
        <p:cNvPr id="1" name=""/>
        <p:cNvGrpSpPr/>
        <p:nvPr/>
      </p:nvGrpSpPr>
      <p:grpSpPr>
        <a:xfrm>
          <a:off x="0" y="0"/>
          <a:ext cx="0" cy="0"/>
          <a:chOff x="0" y="0"/>
          <a:chExt cx="0" cy="0"/>
        </a:xfrm>
      </p:grpSpPr>
      <p:pic>
        <p:nvPicPr>
          <p:cNvPr id="11" name="Picture 10"/>
          <p:cNvPicPr>
            <a:picLocks noChangeAspect="1"/>
          </p:cNvPicPr>
          <p:nvPr/>
        </p:nvPicPr>
        <p:blipFill>
          <a:blip r:embed="rId3"/>
          <a:stretch/>
        </p:blipFill>
        <p:spPr>
          <a:xfrm>
            <a:off x="3239" y="0"/>
            <a:ext cx="12185522" cy="6858000"/>
          </a:xfrm>
          <a:prstGeom prst="rect">
            <a:avLst/>
          </a:prstGeom>
        </p:spPr>
      </p:pic>
      <p:pic>
        <p:nvPicPr>
          <p:cNvPr id="12" name="Picture 11"/>
          <p:cNvPicPr>
            <a:picLocks noChangeAspect="1"/>
          </p:cNvPicPr>
          <p:nvPr/>
        </p:nvPicPr>
        <p:blipFill>
          <a:blip r:embed="rId4"/>
          <a:stretch/>
        </p:blipFill>
        <p:spPr>
          <a:xfrm>
            <a:off x="4000561" y="1504950"/>
            <a:ext cx="8191379" cy="4610100"/>
          </a:xfrm>
          <a:prstGeom prst="rect">
            <a:avLst/>
          </a:prstGeom>
        </p:spPr>
      </p:pic>
      <p:sp>
        <p:nvSpPr>
          <p:cNvPr id="3" name="Rectangle 2">
            <a:extLst>
              <a:ext uri="{FF2B5EF4-FFF2-40B4-BE49-F238E27FC236}">
                <a16:creationId xmlns:a16="http://schemas.microsoft.com/office/drawing/2014/main" id="{A6AE6464-CD39-4CD5-B6D2-24D248F27EA6}"/>
              </a:ext>
            </a:extLst>
          </p:cNvPr>
          <p:cNvSpPr>
            <a:spLocks noGrp="1"/>
          </p:cNvSpPr>
          <p:nvPr/>
        </p:nvSpPr>
        <p:spPr>
          <a:xfrm>
            <a:off x="571500" y="400050"/>
            <a:ext cx="10953750" cy="762000"/>
          </a:xfrm>
          <a:prstGeom prst="rect">
            <a:avLst/>
          </a:prstGeom>
          <a:noFill/>
          <a:ln w="0">
            <a:noFill/>
          </a:ln>
        </p:spPr>
        <p:txBody>
          <a:bodyPr>
            <a:noAutofit/>
          </a:bodyPr>
          <a:lstStyle/>
          <a:p>
            <a:pPr>
              <a:defRPr sz="3150" b="1">
                <a:solidFill>
                  <a:srgbClr val="D5C2FF"/>
                </a:solidFill>
                <a:latin typeface="DejaVu Sans"/>
                <a:ea typeface="DejaVu Sans"/>
                <a:cs typeface="DejaVu Sans"/>
              </a:defRPr>
            </a:pPr>
            <a:r>
              <a:rPr sz="3150" b="1">
                <a:solidFill>
                  <a:srgbClr val="D5C2FF"/>
                </a:solidFill>
                <a:latin typeface="DejaVu Sans"/>
                <a:ea typeface="DejaVu Sans"/>
                <a:cs typeface="DejaVu Sans"/>
              </a:rPr>
              <a:t>Conclusion</a:t>
            </a:r>
          </a:p>
        </p:txBody>
      </p:sp>
      <p:pic>
        <p:nvPicPr>
          <p:cNvPr id="14" name="Picture 13"/>
          <p:cNvPicPr>
            <a:picLocks noChangeAspect="1"/>
          </p:cNvPicPr>
          <p:nvPr/>
        </p:nvPicPr>
        <p:blipFill>
          <a:blip r:embed="rId5"/>
          <a:stretch/>
        </p:blipFill>
        <p:spPr>
          <a:xfrm>
            <a:off x="10477500" y="6153873"/>
            <a:ext cx="1143000" cy="570053"/>
          </a:xfrm>
          <a:prstGeom prst="rect">
            <a:avLst/>
          </a:prstGeom>
        </p:spPr>
      </p:pic>
      <p:sp>
        <p:nvSpPr>
          <p:cNvPr id="5" name="Rectangle 4">
            <a:extLst>
              <a:ext uri="{FF2B5EF4-FFF2-40B4-BE49-F238E27FC236}">
                <a16:creationId xmlns:a16="http://schemas.microsoft.com/office/drawing/2014/main" id="{7304627F-FAE5-428A-9125-7EF7D1E6B8D0}"/>
              </a:ext>
            </a:extLst>
          </p:cNvPr>
          <p:cNvSpPr>
            <a:spLocks noGrp="1"/>
          </p:cNvSpPr>
          <p:nvPr/>
        </p:nvSpPr>
        <p:spPr>
          <a:xfrm>
            <a:off x="571500" y="6162675"/>
            <a:ext cx="857250" cy="457200"/>
          </a:xfrm>
          <a:prstGeom prst="rect">
            <a:avLst/>
          </a:prstGeom>
          <a:noFill/>
          <a:ln w="0">
            <a:noFill/>
          </a:ln>
        </p:spPr>
        <p:txBody>
          <a:bodyPr>
            <a:noAutofit/>
          </a:bodyPr>
          <a:lstStyle/>
          <a:p>
            <a:pPr>
              <a:defRPr sz="2175" b="1">
                <a:solidFill>
                  <a:srgbClr val="D2F66C"/>
                </a:solidFill>
                <a:latin typeface="DejaVu Sans"/>
                <a:ea typeface="DejaVu Sans"/>
                <a:cs typeface="DejaVu Sans"/>
              </a:defRPr>
            </a:pPr>
            <a:r>
              <a:rPr sz="2175" b="1">
                <a:solidFill>
                  <a:srgbClr val="D2F66C"/>
                </a:solidFill>
                <a:latin typeface="DejaVu Sans"/>
                <a:ea typeface="DejaVu Sans"/>
                <a:cs typeface="DejaVu Sans"/>
              </a:rPr>
              <a:t>21</a:t>
            </a:r>
          </a:p>
        </p:txBody>
      </p:sp>
      <p:sp>
        <p:nvSpPr>
          <p:cNvPr id="6" name="Rectangle 5">
            <a:extLst>
              <a:ext uri="{FF2B5EF4-FFF2-40B4-BE49-F238E27FC236}">
                <a16:creationId xmlns:a16="http://schemas.microsoft.com/office/drawing/2014/main" id="{A5E8E1CE-BDC5-472E-B109-3B0F7EFA12B2}"/>
              </a:ext>
            </a:extLst>
          </p:cNvPr>
          <p:cNvSpPr>
            <a:spLocks noGrp="1"/>
          </p:cNvSpPr>
          <p:nvPr/>
        </p:nvSpPr>
        <p:spPr>
          <a:xfrm>
            <a:off x="571500" y="1543050"/>
            <a:ext cx="7334250" cy="1552575"/>
          </a:xfrm>
          <a:prstGeom prst="rect">
            <a:avLst/>
          </a:prstGeom>
          <a:noFill/>
          <a:ln w="0">
            <a:noFill/>
          </a:ln>
        </p:spPr>
        <p:txBody>
          <a:bodyPr>
            <a:noAutofit/>
          </a:bodyPr>
          <a:lstStyle/>
          <a:p>
            <a:pPr>
              <a:defRPr sz="2925" b="1">
                <a:solidFill>
                  <a:srgbClr val="FFFFFF"/>
                </a:solidFill>
                <a:latin typeface="DejaVu Sans"/>
                <a:ea typeface="DejaVu Sans"/>
                <a:cs typeface="DejaVu Sans"/>
              </a:defRPr>
            </a:pPr>
            <a:r>
              <a:rPr sz="2925" b="1">
                <a:solidFill>
                  <a:srgbClr val="FFFFFF"/>
                </a:solidFill>
                <a:latin typeface="DejaVu Sans"/>
                <a:ea typeface="DejaVu Sans"/>
                <a:cs typeface="DejaVu Sans"/>
              </a:rPr>
              <a:t>The project applies C++ file handling to a working library record workflow.</a:t>
            </a:r>
          </a:p>
        </p:txBody>
      </p:sp>
      <p:sp>
        <p:nvSpPr>
          <p:cNvPr id="7" name="Rectangle 6">
            <a:extLst>
              <a:ext uri="{FF2B5EF4-FFF2-40B4-BE49-F238E27FC236}">
                <a16:creationId xmlns:a16="http://schemas.microsoft.com/office/drawing/2014/main" id="{86A55509-9B7F-4921-8E81-CCFDE227CCB5}"/>
              </a:ext>
            </a:extLst>
          </p:cNvPr>
          <p:cNvSpPr>
            <a:spLocks noGrp="1"/>
          </p:cNvSpPr>
          <p:nvPr/>
        </p:nvSpPr>
        <p:spPr>
          <a:xfrm>
            <a:off x="609600" y="3419475"/>
            <a:ext cx="7191375" cy="342900"/>
          </a:xfrm>
          <a:prstGeom prst="rect">
            <a:avLst/>
          </a:prstGeom>
          <a:noFill/>
          <a:ln w="0">
            <a:noFill/>
          </a:ln>
        </p:spPr>
        <p:txBody>
          <a:bodyPr>
            <a:noAutofit/>
          </a:bodyPr>
          <a:lstStyle/>
          <a:p>
            <a:pPr>
              <a:defRPr sz="1950" b="1">
                <a:solidFill>
                  <a:srgbClr val="D2F66C"/>
                </a:solidFill>
                <a:latin typeface="DejaVu Sans"/>
                <a:ea typeface="DejaVu Sans"/>
                <a:cs typeface="DejaVu Sans"/>
              </a:defRPr>
            </a:pPr>
            <a:r>
              <a:rPr sz="1950" b="1">
                <a:solidFill>
                  <a:srgbClr val="D2F66C"/>
                </a:solidFill>
                <a:latin typeface="DejaVu Sans"/>
                <a:ea typeface="DejaVu Sans"/>
                <a:cs typeface="DejaVu Sans"/>
              </a:rPr>
              <a:t>What the implementation demonstrates</a:t>
            </a:r>
          </a:p>
        </p:txBody>
      </p:sp>
      <p:sp>
        <p:nvSpPr>
          <p:cNvPr id="8" name="Rectangle 7">
            <a:extLst>
              <a:ext uri="{FF2B5EF4-FFF2-40B4-BE49-F238E27FC236}">
                <a16:creationId xmlns:a16="http://schemas.microsoft.com/office/drawing/2014/main" id="{40F00C76-9296-458D-8937-2E30260E68B7}"/>
              </a:ext>
            </a:extLst>
          </p:cNvPr>
          <p:cNvSpPr>
            <a:spLocks noGrp="1"/>
          </p:cNvSpPr>
          <p:nvPr/>
        </p:nvSpPr>
        <p:spPr>
          <a:xfrm>
            <a:off x="609600" y="3800475"/>
            <a:ext cx="7191375" cy="762000"/>
          </a:xfrm>
          <a:prstGeom prst="rect">
            <a:avLst/>
          </a:prstGeom>
          <a:noFill/>
          <a:ln w="0">
            <a:noFill/>
          </a:ln>
        </p:spPr>
        <p:txBody>
          <a:bodyPr>
            <a:noAutofit/>
          </a:bodyPr>
          <a:lstStyle/>
          <a:p>
            <a:pPr>
              <a:defRPr sz="1725" b="0">
                <a:solidFill>
                  <a:srgbClr val="C8C3D8"/>
                </a:solidFill>
                <a:latin typeface="DejaVu Sans"/>
                <a:ea typeface="DejaVu Sans"/>
                <a:cs typeface="DejaVu Sans"/>
              </a:defRPr>
            </a:pPr>
            <a:r>
              <a:rPr sz="1725" b="0">
                <a:solidFill>
                  <a:srgbClr val="C8C3D8"/>
                </a:solidFill>
                <a:latin typeface="DejaVu Sans"/>
                <a:ea typeface="DejaVu Sans"/>
                <a:cs typeface="DejaVu Sans"/>
              </a:rPr>
              <a:t>Separate role menus, credential checks and persistent local records.</a:t>
            </a:r>
          </a:p>
        </p:txBody>
      </p:sp>
      <p:sp>
        <p:nvSpPr>
          <p:cNvPr id="9" name="Rectangle 8">
            <a:extLst>
              <a:ext uri="{FF2B5EF4-FFF2-40B4-BE49-F238E27FC236}">
                <a16:creationId xmlns:a16="http://schemas.microsoft.com/office/drawing/2014/main" id="{C9ED26AB-06A3-4078-94C5-E7D39EA1E877}"/>
              </a:ext>
            </a:extLst>
          </p:cNvPr>
          <p:cNvSpPr>
            <a:spLocks noGrp="1"/>
          </p:cNvSpPr>
          <p:nvPr/>
        </p:nvSpPr>
        <p:spPr>
          <a:xfrm>
            <a:off x="609600" y="4562475"/>
            <a:ext cx="7191375" cy="342900"/>
          </a:xfrm>
          <a:prstGeom prst="rect">
            <a:avLst/>
          </a:prstGeom>
          <a:noFill/>
          <a:ln w="0">
            <a:noFill/>
          </a:ln>
        </p:spPr>
        <p:txBody>
          <a:bodyPr>
            <a:noAutofit/>
          </a:bodyPr>
          <a:lstStyle/>
          <a:p>
            <a:pPr>
              <a:defRPr sz="1950" b="1">
                <a:solidFill>
                  <a:srgbClr val="D2F66C"/>
                </a:solidFill>
                <a:latin typeface="DejaVu Sans"/>
                <a:ea typeface="DejaVu Sans"/>
                <a:cs typeface="DejaVu Sans"/>
              </a:defRPr>
            </a:pPr>
            <a:r>
              <a:rPr sz="1950" b="1">
                <a:solidFill>
                  <a:srgbClr val="D2F66C"/>
                </a:solidFill>
                <a:latin typeface="DejaVu Sans"/>
                <a:ea typeface="DejaVu Sans"/>
                <a:cs typeface="DejaVu Sans"/>
              </a:rPr>
              <a:t>What comes next</a:t>
            </a:r>
          </a:p>
        </p:txBody>
      </p:sp>
      <p:sp>
        <p:nvSpPr>
          <p:cNvPr id="10" name="Rectangle 9">
            <a:extLst>
              <a:ext uri="{FF2B5EF4-FFF2-40B4-BE49-F238E27FC236}">
                <a16:creationId xmlns:a16="http://schemas.microsoft.com/office/drawing/2014/main" id="{2F96B41C-859B-4E2F-8E50-56F9D880B2D4}"/>
              </a:ext>
            </a:extLst>
          </p:cNvPr>
          <p:cNvSpPr>
            <a:spLocks noGrp="1"/>
          </p:cNvSpPr>
          <p:nvPr/>
        </p:nvSpPr>
        <p:spPr>
          <a:xfrm>
            <a:off x="609600" y="4943475"/>
            <a:ext cx="7191375" cy="762000"/>
          </a:xfrm>
          <a:prstGeom prst="rect">
            <a:avLst/>
          </a:prstGeom>
          <a:noFill/>
          <a:ln w="0">
            <a:noFill/>
          </a:ln>
        </p:spPr>
        <p:txBody>
          <a:bodyPr>
            <a:noAutofit/>
          </a:bodyPr>
          <a:lstStyle/>
          <a:p>
            <a:pPr>
              <a:defRPr sz="1725" b="0">
                <a:solidFill>
                  <a:srgbClr val="C8C3D8"/>
                </a:solidFill>
                <a:latin typeface="DejaVu Sans"/>
                <a:ea typeface="DejaVu Sans"/>
                <a:cs typeface="DejaVu Sans"/>
              </a:defRPr>
            </a:pPr>
            <a:r>
              <a:rPr sz="1725" b="0">
                <a:solidFill>
                  <a:srgbClr val="C8C3D8"/>
                </a:solidFill>
                <a:latin typeface="DejaVu Sans"/>
                <a:ea typeface="DejaVu Sans"/>
                <a:cs typeface="DejaVu Sans"/>
              </a:rPr>
              <a:t>Improve validation and record consistency, then complete the borrowing lifecycle.</a:t>
            </a:r>
          </a:p>
        </p:txBody>
      </p:sp>
    </p:spTree>
    <p:extLst>
      <p:ext uri="{BB962C8B-B14F-4D97-AF65-F5344CB8AC3E}">
        <p14:creationId xmlns:p14="http://schemas.microsoft.com/office/powerpoint/2010/main" val="8213888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00F22"/>
        </a:solidFill>
        <a:effectLst/>
      </p:bgPr>
    </p:bg>
    <p:spTree>
      <p:nvGrpSpPr>
        <p:cNvPr id="1" name=""/>
        <p:cNvGrpSpPr/>
        <p:nvPr/>
      </p:nvGrpSpPr>
      <p:grpSpPr>
        <a:xfrm>
          <a:off x="0" y="0"/>
          <a:ext cx="0" cy="0"/>
          <a:chOff x="0" y="0"/>
          <a:chExt cx="0" cy="0"/>
        </a:xfrm>
      </p:grpSpPr>
      <p:pic>
        <p:nvPicPr>
          <p:cNvPr id="9" name="Picture 8"/>
          <p:cNvPicPr>
            <a:picLocks noChangeAspect="1"/>
          </p:cNvPicPr>
          <p:nvPr/>
        </p:nvPicPr>
        <p:blipFill>
          <a:blip r:embed="rId3"/>
          <a:stretch/>
        </p:blipFill>
        <p:spPr>
          <a:xfrm>
            <a:off x="3239" y="0"/>
            <a:ext cx="12185522" cy="6858000"/>
          </a:xfrm>
          <a:prstGeom prst="rect">
            <a:avLst/>
          </a:prstGeom>
        </p:spPr>
      </p:pic>
      <p:pic>
        <p:nvPicPr>
          <p:cNvPr id="10" name="Picture 9"/>
          <p:cNvPicPr>
            <a:picLocks noChangeAspect="1"/>
          </p:cNvPicPr>
          <p:nvPr/>
        </p:nvPicPr>
        <p:blipFill>
          <a:blip r:embed="rId4"/>
          <a:stretch/>
        </p:blipFill>
        <p:spPr>
          <a:xfrm>
            <a:off x="3239" y="0"/>
            <a:ext cx="12185522" cy="6858000"/>
          </a:xfrm>
          <a:prstGeom prst="rect">
            <a:avLst/>
          </a:prstGeom>
        </p:spPr>
      </p:pic>
      <p:sp>
        <p:nvSpPr>
          <p:cNvPr id="3" name="Rectangle 2">
            <a:extLst>
              <a:ext uri="{FF2B5EF4-FFF2-40B4-BE49-F238E27FC236}">
                <a16:creationId xmlns:a16="http://schemas.microsoft.com/office/drawing/2014/main" id="{5094EE67-4A55-4E67-BEB5-B77E62C288C8}"/>
              </a:ext>
            </a:extLst>
          </p:cNvPr>
          <p:cNvSpPr>
            <a:spLocks noGrp="1"/>
          </p:cNvSpPr>
          <p:nvPr/>
        </p:nvSpPr>
        <p:spPr>
          <a:xfrm>
            <a:off x="571500" y="400050"/>
            <a:ext cx="10953750" cy="762000"/>
          </a:xfrm>
          <a:prstGeom prst="rect">
            <a:avLst/>
          </a:prstGeom>
          <a:noFill/>
          <a:ln w="0">
            <a:noFill/>
          </a:ln>
        </p:spPr>
        <p:txBody>
          <a:bodyPr>
            <a:noAutofit/>
          </a:bodyPr>
          <a:lstStyle/>
          <a:p>
            <a:pPr>
              <a:defRPr sz="3150" b="1">
                <a:solidFill>
                  <a:srgbClr val="D5C2FF"/>
                </a:solidFill>
                <a:latin typeface="DejaVu Sans"/>
                <a:ea typeface="DejaVu Sans"/>
                <a:cs typeface="DejaVu Sans"/>
              </a:defRPr>
            </a:pPr>
            <a:r>
              <a:rPr sz="3150" b="1">
                <a:solidFill>
                  <a:srgbClr val="D5C2FF"/>
                </a:solidFill>
                <a:latin typeface="DejaVu Sans"/>
                <a:ea typeface="DejaVu Sans"/>
                <a:cs typeface="DejaVu Sans"/>
              </a:rPr>
              <a:t>Questions and discussion</a:t>
            </a:r>
          </a:p>
        </p:txBody>
      </p:sp>
      <p:pic>
        <p:nvPicPr>
          <p:cNvPr id="12" name="Picture 11"/>
          <p:cNvPicPr>
            <a:picLocks noChangeAspect="1"/>
          </p:cNvPicPr>
          <p:nvPr/>
        </p:nvPicPr>
        <p:blipFill>
          <a:blip r:embed="rId5"/>
          <a:stretch/>
        </p:blipFill>
        <p:spPr>
          <a:xfrm>
            <a:off x="10477500" y="6153873"/>
            <a:ext cx="1143000" cy="570053"/>
          </a:xfrm>
          <a:prstGeom prst="rect">
            <a:avLst/>
          </a:prstGeom>
        </p:spPr>
      </p:pic>
      <p:sp>
        <p:nvSpPr>
          <p:cNvPr id="5" name="Rectangle 4">
            <a:extLst>
              <a:ext uri="{FF2B5EF4-FFF2-40B4-BE49-F238E27FC236}">
                <a16:creationId xmlns:a16="http://schemas.microsoft.com/office/drawing/2014/main" id="{07CD5814-6DF3-466C-A3C7-A2C8B00DFC31}"/>
              </a:ext>
            </a:extLst>
          </p:cNvPr>
          <p:cNvSpPr>
            <a:spLocks noGrp="1"/>
          </p:cNvSpPr>
          <p:nvPr/>
        </p:nvSpPr>
        <p:spPr>
          <a:xfrm>
            <a:off x="571500" y="6162675"/>
            <a:ext cx="857250" cy="457200"/>
          </a:xfrm>
          <a:prstGeom prst="rect">
            <a:avLst/>
          </a:prstGeom>
          <a:noFill/>
          <a:ln w="0">
            <a:noFill/>
          </a:ln>
        </p:spPr>
        <p:txBody>
          <a:bodyPr>
            <a:noAutofit/>
          </a:bodyPr>
          <a:lstStyle/>
          <a:p>
            <a:pPr>
              <a:defRPr sz="2175" b="1">
                <a:solidFill>
                  <a:srgbClr val="D2F66C"/>
                </a:solidFill>
                <a:latin typeface="DejaVu Sans"/>
                <a:ea typeface="DejaVu Sans"/>
                <a:cs typeface="DejaVu Sans"/>
              </a:defRPr>
            </a:pPr>
            <a:r>
              <a:rPr sz="2175" b="1">
                <a:solidFill>
                  <a:srgbClr val="D2F66C"/>
                </a:solidFill>
                <a:latin typeface="DejaVu Sans"/>
                <a:ea typeface="DejaVu Sans"/>
                <a:cs typeface="DejaVu Sans"/>
              </a:rPr>
              <a:t>22</a:t>
            </a:r>
          </a:p>
        </p:txBody>
      </p:sp>
      <p:sp>
        <p:nvSpPr>
          <p:cNvPr id="6" name="Rectangle 5">
            <a:extLst>
              <a:ext uri="{FF2B5EF4-FFF2-40B4-BE49-F238E27FC236}">
                <a16:creationId xmlns:a16="http://schemas.microsoft.com/office/drawing/2014/main" id="{EF1CE55D-F0E5-431B-ADA7-5E51BAC5EAB6}"/>
              </a:ext>
            </a:extLst>
          </p:cNvPr>
          <p:cNvSpPr>
            <a:spLocks noGrp="1"/>
          </p:cNvSpPr>
          <p:nvPr/>
        </p:nvSpPr>
        <p:spPr>
          <a:xfrm>
            <a:off x="571500" y="2114550"/>
            <a:ext cx="10382250" cy="952500"/>
          </a:xfrm>
          <a:prstGeom prst="rect">
            <a:avLst/>
          </a:prstGeom>
          <a:noFill/>
          <a:ln w="0">
            <a:noFill/>
          </a:ln>
        </p:spPr>
        <p:txBody>
          <a:bodyPr>
            <a:noAutofit/>
          </a:bodyPr>
          <a:lstStyle/>
          <a:p>
            <a:pPr>
              <a:defRPr sz="5700" b="1">
                <a:solidFill>
                  <a:srgbClr val="FFFFFF"/>
                </a:solidFill>
                <a:latin typeface="DejaVu Sans"/>
                <a:ea typeface="DejaVu Sans"/>
                <a:cs typeface="DejaVu Sans"/>
              </a:defRPr>
            </a:pPr>
            <a:r>
              <a:rPr sz="5700" b="1">
                <a:solidFill>
                  <a:srgbClr val="FFFFFF"/>
                </a:solidFill>
                <a:latin typeface="DejaVu Sans"/>
                <a:ea typeface="DejaVu Sans"/>
                <a:cs typeface="DejaVu Sans"/>
              </a:rPr>
              <a:t>Thank you</a:t>
            </a:r>
          </a:p>
        </p:txBody>
      </p:sp>
      <p:sp>
        <p:nvSpPr>
          <p:cNvPr id="7" name="Rectangle 6">
            <a:extLst>
              <a:ext uri="{FF2B5EF4-FFF2-40B4-BE49-F238E27FC236}">
                <a16:creationId xmlns:a16="http://schemas.microsoft.com/office/drawing/2014/main" id="{D65EEDCE-DB70-42F9-872D-66CD0B053ACB}"/>
              </a:ext>
            </a:extLst>
          </p:cNvPr>
          <p:cNvSpPr>
            <a:spLocks noGrp="1"/>
          </p:cNvSpPr>
          <p:nvPr/>
        </p:nvSpPr>
        <p:spPr>
          <a:xfrm>
            <a:off x="619125" y="3381375"/>
            <a:ext cx="10096500" cy="609600"/>
          </a:xfrm>
          <a:prstGeom prst="rect">
            <a:avLst/>
          </a:prstGeom>
          <a:noFill/>
          <a:ln w="0">
            <a:noFill/>
          </a:ln>
        </p:spPr>
        <p:txBody>
          <a:bodyPr>
            <a:noAutofit/>
          </a:bodyPr>
          <a:lstStyle/>
          <a:p>
            <a:pPr>
              <a:defRPr sz="2700" b="0">
                <a:solidFill>
                  <a:srgbClr val="D2F66C"/>
                </a:solidFill>
                <a:latin typeface="DejaVu Sans"/>
                <a:ea typeface="DejaVu Sans"/>
                <a:cs typeface="DejaVu Sans"/>
              </a:defRPr>
            </a:pPr>
            <a:r>
              <a:rPr sz="2700" b="0">
                <a:solidFill>
                  <a:srgbClr val="D2F66C"/>
                </a:solidFill>
                <a:latin typeface="DejaVu Sans"/>
                <a:ea typeface="DejaVu Sans"/>
                <a:cs typeface="DejaVu Sans"/>
              </a:rPr>
              <a:t>Library Management System</a:t>
            </a:r>
          </a:p>
        </p:txBody>
      </p:sp>
      <p:sp>
        <p:nvSpPr>
          <p:cNvPr id="8" name="Rectangle 7">
            <a:extLst>
              <a:ext uri="{FF2B5EF4-FFF2-40B4-BE49-F238E27FC236}">
                <a16:creationId xmlns:a16="http://schemas.microsoft.com/office/drawing/2014/main" id="{971C0AFA-D99E-4053-9948-7D1CE6362678}"/>
              </a:ext>
            </a:extLst>
          </p:cNvPr>
          <p:cNvSpPr>
            <a:spLocks noGrp="1"/>
          </p:cNvSpPr>
          <p:nvPr/>
        </p:nvSpPr>
        <p:spPr>
          <a:xfrm>
            <a:off x="619125" y="4152900"/>
            <a:ext cx="10287000" cy="400050"/>
          </a:xfrm>
          <a:prstGeom prst="rect">
            <a:avLst/>
          </a:prstGeom>
          <a:noFill/>
          <a:ln w="0">
            <a:noFill/>
          </a:ln>
        </p:spPr>
        <p:txBody>
          <a:bodyPr>
            <a:noAutofit/>
          </a:bodyPr>
          <a:lstStyle/>
          <a:p>
            <a:pPr>
              <a:defRPr sz="1950" b="0">
                <a:solidFill>
                  <a:srgbClr val="B4C7D5"/>
                </a:solidFill>
                <a:latin typeface="DejaVu Sans"/>
                <a:ea typeface="DejaVu Sans"/>
                <a:cs typeface="DejaVu Sans"/>
              </a:defRPr>
            </a:pPr>
            <a:r>
              <a:rPr sz="1950" b="0">
                <a:solidFill>
                  <a:srgbClr val="B4C7D5"/>
                </a:solidFill>
                <a:latin typeface="DejaVu Sans"/>
                <a:ea typeface="DejaVu Sans"/>
                <a:cs typeface="DejaVu Sans"/>
              </a:rPr>
              <a:t>C++ terminal project</a:t>
            </a:r>
          </a:p>
        </p:txBody>
      </p:sp>
    </p:spTree>
    <p:extLst>
      <p:ext uri="{BB962C8B-B14F-4D97-AF65-F5344CB8AC3E}">
        <p14:creationId xmlns:p14="http://schemas.microsoft.com/office/powerpoint/2010/main" val="190987914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1758</Words>
  <Application>Microsoft Office PowerPoint</Application>
  <DocSecurity>0</DocSecurity>
  <PresentationFormat>Widescreen</PresentationFormat>
  <Paragraphs>270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Calibri</vt:lpstr>
      <vt:lpstr>DejaVu Sans</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Yash Vardhan Tiwari</cp:lastModifiedBy>
  <cp:revision>1</cp:revision>
  <dcterms:created xsi:type="dcterms:W3CDTF">2026-09-15T06:51:27Z</dcterms:created>
  <dcterms:modified xsi:type="dcterms:W3CDTF">2026-09-15T07:09:22Z</dcterms:modified>
</cp:coreProperties>
</file>